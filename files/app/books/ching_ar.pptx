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92bb47ff-20d4-7e96-638a-be979cd07db7}">
          <p14:sldIdLst>
            <p14:sldId id="256"/>
          </p14:sldIdLst>
        </p14:section>
        <p14:section name="المحتوى" id="{e097e070-34bd-9568-d0d9-34a976d8d088}">
          <p14:sldIdLst>
            <p14:sldId id="257"/>
          </p14:sldIdLst>
        </p14:section>
        <p14:section name="الملخص" id="{cf3ad02b-7a45-9729-7da7-87796fc09ee1}">
          <p14:sldIdLst>
            <p14:sldId id="258"/>
            <p14:sldId id="259"/>
            <p14:sldId id="260"/>
            <p14:sldId id="261"/>
            <p14:sldId id="262"/>
            <p14:sldId id="263"/>
            <p14:sldId id="264"/>
            <p14:sldId id="265"/>
            <p14:sldId id="266"/>
            <p14:sldId id="267"/>
            <p14:sldId id="268"/>
            <p14:sldId id="269"/>
            <p14:sldId id="270"/>
          </p14:sldIdLst>
        </p14:section>
        <p14:section name="الختام" id="{8955cb1f-1f1b-0b8d-c010-8cee167f7cf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«إنشاء المباني بالرسم» (Building Construction Illustrated) لفرانسيس تشينغ، الطبعة السادسة 2020، من أشهر الكتب اللي بتربط التصميم بالتنفيذ. ميزته إنه مرسوم بالكامل بخط اليد برسومات ثلاثية الأبعاد بتوضح كل طبقة وكل وصلة.
الكتاب ماشي بنفس ترتيب البناء: الموقع ← الأساسات ← البلاطات ← الحوائط ← الأسقف ← العزل ← الفتحات ← السلالم ← التشطيبات ← الأعمال الكهروميكانيكية ← المواد.
هتستفيد منه في إيه؟
تفهم ليه التفصيلة مرسومة كده مش بس تنقلها.
تكتب ملاحظات تنفيذية صح على اللوحات.
تتكلم بلغة الموقع مع المقاول والمشرف.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تحليل الموقع: الشمس والرياح والتربة والمياه الجوفية والطرق والمرافق، قبل أي تصميم.
التوجيه: في المناخ الحار الجاف (مصر والسعودية) الواجهات الطويلة شمال وجنوب، وأقل فتحات على الغرب.
الصرف السطحي: الأرض حوالين المبنى تميل بعيد عنه (حوالي 2–5% في أول 3 م).
المبنى كنظام
تشينغ بيقسم المبنى لأنظمة: الإنشائي (اللي بيشيل)، الغلاف (اللي بيحمي من الجو)، والخدمات (كهرباء، سباكة، تكييف). أي تفصيلة ناجحة لازم تخدم الأنظمة التلاتة مع بعض.
مسار الأحمال
الحمل بينزل: السقف ← الكمرات ← الأعمدة أو الحوائط الحاملة ← الأساسات ← التربة.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الأساسات السطحية
قواعد منفصلة تحت الأعمدة: الأشهر في المباني السكنية.
أساسات شريطية تحت الحوائط الحاملة.
لبشة (Raft): لما التربة ضعيفة أو الأحمال كبيرة أو فيه بدروم ومياه جوفية.
الأساسات العميقة
خوازيق (Piles): بتنقل الحمل لطبقة قوية أعمق، بالاحتكاك أو بالارتكاز.
قيسونات (Caissons): خوازيق بقطر كبير.
نقط تنفيذية مهمة
تقرير التربة هو أساس اختيار نوع الأساس ومنسوب التأسيس — ممنوع التخمين.
خرسانة النظافة (عادية) تحت الأساس سُمك 10 سم تقريباً.
العزل ضد الرطوبة للقواعد والسملات والحوائط تحت الأرض قبل الردم.
الردم على طبقات 20–30 سم مع الدمك والرش.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الخرسانة المسلحة
البلاطة اتجاه واحد لما نسبة الطول للعرض أكبر من 2، واتجاهين لما أقل.
فواصل التمدد في المباني الطويلة كل مسافة بيحددها المصمم الإنشائي.
الأرضية على التربة
طبقة إحلال مدموكة ← بولي إيثيلين (حاجز رطوبة) ← خرسانة ← تشطيب.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أنواع الحوائط
حاملة: بتشيل البلاطات (مباني طوب حامل).
غير حاملة / ستائرية: في المباني الهيكلية، بتقفل الفراغ بس.
مزدوجة بفراغ (Cavity wall): حائطين بينهم فراغ وعزل، أفضل حرارياً وضد الرطوبة.
اشتراطات مهمة
الأعتاب فوق الفتحات بتدخل في الحائط من كل ناحية 15–20 سم على الأقل.
الرباط بين الطوب: عدم توافق العراميس الرأسية (نص طوبة).
ربط الحائط بالأعمدة بأشاير أو شبك كل حوالي 3–4 مداميك.
حائط الدروة على السطح ارتفاعه حوالي 100–120 سم للسلامة.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السقف المسطح
لازم ميول للصرف لا تقل عن 1–2%.
ترتيب الطبقات في السقف المعكوس (Inverted): بلاطة ← خرسانة ميول ← عزل مائي ← عزل حراري ← طبقة حماية/بلاط.
العزل المائي يطلع على الدروة 20–30 سم ويتثبت بوزرة أو بروفيل.
الصفايات ومواسير الصرف: صفاية لكل مساحة معينة، وصفاية طوارئ أو فتحة فيضان.
السقف المائل
القرميد: ميل غالباً 22–45° حسب نوع القرميد.
تهوية تحت القرميد وحاجز ماء ثانوي.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العزل المائي
أغشية بيتومينية (لفائف تُلحم بالحرارة)، أغشية سائلة (بولي يوريثان / أكريليك)، عزل أسمنتي (للحمامات والخزانات).
الحمامات: العزل على الأرضية بالكامل ويطلع على الحوائط 20–30 سم، وفي منطقة الدش 180–200 سم.
اختبار الغمر بالمية 24–48 ساعة قبل التغطية.
العزل الحراري
مكانه الأفضل من الخارج (يحمي الخرسانة ويحافظ على الكتلة الحرارية جوه).
مواد شائعة: بوليسترين مبثوق (XPS)، صوف صخري، بولي يوريثان رش.
حاجز البخار على الوش الدافي من العزل.
الكباري الحرارية (Thermal bridges)
الأعمدة والكمرات والبلاطات البارزة بتعمل طريق للحرارة حوالين العزل — لازم تتعزل أو تتغلف.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الحلق بيتثبت في الحائط بكانات أو خوابير، ويتعمل فاصل بينه وبين البياض.
الشبابيك الخارجية: جلسة بميل للخارج ونقطة تقطير (Drip) تحت الجلسة.
مانع تسرب (Sealant) حوالين الحلق من الخارج، ومادة عازلة في الفراغ بين الحلق والحائط.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معادلة الدرجة: 2 × القائمة + النائمة = 60–65 سم.
كل الدرج في الطلعة الواحدة بنفس المقاس (فرق أكتر من حوالي 1 سم بيسبب تعثر).
الأنف (Nosing) بارز 2–3 سم أو بشريط مانع انزلاق.
الدرابزين: ارتفاع حوالي 90 سم والفتحات أقل من 10–12 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البياض
3 طبقات: طرطشة (تماسك) ← بطانة (تسوية بالأوتار والبؤج) ← ضهارة (النعومة)، الإجمالي حوالي 2–2.5 سم.
شبك عند تلاقي الخرسانة بالطوب عشان مايحصلش شرخ.
الجبس بورد
قطاعات معدنية كل 40 أو 60 سم، ولوح 12.5 مم.
معالجة الوصلات بشريط ومعجون على 3 طبقات.
الأرضيات
البلاط على مونة أو لاصق حسب نوعه، مع فواصل تمدد عند الحوائط وكل مساحة كبيرة.
الخشب: فاصل 1 سم عند الحوائط.
الدهانات
سطح ناشف ونضيف ← سيلر/أساس ← معجون على طبقات ← صنفرة ← وشين دهان على الأقل.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السباكة: التغذية تحت ضغط، والصرف بالجاذبية بميل حوالي 1–2% للمواسير الأفقية.
التهوية والتكييف: مسارات الدكت محتاجة ارتفاع في السقف المعلق (غالباً 40–60 سم).
الكهرباء: لوحات توزيع، دوائر منفصلة للتكييف والسخانات والمطبخ، وتأريض.
التنسيق بين التخصصات قبل الصب: الفتحات (Sleeves) في الكمرات والبلاطات بتتساب وقت الصب مش بعده.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افهم النظام (إنشائي، غلاف، خدمات) قبل التفصيلة.
أي مية لازم يبقى ليها طريق تمشي فيه للخارج: ميول، نقطة تقطير، وزرة، صفاية.
العزل المائي يتختبر قبل ما يتغطى.
العزل الحراري من برا أحسن، وحاجز البخار من جوه.
التنسيق بين التخصصات قبل الصب بيوفر فلوس ووقت.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r" indent="0" marL="0">
              <a:buNone/>
              <a:defRPr lang="en-US" sz="3000" b="1" dirty="0">
                <a:solidFill>
                  <a:srgbClr val="2B2620"/>
                </a:solidFill>
              </a:defRPr>
            </a:lvl1pPr>
          </a:lstStyle>
          <a:p>
            <a:pPr algn="r" indent="0" marL="0">
              <a:buNone/>
            </a:pPr>
            <a:endParaRPr lang="en-US" sz="3000" dirty="0"/>
          </a:p>
        </p:txBody>
      </p:sp>
      <p:sp>
        <p:nvSpPr>
          <p:cNvPr id="3" name="Text 0"/>
          <p:cNvSpPr/>
          <p:nvPr/>
        </p:nvSpPr>
        <p:spPr>
          <a:xfrm>
            <a:off x="4327855" y="6400800"/>
            <a:ext cx="7315200" cy="320040"/>
          </a:xfrm>
          <a:prstGeom prst="rect">
            <a:avLst/>
          </a:prstGeom>
          <a:noFill/>
          <a:ln/>
        </p:spPr>
        <p:txBody>
          <a:bodyPr wrap="square" rtlCol="0" anchor="ctr"/>
          <a:lstStyle/>
          <a:p>
            <a:pPr algn="r" indent="0" marL="0">
              <a:buNone/>
            </a:pPr>
            <a:r>
              <a:rPr lang="ar-EG" altLang="en-US" sz="1000" dirty="0">
                <a:solidFill>
                  <a:srgbClr val="8A7E6A"/>
                </a:solidFill>
              </a:rPr>
              <a:t>مختصر وتلخيص م. عمر خميس  —  +20 100 543 3170</a:t>
            </a:r>
            <a:endParaRPr lang="ar-EG" sz="10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ملخص: إنشاء المباني بالرسم — تشينغ</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مكتبة م. عمر خميس — 2026</a:t>
            </a:r>
            <a:endParaRPr lang="ar-EG"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rtl="1" algn="ctr" indent="0" marL="0">
              <a:buNone/>
            </a:pPr>
            <a:r>
              <a:rPr lang="ar-EG" altLang="en-US" sz="1200" dirty="0">
                <a:solidFill>
                  <a:srgbClr val="B9AE97"/>
                </a:solidFill>
              </a:rPr>
              <a:t>ملخص للتعلم — لا يغني عن الكتاب الأصلي</a:t>
            </a:r>
            <a:endParaRPr lang="ar-EG"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محتوى العرض</a:t>
            </a:r>
            <a:endParaRPr lang="ar-EG" sz="3000" dirty="0"/>
          </a:p>
        </p:txBody>
      </p:sp>
      <p:sp>
        <p:nvSpPr>
          <p:cNvPr id="3" name="n1"/>
          <p:cNvSpPr/>
          <p:nvPr/>
        </p:nvSpPr>
        <p:spPr>
          <a:xfrm>
            <a:off x="11094415" y="1362456"/>
            <a:ext cx="384048" cy="384048"/>
          </a:xfrm>
          <a:prstGeom prst="ellipse">
            <a:avLst/>
          </a:prstGeom>
          <a:solidFill>
            <a:schemeClr val="accent1"/>
          </a:solidFill>
          <a:ln/>
        </p:spPr>
      </p:sp>
      <p:sp>
        <p:nvSpPr>
          <p:cNvPr id="4" name="Text 2"/>
          <p:cNvSpPr txBox="1"/>
          <p:nvPr/>
        </p:nvSpPr>
        <p:spPr>
          <a:xfrm>
            <a:off x="11094415"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6187288"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مقدمة: كتاب بيعلّمك المبنى بيتبني إزاي</a:t>
            </a:r>
            <a:endParaRPr lang="ar-EG" sz="1500" dirty="0"/>
          </a:p>
        </p:txBody>
      </p:sp>
      <p:sp>
        <p:nvSpPr>
          <p:cNvPr id="6" name="n2"/>
          <p:cNvSpPr/>
          <p:nvPr/>
        </p:nvSpPr>
        <p:spPr>
          <a:xfrm>
            <a:off x="11094415" y="1874520"/>
            <a:ext cx="384048" cy="384048"/>
          </a:xfrm>
          <a:prstGeom prst="ellipse">
            <a:avLst/>
          </a:prstGeom>
          <a:solidFill>
            <a:schemeClr val="accent1"/>
          </a:solidFill>
          <a:ln/>
        </p:spPr>
      </p:sp>
      <p:sp>
        <p:nvSpPr>
          <p:cNvPr id="7" name="Text 5"/>
          <p:cNvSpPr txBox="1"/>
          <p:nvPr/>
        </p:nvSpPr>
        <p:spPr>
          <a:xfrm>
            <a:off x="11094415"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6187288"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الموقع والمبنى</a:t>
            </a:r>
            <a:endParaRPr lang="ar-EG" sz="1500" dirty="0"/>
          </a:p>
        </p:txBody>
      </p:sp>
      <p:sp>
        <p:nvSpPr>
          <p:cNvPr id="9" name="n3"/>
          <p:cNvSpPr/>
          <p:nvPr/>
        </p:nvSpPr>
        <p:spPr>
          <a:xfrm>
            <a:off x="11094415" y="2386584"/>
            <a:ext cx="384048" cy="384048"/>
          </a:xfrm>
          <a:prstGeom prst="ellipse">
            <a:avLst/>
          </a:prstGeom>
          <a:solidFill>
            <a:schemeClr val="accent1"/>
          </a:solidFill>
          <a:ln/>
        </p:spPr>
      </p:sp>
      <p:sp>
        <p:nvSpPr>
          <p:cNvPr id="10" name="Text 8"/>
          <p:cNvSpPr txBox="1"/>
          <p:nvPr/>
        </p:nvSpPr>
        <p:spPr>
          <a:xfrm>
            <a:off x="11094415"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6187288"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الأساسات</a:t>
            </a:r>
            <a:endParaRPr lang="ar-EG" sz="1500" dirty="0"/>
          </a:p>
        </p:txBody>
      </p:sp>
      <p:sp>
        <p:nvSpPr>
          <p:cNvPr id="12" name="n4"/>
          <p:cNvSpPr/>
          <p:nvPr/>
        </p:nvSpPr>
        <p:spPr>
          <a:xfrm>
            <a:off x="11094415" y="2898648"/>
            <a:ext cx="384048" cy="384048"/>
          </a:xfrm>
          <a:prstGeom prst="ellipse">
            <a:avLst/>
          </a:prstGeom>
          <a:solidFill>
            <a:schemeClr val="accent1"/>
          </a:solidFill>
          <a:ln/>
        </p:spPr>
      </p:sp>
      <p:sp>
        <p:nvSpPr>
          <p:cNvPr id="13" name="Text 11"/>
          <p:cNvSpPr txBox="1"/>
          <p:nvPr/>
        </p:nvSpPr>
        <p:spPr>
          <a:xfrm>
            <a:off x="11094415"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6187288"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البلاطات وأنظمة الأرضيات</a:t>
            </a:r>
            <a:endParaRPr lang="ar-EG" sz="1500" dirty="0"/>
          </a:p>
        </p:txBody>
      </p:sp>
      <p:sp>
        <p:nvSpPr>
          <p:cNvPr id="15" name="n5"/>
          <p:cNvSpPr/>
          <p:nvPr/>
        </p:nvSpPr>
        <p:spPr>
          <a:xfrm>
            <a:off x="11094415" y="3410712"/>
            <a:ext cx="384048" cy="384048"/>
          </a:xfrm>
          <a:prstGeom prst="ellipse">
            <a:avLst/>
          </a:prstGeom>
          <a:solidFill>
            <a:schemeClr val="accent1"/>
          </a:solidFill>
          <a:ln/>
        </p:spPr>
      </p:sp>
      <p:sp>
        <p:nvSpPr>
          <p:cNvPr id="16" name="Text 14"/>
          <p:cNvSpPr txBox="1"/>
          <p:nvPr/>
        </p:nvSpPr>
        <p:spPr>
          <a:xfrm>
            <a:off x="11094415"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6187288"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الحوائط</a:t>
            </a:r>
            <a:endParaRPr lang="ar-EG" sz="1500" dirty="0"/>
          </a:p>
        </p:txBody>
      </p:sp>
      <p:sp>
        <p:nvSpPr>
          <p:cNvPr id="18" name="n6"/>
          <p:cNvSpPr/>
          <p:nvPr/>
        </p:nvSpPr>
        <p:spPr>
          <a:xfrm>
            <a:off x="11094415" y="3922776"/>
            <a:ext cx="384048" cy="384048"/>
          </a:xfrm>
          <a:prstGeom prst="ellipse">
            <a:avLst/>
          </a:prstGeom>
          <a:solidFill>
            <a:schemeClr val="accent1"/>
          </a:solidFill>
          <a:ln/>
        </p:spPr>
      </p:sp>
      <p:sp>
        <p:nvSpPr>
          <p:cNvPr id="19" name="Text 17"/>
          <p:cNvSpPr txBox="1"/>
          <p:nvPr/>
        </p:nvSpPr>
        <p:spPr>
          <a:xfrm>
            <a:off x="11094415"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6187288"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الأسقف (Roofs)</a:t>
            </a:r>
            <a:endParaRPr lang="ar-EG" sz="1500" dirty="0"/>
          </a:p>
        </p:txBody>
      </p:sp>
      <p:sp>
        <p:nvSpPr>
          <p:cNvPr id="21" name="n7"/>
          <p:cNvSpPr/>
          <p:nvPr/>
        </p:nvSpPr>
        <p:spPr>
          <a:xfrm>
            <a:off x="11094415" y="4434840"/>
            <a:ext cx="384048" cy="384048"/>
          </a:xfrm>
          <a:prstGeom prst="ellipse">
            <a:avLst/>
          </a:prstGeom>
          <a:solidFill>
            <a:schemeClr val="accent1"/>
          </a:solidFill>
          <a:ln/>
        </p:spPr>
      </p:sp>
      <p:sp>
        <p:nvSpPr>
          <p:cNvPr id="22" name="Text 20"/>
          <p:cNvSpPr txBox="1"/>
          <p:nvPr/>
        </p:nvSpPr>
        <p:spPr>
          <a:xfrm>
            <a:off x="11094415"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6187288" y="439826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العزل ضد الرطوبة والحرارة</a:t>
            </a:r>
            <a:endParaRPr lang="ar-EG" sz="1500" dirty="0"/>
          </a:p>
        </p:txBody>
      </p:sp>
      <p:sp>
        <p:nvSpPr>
          <p:cNvPr id="24" name="n8"/>
          <p:cNvSpPr/>
          <p:nvPr/>
        </p:nvSpPr>
        <p:spPr>
          <a:xfrm>
            <a:off x="5455768" y="1362456"/>
            <a:ext cx="384048" cy="384048"/>
          </a:xfrm>
          <a:prstGeom prst="ellipse">
            <a:avLst/>
          </a:prstGeom>
          <a:solidFill>
            <a:schemeClr val="accent1"/>
          </a:solidFill>
          <a:ln/>
        </p:spPr>
      </p:sp>
      <p:sp>
        <p:nvSpPr>
          <p:cNvPr id="25" name="Text 23"/>
          <p:cNvSpPr txBox="1"/>
          <p:nvPr/>
        </p:nvSpPr>
        <p:spPr>
          <a:xfrm>
            <a:off x="545576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548640"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الأبواب والشبابيك</a:t>
            </a:r>
            <a:endParaRPr lang="ar-EG" sz="1500" dirty="0"/>
          </a:p>
        </p:txBody>
      </p:sp>
      <p:sp>
        <p:nvSpPr>
          <p:cNvPr id="27" name="n9"/>
          <p:cNvSpPr/>
          <p:nvPr/>
        </p:nvSpPr>
        <p:spPr>
          <a:xfrm>
            <a:off x="5455768" y="1874520"/>
            <a:ext cx="384048" cy="384048"/>
          </a:xfrm>
          <a:prstGeom prst="ellipse">
            <a:avLst/>
          </a:prstGeom>
          <a:solidFill>
            <a:schemeClr val="accent1"/>
          </a:solidFill>
          <a:ln/>
        </p:spPr>
      </p:sp>
      <p:sp>
        <p:nvSpPr>
          <p:cNvPr id="28" name="Text 26"/>
          <p:cNvSpPr txBox="1"/>
          <p:nvPr/>
        </p:nvSpPr>
        <p:spPr>
          <a:xfrm>
            <a:off x="545576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548640"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السلالم</a:t>
            </a:r>
            <a:endParaRPr lang="ar-EG" sz="1500" dirty="0"/>
          </a:p>
        </p:txBody>
      </p:sp>
      <p:sp>
        <p:nvSpPr>
          <p:cNvPr id="30" name="n10"/>
          <p:cNvSpPr/>
          <p:nvPr/>
        </p:nvSpPr>
        <p:spPr>
          <a:xfrm>
            <a:off x="5455768" y="2386584"/>
            <a:ext cx="384048" cy="384048"/>
          </a:xfrm>
          <a:prstGeom prst="ellipse">
            <a:avLst/>
          </a:prstGeom>
          <a:solidFill>
            <a:schemeClr val="accent1"/>
          </a:solidFill>
          <a:ln/>
        </p:spPr>
      </p:sp>
      <p:sp>
        <p:nvSpPr>
          <p:cNvPr id="31" name="Text 29"/>
          <p:cNvSpPr txBox="1"/>
          <p:nvPr/>
        </p:nvSpPr>
        <p:spPr>
          <a:xfrm>
            <a:off x="545576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548640"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التشطيبات</a:t>
            </a:r>
            <a:endParaRPr lang="ar-EG" sz="1500" dirty="0"/>
          </a:p>
        </p:txBody>
      </p:sp>
      <p:sp>
        <p:nvSpPr>
          <p:cNvPr id="33" name="n11"/>
          <p:cNvSpPr/>
          <p:nvPr/>
        </p:nvSpPr>
        <p:spPr>
          <a:xfrm>
            <a:off x="5455768" y="2898648"/>
            <a:ext cx="384048" cy="384048"/>
          </a:xfrm>
          <a:prstGeom prst="ellipse">
            <a:avLst/>
          </a:prstGeom>
          <a:solidFill>
            <a:schemeClr val="accent1"/>
          </a:solidFill>
          <a:ln/>
        </p:spPr>
      </p:sp>
      <p:sp>
        <p:nvSpPr>
          <p:cNvPr id="34" name="Text 32"/>
          <p:cNvSpPr txBox="1"/>
          <p:nvPr/>
        </p:nvSpPr>
        <p:spPr>
          <a:xfrm>
            <a:off x="545576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548640"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الأعمال الكهروميكانيكية</a:t>
            </a:r>
            <a:endParaRPr lang="ar-EG" sz="1500" dirty="0"/>
          </a:p>
        </p:txBody>
      </p:sp>
      <p:sp>
        <p:nvSpPr>
          <p:cNvPr id="36" name="n12"/>
          <p:cNvSpPr/>
          <p:nvPr/>
        </p:nvSpPr>
        <p:spPr>
          <a:xfrm>
            <a:off x="5455768" y="3410712"/>
            <a:ext cx="384048" cy="384048"/>
          </a:xfrm>
          <a:prstGeom prst="ellipse">
            <a:avLst/>
          </a:prstGeom>
          <a:solidFill>
            <a:schemeClr val="accent1"/>
          </a:solidFill>
          <a:ln/>
        </p:spPr>
      </p:sp>
      <p:sp>
        <p:nvSpPr>
          <p:cNvPr id="37" name="Text 35"/>
          <p:cNvSpPr txBox="1"/>
          <p:nvPr/>
        </p:nvSpPr>
        <p:spPr>
          <a:xfrm>
            <a:off x="545576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548640"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المواد</a:t>
            </a:r>
            <a:endParaRPr lang="ar-EG" sz="1500" dirty="0"/>
          </a:p>
        </p:txBody>
      </p:sp>
      <p:sp>
        <p:nvSpPr>
          <p:cNvPr id="39" name="n13"/>
          <p:cNvSpPr/>
          <p:nvPr/>
        </p:nvSpPr>
        <p:spPr>
          <a:xfrm>
            <a:off x="5455768" y="3922776"/>
            <a:ext cx="384048" cy="384048"/>
          </a:xfrm>
          <a:prstGeom prst="ellipse">
            <a:avLst/>
          </a:prstGeom>
          <a:solidFill>
            <a:schemeClr val="accent1"/>
          </a:solidFill>
          <a:ln/>
        </p:spPr>
      </p:sp>
      <p:sp>
        <p:nvSpPr>
          <p:cNvPr id="40" name="Text 38"/>
          <p:cNvSpPr txBox="1"/>
          <p:nvPr/>
        </p:nvSpPr>
        <p:spPr>
          <a:xfrm>
            <a:off x="545576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548640"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خلاصة م. عمر خميس</a:t>
            </a:r>
            <a:endParaRPr lang="ar-EG"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مقدمة: كتاب بيعلّمك المبنى بيتبني إزاي</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«إنشاء المباني بالرسم» (Building Construction Illustrated) لفرانسيس تشينغ، الطبعة السادسة 2020، من أشهر الكتب اللي بتربط التصميم بالتنفيذ. …</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الكتاب ماشي بنفس ترتيب البناء: الموقع ← الأساسات ← البلاطات ← الحوائط ← الأسقف ← العزل ← الفتحات ← السلالم ← التشطيبات ← الأعمال …</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تفهم </a:t>
            </a:r>
            <a:pPr rtl="1" algn="r" indent="0" marL="0">
              <a:buNone/>
            </a:pPr>
            <a:r>
              <a:rPr lang="ar-EG" altLang="en-US" sz="1400" b="1" dirty="0">
                <a:solidFill>
                  <a:srgbClr val="2B2620"/>
                </a:solidFill>
              </a:rPr>
              <a:t>ليه</a:t>
            </a:r>
            <a:pPr rtl="1" algn="r" indent="0" marL="0">
              <a:buNone/>
            </a:pPr>
            <a:r>
              <a:rPr lang="ar-EG" altLang="en-US" sz="1400" dirty="0">
                <a:solidFill>
                  <a:srgbClr val="2B2620"/>
                </a:solidFill>
              </a:rPr>
              <a:t> التفصيلة مرسومة كده مش بس تنقلها.</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تكتب ملاحظات تنفيذية صح على اللوحات.</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تتكلم بلغة الموقع مع المقاول والمشرف.</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الملخص ده بصياغة م. عمر خميس. الكتاب مكتوب على النظام الأمريكي (IBC والمواد الأمريكية)، وإحنا هنا بنربطه بالممارسة في مصر والسعودية.</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الموقع والمبنى</a:t>
            </a:r>
            <a:endParaRPr lang="ar-EG" sz="3000" dirty="0"/>
          </a:p>
        </p:txBody>
      </p:sp>
      <p:sp>
        <p:nvSpPr>
          <p:cNvPr id="3" name="figure-frame"/>
          <p:cNvSpPr/>
          <p:nvPr/>
        </p:nvSpPr>
        <p:spPr>
          <a:xfrm>
            <a:off x="457200" y="1325880"/>
            <a:ext cx="5669280" cy="2926080"/>
          </a:xfrm>
          <a:prstGeom prst="roundRect">
            <a:avLst>
              <a:gd name="adj" fmla="val 3125"/>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743200"/>
          </a:xfrm>
          <a:prstGeom prst="rect">
            <a:avLst/>
          </a:prstGeom>
        </p:spPr>
      </p:pic>
      <p:sp>
        <p:nvSpPr>
          <p:cNvPr id="5" name="Text 2"/>
          <p:cNvSpPr txBox="1"/>
          <p:nvPr/>
        </p:nvSpPr>
        <p:spPr>
          <a:xfrm>
            <a:off x="548640" y="429768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مسار الأحمال الرأسية والجانبية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تحليل الموقع</a:t>
            </a:r>
            <a:pPr rtl="1" algn="r" marL="342900" indent="-342900">
              <a:spcAft>
                <a:spcPts val="800"/>
              </a:spcAft>
              <a:buSzPct val="100000"/>
              <a:buChar char="•"/>
            </a:pPr>
            <a:r>
              <a:rPr lang="ar-EG" altLang="en-US" sz="1500" dirty="0">
                <a:solidFill>
                  <a:srgbClr val="2B2620"/>
                </a:solidFill>
              </a:rPr>
              <a:t>: الشمس والرياح والتربة والمياه الجوفية والطرق والمرافق، قبل أي تصميم.</a:t>
            </a:r>
            <a:endParaRPr lang="en-US" sz="1500" dirty="0"/>
          </a:p>
          <a:p>
            <a:pPr rtl="1" algn="r" marL="342900" indent="-342900">
              <a:spcAft>
                <a:spcPts val="800"/>
              </a:spcAft>
              <a:buSzPct val="100000"/>
              <a:buChar char="•"/>
            </a:pPr>
            <a:r>
              <a:rPr lang="ar-EG" altLang="en-US" sz="1500" b="1" dirty="0">
                <a:solidFill>
                  <a:srgbClr val="2B2620"/>
                </a:solidFill>
              </a:rPr>
              <a:t>التوجيه</a:t>
            </a:r>
            <a:pPr rtl="1" algn="r" marL="342900" indent="-342900">
              <a:spcAft>
                <a:spcPts val="800"/>
              </a:spcAft>
              <a:buSzPct val="100000"/>
              <a:buChar char="•"/>
            </a:pPr>
            <a:r>
              <a:rPr lang="ar-EG" altLang="en-US" sz="1500" dirty="0">
                <a:solidFill>
                  <a:srgbClr val="2B2620"/>
                </a:solidFill>
              </a:rPr>
              <a:t>: في المناخ الحار الجاف (مصر والسعودية) الواجهات الطويلة شمال وجنوب، وأقل فتحات على الغرب.</a:t>
            </a:r>
            <a:endParaRPr lang="en-US" sz="1500" dirty="0"/>
          </a:p>
          <a:p>
            <a:pPr rtl="1" algn="r" marL="342900" indent="-342900">
              <a:spcAft>
                <a:spcPts val="800"/>
              </a:spcAft>
              <a:buSzPct val="100000"/>
              <a:buChar char="•"/>
            </a:pPr>
            <a:r>
              <a:rPr lang="ar-EG" altLang="en-US" sz="1500" b="1" dirty="0">
                <a:solidFill>
                  <a:srgbClr val="2B2620"/>
                </a:solidFill>
              </a:rPr>
              <a:t>الصرف السطحي</a:t>
            </a:r>
            <a:pPr rtl="1" algn="r" marL="342900" indent="-342900">
              <a:spcAft>
                <a:spcPts val="800"/>
              </a:spcAft>
              <a:buSzPct val="100000"/>
              <a:buChar char="•"/>
            </a:pPr>
            <a:r>
              <a:rPr lang="ar-EG" altLang="en-US" sz="1500" dirty="0">
                <a:solidFill>
                  <a:srgbClr val="2B2620"/>
                </a:solidFill>
              </a:rPr>
              <a:t>: الأرض حوالين المبنى تميل بعيد عنه (حوالي 2–5% في أول 3 م).</a:t>
            </a:r>
            <a:endParaRPr lang="en-US" sz="1500" dirty="0"/>
          </a:p>
          <a:p>
            <a:pPr rtl="1" algn="r" marL="342900" indent="-342900">
              <a:spcAft>
                <a:spcPts val="800"/>
              </a:spcAft>
              <a:buSzPct val="100000"/>
              <a:buChar char="•"/>
            </a:pPr>
            <a:r>
              <a:rPr lang="ar-EG" altLang="en-US" sz="1500" dirty="0">
                <a:solidFill>
                  <a:srgbClr val="2B2620"/>
                </a:solidFill>
              </a:rPr>
              <a:t>تشينغ بيقسم المبنى لأنظمة: </a:t>
            </a:r>
            <a:pPr rtl="1" algn="r" marL="342900" indent="-342900">
              <a:spcAft>
                <a:spcPts val="800"/>
              </a:spcAft>
              <a:buSzPct val="100000"/>
              <a:buChar char="•"/>
            </a:pPr>
            <a:r>
              <a:rPr lang="ar-EG" altLang="en-US" sz="1500" b="1" dirty="0">
                <a:solidFill>
                  <a:srgbClr val="2B2620"/>
                </a:solidFill>
              </a:rPr>
              <a:t>الإنشائي</a:t>
            </a:r>
            <a:pPr rtl="1" algn="r" marL="342900" indent="-342900">
              <a:spcAft>
                <a:spcPts val="800"/>
              </a:spcAft>
              <a:buSzPct val="100000"/>
              <a:buChar char="•"/>
            </a:pPr>
            <a:r>
              <a:rPr lang="ar-EG" altLang="en-US" sz="1500" dirty="0">
                <a:solidFill>
                  <a:srgbClr val="2B2620"/>
                </a:solidFill>
              </a:rPr>
              <a:t> (اللي بيشيل)، </a:t>
            </a:r>
            <a:pPr rtl="1" algn="r" marL="342900" indent="-342900">
              <a:spcAft>
                <a:spcPts val="800"/>
              </a:spcAft>
              <a:buSzPct val="100000"/>
              <a:buChar char="•"/>
            </a:pPr>
            <a:r>
              <a:rPr lang="ar-EG" altLang="en-US" sz="1500" b="1" dirty="0">
                <a:solidFill>
                  <a:srgbClr val="2B2620"/>
                </a:solidFill>
              </a:rPr>
              <a:t>الغلاف</a:t>
            </a:r>
            <a:pPr rtl="1" algn="r" marL="342900" indent="-342900">
              <a:spcAft>
                <a:spcPts val="800"/>
              </a:spcAft>
              <a:buSzPct val="100000"/>
              <a:buChar char="•"/>
            </a:pPr>
            <a:r>
              <a:rPr lang="ar-EG" altLang="en-US" sz="1500" dirty="0">
                <a:solidFill>
                  <a:srgbClr val="2B2620"/>
                </a:solidFill>
              </a:rPr>
              <a:t> (اللي بيحمي من الجو)، و</a:t>
            </a:r>
            <a:pPr rtl="1" algn="r" marL="342900" indent="-342900">
              <a:spcAft>
                <a:spcPts val="800"/>
              </a:spcAft>
              <a:buSzPct val="100000"/>
              <a:buChar char="•"/>
            </a:pPr>
            <a:r>
              <a:rPr lang="ar-EG" altLang="en-US" sz="1500" b="1" dirty="0">
                <a:solidFill>
                  <a:srgbClr val="2B2620"/>
                </a:solidFill>
              </a:rPr>
              <a:t>الخدمات</a:t>
            </a:r>
            <a:pPr rtl="1" algn="r" marL="342900" indent="-342900">
              <a:spcAft>
                <a:spcPts val="800"/>
              </a:spcAft>
              <a:buSzPct val="100000"/>
              <a:buChar char="•"/>
            </a:pPr>
            <a:r>
              <a:rPr lang="ar-EG" altLang="en-US" sz="1500" dirty="0">
                <a:solidFill>
                  <a:srgbClr val="2B2620"/>
                </a:solidFill>
              </a:rPr>
              <a:t> (كهرباء، سباكة، تكييف). …</a:t>
            </a:r>
            <a:endParaRPr lang="en-US" sz="1500" dirty="0"/>
          </a:p>
          <a:p>
            <a:pPr rtl="1" algn="r" marL="342900" indent="-342900">
              <a:spcAft>
                <a:spcPts val="800"/>
              </a:spcAft>
              <a:buSzPct val="100000"/>
              <a:buChar char="•"/>
            </a:pPr>
            <a:r>
              <a:rPr lang="ar-EG" altLang="en-US" sz="1500" dirty="0">
                <a:solidFill>
                  <a:srgbClr val="2B2620"/>
                </a:solidFill>
              </a:rPr>
              <a:t>الحمل بينزل: </a:t>
            </a:r>
            <a:pPr rtl="1" algn="r" marL="342900" indent="-342900">
              <a:spcAft>
                <a:spcPts val="800"/>
              </a:spcAft>
              <a:buSzPct val="100000"/>
              <a:buChar char="•"/>
            </a:pPr>
            <a:r>
              <a:rPr lang="ar-EG" altLang="en-US" sz="1500" b="1" dirty="0">
                <a:solidFill>
                  <a:srgbClr val="2B2620"/>
                </a:solidFill>
              </a:rPr>
              <a:t>السقف ← الكمرات ← الأعمدة أو الحوائط الحاملة ← الأساسات ← التربة</a:t>
            </a:r>
            <a:pPr rtl="1" algn="r" marL="342900" indent="-342900">
              <a:spcAft>
                <a:spcPts val="800"/>
              </a:spcAft>
              <a:buSzPct val="100000"/>
              <a:buChar char="•"/>
            </a:pPr>
            <a:r>
              <a:rPr lang="ar-EG" altLang="en-US" sz="1500" dirty="0">
                <a:solidFill>
                  <a:srgbClr val="2B2620"/>
                </a:solidFill>
              </a:rPr>
              <a:t>.</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الأساسات</a:t>
            </a:r>
            <a:endParaRPr lang="ar-EG" sz="3000" dirty="0"/>
          </a:p>
        </p:txBody>
      </p:sp>
      <p:sp>
        <p:nvSpPr>
          <p:cNvPr id="3" name="figure-frame"/>
          <p:cNvSpPr/>
          <p:nvPr/>
        </p:nvSpPr>
        <p:spPr>
          <a:xfrm>
            <a:off x="457200" y="1325880"/>
            <a:ext cx="5669280" cy="2583180"/>
          </a:xfrm>
          <a:prstGeom prst="roundRect">
            <a:avLst>
              <a:gd name="adj" fmla="val 3540"/>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400300"/>
          </a:xfrm>
          <a:prstGeom prst="rect">
            <a:avLst/>
          </a:prstGeom>
        </p:spPr>
      </p:pic>
      <p:sp>
        <p:nvSpPr>
          <p:cNvPr id="5" name="Text 2"/>
          <p:cNvSpPr txBox="1"/>
          <p:nvPr/>
        </p:nvSpPr>
        <p:spPr>
          <a:xfrm>
            <a:off x="548640" y="395478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أنواع الأساسات السطحية والعميقة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قواعد منفصلة</a:t>
            </a:r>
            <a:pPr rtl="1" algn="r" marL="342900" indent="-342900">
              <a:spcAft>
                <a:spcPts val="800"/>
              </a:spcAft>
              <a:buSzPct val="100000"/>
              <a:buChar char="•"/>
            </a:pPr>
            <a:r>
              <a:rPr lang="ar-EG" altLang="en-US" sz="1500" dirty="0">
                <a:solidFill>
                  <a:srgbClr val="2B2620"/>
                </a:solidFill>
              </a:rPr>
              <a:t> تحت الأعمدة: الأشهر في المباني السكنية.</a:t>
            </a:r>
            <a:endParaRPr lang="en-US" sz="1500" dirty="0"/>
          </a:p>
          <a:p>
            <a:pPr rtl="1" algn="r" marL="342900" indent="-342900">
              <a:spcAft>
                <a:spcPts val="800"/>
              </a:spcAft>
              <a:buSzPct val="100000"/>
              <a:buChar char="•"/>
            </a:pPr>
            <a:r>
              <a:rPr lang="ar-EG" altLang="en-US" sz="1500" b="1" dirty="0">
                <a:solidFill>
                  <a:srgbClr val="2B2620"/>
                </a:solidFill>
              </a:rPr>
              <a:t>أساسات شريطية</a:t>
            </a:r>
            <a:pPr rtl="1" algn="r" marL="342900" indent="-342900">
              <a:spcAft>
                <a:spcPts val="800"/>
              </a:spcAft>
              <a:buSzPct val="100000"/>
              <a:buChar char="•"/>
            </a:pPr>
            <a:r>
              <a:rPr lang="ar-EG" altLang="en-US" sz="1500" dirty="0">
                <a:solidFill>
                  <a:srgbClr val="2B2620"/>
                </a:solidFill>
              </a:rPr>
              <a:t> تحت الحوائط الحاملة.</a:t>
            </a:r>
            <a:endParaRPr lang="en-US" sz="1500" dirty="0"/>
          </a:p>
          <a:p>
            <a:pPr rtl="1" algn="r" marL="342900" indent="-342900">
              <a:spcAft>
                <a:spcPts val="800"/>
              </a:spcAft>
              <a:buSzPct val="100000"/>
              <a:buChar char="•"/>
            </a:pPr>
            <a:r>
              <a:rPr lang="ar-EG" altLang="en-US" sz="1500" b="1" dirty="0">
                <a:solidFill>
                  <a:srgbClr val="2B2620"/>
                </a:solidFill>
              </a:rPr>
              <a:t>لبشة (Raft)</a:t>
            </a:r>
            <a:pPr rtl="1" algn="r" marL="342900" indent="-342900">
              <a:spcAft>
                <a:spcPts val="800"/>
              </a:spcAft>
              <a:buSzPct val="100000"/>
              <a:buChar char="•"/>
            </a:pPr>
            <a:r>
              <a:rPr lang="ar-EG" altLang="en-US" sz="1500" dirty="0">
                <a:solidFill>
                  <a:srgbClr val="2B2620"/>
                </a:solidFill>
              </a:rPr>
              <a:t>: لما التربة ضعيفة أو الأحمال كبيرة أو فيه بدروم ومياه جوفية.</a:t>
            </a:r>
            <a:endParaRPr lang="en-US" sz="1500" dirty="0"/>
          </a:p>
          <a:p>
            <a:pPr rtl="1" algn="r" marL="342900" indent="-342900">
              <a:spcAft>
                <a:spcPts val="800"/>
              </a:spcAft>
              <a:buSzPct val="100000"/>
              <a:buChar char="•"/>
            </a:pPr>
            <a:r>
              <a:rPr lang="ar-EG" altLang="en-US" sz="1500" b="1" dirty="0">
                <a:solidFill>
                  <a:srgbClr val="2B2620"/>
                </a:solidFill>
              </a:rPr>
              <a:t>خوازيق</a:t>
            </a:r>
            <a:pPr rtl="1" algn="r" marL="342900" indent="-342900">
              <a:spcAft>
                <a:spcPts val="800"/>
              </a:spcAft>
              <a:buSzPct val="100000"/>
              <a:buChar char="•"/>
            </a:pPr>
            <a:r>
              <a:rPr lang="ar-EG" altLang="en-US" sz="1500" dirty="0">
                <a:solidFill>
                  <a:srgbClr val="2B2620"/>
                </a:solidFill>
              </a:rPr>
              <a:t> (Piles): بتنقل الحمل لطبقة قوية أعمق، بالاحتكاك أو بالارتكاز.</a:t>
            </a:r>
            <a:endParaRPr lang="en-US" sz="1500" dirty="0"/>
          </a:p>
          <a:p>
            <a:pPr rtl="1" algn="r" marL="342900" indent="-342900">
              <a:spcAft>
                <a:spcPts val="800"/>
              </a:spcAft>
              <a:buSzPct val="100000"/>
              <a:buChar char="•"/>
            </a:pPr>
            <a:r>
              <a:rPr lang="ar-EG" altLang="en-US" sz="1500" b="1" dirty="0">
                <a:solidFill>
                  <a:srgbClr val="2B2620"/>
                </a:solidFill>
              </a:rPr>
              <a:t>قيسونات</a:t>
            </a:r>
            <a:pPr rtl="1" algn="r" marL="342900" indent="-342900">
              <a:spcAft>
                <a:spcPts val="800"/>
              </a:spcAft>
              <a:buSzPct val="100000"/>
              <a:buChar char="•"/>
            </a:pPr>
            <a:r>
              <a:rPr lang="ar-EG" altLang="en-US" sz="1500" dirty="0">
                <a:solidFill>
                  <a:srgbClr val="2B2620"/>
                </a:solidFill>
              </a:rPr>
              <a:t> (Caissons): خوازيق بقطر كبير.</a:t>
            </a:r>
            <a:endParaRPr lang="en-US" sz="1500" dirty="0"/>
          </a:p>
        </p:txBody>
      </p:sp>
      <p:sp>
        <p:nvSpPr>
          <p:cNvPr id="7" name="Text 4"/>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مصر: الكود المصري لميكانيكا التربة وتصميم وتنفيذ الأساسات. السعودية: SBC 303 (التربة والأساسات). راجع النص الرسمي.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البلاطات وأنظمة الأرضيات</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البلاطة </a:t>
            </a:r>
            <a:pPr rtl="1" algn="r" marL="342900" indent="-342900">
              <a:spcAft>
                <a:spcPts val="800"/>
              </a:spcAft>
              <a:buSzPct val="100000"/>
              <a:buChar char="•"/>
            </a:pPr>
            <a:r>
              <a:rPr lang="ar-EG" altLang="en-US" sz="1400" b="1" dirty="0">
                <a:solidFill>
                  <a:srgbClr val="2B2620"/>
                </a:solidFill>
              </a:rPr>
              <a:t>اتجاه واحد</a:t>
            </a:r>
            <a:pPr rtl="1" algn="r" marL="342900" indent="-342900">
              <a:spcAft>
                <a:spcPts val="800"/>
              </a:spcAft>
              <a:buSzPct val="100000"/>
              <a:buChar char="•"/>
            </a:pPr>
            <a:r>
              <a:rPr lang="ar-EG" altLang="en-US" sz="1400" dirty="0">
                <a:solidFill>
                  <a:srgbClr val="2B2620"/>
                </a:solidFill>
              </a:rPr>
              <a:t> لما نسبة الطول للعرض أكبر من 2، و</a:t>
            </a:r>
            <a:pPr rtl="1" algn="r" marL="342900" indent="-342900">
              <a:spcAft>
                <a:spcPts val="800"/>
              </a:spcAft>
              <a:buSzPct val="100000"/>
              <a:buChar char="•"/>
            </a:pPr>
            <a:r>
              <a:rPr lang="ar-EG" altLang="en-US" sz="1400" b="1" dirty="0">
                <a:solidFill>
                  <a:srgbClr val="2B2620"/>
                </a:solidFill>
              </a:rPr>
              <a:t>اتجاهين</a:t>
            </a:r>
            <a:pPr rtl="1" algn="r" marL="342900" indent="-342900">
              <a:spcAft>
                <a:spcPts val="800"/>
              </a:spcAft>
              <a:buSzPct val="100000"/>
              <a:buChar char="•"/>
            </a:pPr>
            <a:r>
              <a:rPr lang="ar-EG" altLang="en-US" sz="1400" dirty="0">
                <a:solidFill>
                  <a:srgbClr val="2B2620"/>
                </a:solidFill>
              </a:rPr>
              <a:t> لما أقل.</a:t>
            </a:r>
            <a:endParaRPr lang="en-US" sz="1400" dirty="0"/>
          </a:p>
          <a:p>
            <a:pPr rtl="1" algn="r" marL="342900" indent="-342900">
              <a:spcAft>
                <a:spcPts val="800"/>
              </a:spcAft>
              <a:buSzPct val="100000"/>
              <a:buChar char="•"/>
            </a:pPr>
            <a:r>
              <a:rPr lang="ar-EG" altLang="en-US" sz="1400" b="1" dirty="0">
                <a:solidFill>
                  <a:srgbClr val="2B2620"/>
                </a:solidFill>
              </a:rPr>
              <a:t>فواصل التمدد</a:t>
            </a:r>
            <a:pPr rtl="1" algn="r" marL="342900" indent="-342900">
              <a:spcAft>
                <a:spcPts val="800"/>
              </a:spcAft>
              <a:buSzPct val="100000"/>
              <a:buChar char="•"/>
            </a:pPr>
            <a:r>
              <a:rPr lang="ar-EG" altLang="en-US" sz="1400" dirty="0">
                <a:solidFill>
                  <a:srgbClr val="2B2620"/>
                </a:solidFill>
              </a:rPr>
              <a:t> في المباني الطويلة كل مسافة بيحددها المصمم الإنشائي.</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الاستخدام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النظام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الأكثر شيوعاً في السكني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بلاطة مصمتة على كمرات (Solid)</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أسقف مستوية، تسهل التشطيب والتكييف</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بلاطة لا كمرية (Flat slab)</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بحور أكبر ووزن أقل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هوردي (Ribbed / Hollow block)</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بحور كبيرة في الاتجاهين</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وافل (Waffle)</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بحور كبيرة وسُمك أقل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سابقة الإجهاد (Post-tensioned)</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الحوائط</a:t>
            </a:r>
            <a:endParaRPr lang="ar-EG" sz="3000" dirty="0"/>
          </a:p>
        </p:txBody>
      </p:sp>
      <p:sp>
        <p:nvSpPr>
          <p:cNvPr id="3" name="figure-frame"/>
          <p:cNvSpPr/>
          <p:nvPr/>
        </p:nvSpPr>
        <p:spPr>
          <a:xfrm>
            <a:off x="457200" y="1325880"/>
            <a:ext cx="5669280" cy="3200400"/>
          </a:xfrm>
          <a:prstGeom prst="roundRect">
            <a:avLst>
              <a:gd name="adj" fmla="val 2857"/>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3017520"/>
          </a:xfrm>
          <a:prstGeom prst="rect">
            <a:avLst/>
          </a:prstGeom>
        </p:spPr>
      </p:pic>
      <p:sp>
        <p:nvSpPr>
          <p:cNvPr id="5" name="Text 2"/>
          <p:cNvSpPr txBox="1"/>
          <p:nvPr/>
        </p:nvSpPr>
        <p:spPr>
          <a:xfrm>
            <a:off x="548640" y="457200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قطاع حائط خارجي مزدوج بعزل</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حاملة</a:t>
            </a:r>
            <a:pPr rtl="1" algn="r" marL="342900" indent="-342900">
              <a:spcAft>
                <a:spcPts val="800"/>
              </a:spcAft>
              <a:buSzPct val="100000"/>
              <a:buChar char="•"/>
            </a:pPr>
            <a:r>
              <a:rPr lang="ar-EG" altLang="en-US" sz="1500" dirty="0">
                <a:solidFill>
                  <a:srgbClr val="2B2620"/>
                </a:solidFill>
              </a:rPr>
              <a:t>: بتشيل البلاطات (مباني طوب حامل).</a:t>
            </a:r>
            <a:endParaRPr lang="en-US" sz="1500" dirty="0"/>
          </a:p>
          <a:p>
            <a:pPr rtl="1" algn="r" marL="342900" indent="-342900">
              <a:spcAft>
                <a:spcPts val="800"/>
              </a:spcAft>
              <a:buSzPct val="100000"/>
              <a:buChar char="•"/>
            </a:pPr>
            <a:r>
              <a:rPr lang="ar-EG" altLang="en-US" sz="1500" b="1" dirty="0">
                <a:solidFill>
                  <a:srgbClr val="2B2620"/>
                </a:solidFill>
              </a:rPr>
              <a:t>غير حاملة / ستائرية</a:t>
            </a:r>
            <a:pPr rtl="1" algn="r" marL="342900" indent="-342900">
              <a:spcAft>
                <a:spcPts val="800"/>
              </a:spcAft>
              <a:buSzPct val="100000"/>
              <a:buChar char="•"/>
            </a:pPr>
            <a:r>
              <a:rPr lang="ar-EG" altLang="en-US" sz="1500" dirty="0">
                <a:solidFill>
                  <a:srgbClr val="2B2620"/>
                </a:solidFill>
              </a:rPr>
              <a:t>: في المباني الهيكلية، بتقفل الفراغ بس.</a:t>
            </a:r>
            <a:endParaRPr lang="en-US" sz="1500" dirty="0"/>
          </a:p>
          <a:p>
            <a:pPr rtl="1" algn="r" marL="342900" indent="-342900">
              <a:spcAft>
                <a:spcPts val="800"/>
              </a:spcAft>
              <a:buSzPct val="100000"/>
              <a:buChar char="•"/>
            </a:pPr>
            <a:r>
              <a:rPr lang="ar-EG" altLang="en-US" sz="1500" b="1" dirty="0">
                <a:solidFill>
                  <a:srgbClr val="2B2620"/>
                </a:solidFill>
              </a:rPr>
              <a:t>مزدوجة بفراغ (Cavity wall)</a:t>
            </a:r>
            <a:pPr rtl="1" algn="r" marL="342900" indent="-342900">
              <a:spcAft>
                <a:spcPts val="800"/>
              </a:spcAft>
              <a:buSzPct val="100000"/>
              <a:buChar char="•"/>
            </a:pPr>
            <a:r>
              <a:rPr lang="ar-EG" altLang="en-US" sz="1500" dirty="0">
                <a:solidFill>
                  <a:srgbClr val="2B2620"/>
                </a:solidFill>
              </a:rPr>
              <a:t>: حائطين بينهم فراغ وعزل، أفضل حرارياً وضد الرطوبة.</a:t>
            </a:r>
            <a:endParaRPr lang="en-US" sz="1500" dirty="0"/>
          </a:p>
          <a:p>
            <a:pPr rtl="1" algn="r" marL="342900" indent="-342900">
              <a:spcAft>
                <a:spcPts val="800"/>
              </a:spcAft>
              <a:buSzPct val="100000"/>
              <a:buChar char="•"/>
            </a:pPr>
            <a:r>
              <a:rPr lang="ar-EG" altLang="en-US" sz="1500" b="1" dirty="0">
                <a:solidFill>
                  <a:srgbClr val="2B2620"/>
                </a:solidFill>
              </a:rPr>
              <a:t>الأعتاب</a:t>
            </a:r>
            <a:pPr rtl="1" algn="r" marL="342900" indent="-342900">
              <a:spcAft>
                <a:spcPts val="800"/>
              </a:spcAft>
              <a:buSzPct val="100000"/>
              <a:buChar char="•"/>
            </a:pPr>
            <a:r>
              <a:rPr lang="ar-EG" altLang="en-US" sz="1500" dirty="0">
                <a:solidFill>
                  <a:srgbClr val="2B2620"/>
                </a:solidFill>
              </a:rPr>
              <a:t> فوق الفتحات بتدخل في الحائط من كل ناحية </a:t>
            </a:r>
            <a:pPr rtl="1" algn="r" marL="342900" indent="-342900">
              <a:spcAft>
                <a:spcPts val="800"/>
              </a:spcAft>
              <a:buSzPct val="100000"/>
              <a:buChar char="•"/>
            </a:pPr>
            <a:r>
              <a:rPr lang="ar-EG" altLang="en-US" sz="1500" b="1" dirty="0">
                <a:solidFill>
                  <a:srgbClr val="2B2620"/>
                </a:solidFill>
              </a:rPr>
              <a:t>15–20 سم</a:t>
            </a:r>
            <a:pPr rtl="1" algn="r" marL="342900" indent="-342900">
              <a:spcAft>
                <a:spcPts val="800"/>
              </a:spcAft>
              <a:buSzPct val="100000"/>
              <a:buChar char="•"/>
            </a:pPr>
            <a:r>
              <a:rPr lang="ar-EG" altLang="en-US" sz="1500" dirty="0">
                <a:solidFill>
                  <a:srgbClr val="2B2620"/>
                </a:solidFill>
              </a:rPr>
              <a:t> على الأقل.</a:t>
            </a:r>
            <a:endParaRPr lang="en-US" sz="1500" dirty="0"/>
          </a:p>
          <a:p>
            <a:pPr rtl="1" algn="r" marL="342900" indent="-342900">
              <a:spcAft>
                <a:spcPts val="800"/>
              </a:spcAft>
              <a:buSzPct val="100000"/>
              <a:buChar char="•"/>
            </a:pPr>
            <a:r>
              <a:rPr lang="ar-EG" altLang="en-US" sz="1500" b="1" dirty="0">
                <a:solidFill>
                  <a:srgbClr val="2B2620"/>
                </a:solidFill>
              </a:rPr>
              <a:t>الرباط</a:t>
            </a:r>
            <a:pPr rtl="1" algn="r" marL="342900" indent="-342900">
              <a:spcAft>
                <a:spcPts val="800"/>
              </a:spcAft>
              <a:buSzPct val="100000"/>
              <a:buChar char="•"/>
            </a:pPr>
            <a:r>
              <a:rPr lang="ar-EG" altLang="en-US" sz="1500" dirty="0">
                <a:solidFill>
                  <a:srgbClr val="2B2620"/>
                </a:solidFill>
              </a:rPr>
              <a:t> بين الطوب: عدم توافق العراميس الرأسية (نص طوبة).</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الأسقف (Roofs)</a:t>
            </a:r>
            <a:endParaRPr lang="ar-EG" sz="3000" dirty="0"/>
          </a:p>
        </p:txBody>
      </p:sp>
      <p:sp>
        <p:nvSpPr>
          <p:cNvPr id="3" name="figure-frame"/>
          <p:cNvSpPr/>
          <p:nvPr/>
        </p:nvSpPr>
        <p:spPr>
          <a:xfrm>
            <a:off x="457200" y="1325880"/>
            <a:ext cx="5669280" cy="2411730"/>
          </a:xfrm>
          <a:prstGeom prst="roundRect">
            <a:avLst>
              <a:gd name="adj" fmla="val 379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228850"/>
          </a:xfrm>
          <a:prstGeom prst="rect">
            <a:avLst/>
          </a:prstGeom>
        </p:spPr>
      </p:pic>
      <p:sp>
        <p:nvSpPr>
          <p:cNvPr id="5" name="Text 2"/>
          <p:cNvSpPr txBox="1"/>
          <p:nvPr/>
        </p:nvSpPr>
        <p:spPr>
          <a:xfrm>
            <a:off x="548640" y="378333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طبقات السطح المعكوس وطلعة العزل على الدروة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لازم </a:t>
            </a:r>
            <a:pPr rtl="1" algn="r" marL="342900" indent="-342900">
              <a:spcAft>
                <a:spcPts val="800"/>
              </a:spcAft>
              <a:buSzPct val="100000"/>
              <a:buChar char="•"/>
            </a:pPr>
            <a:r>
              <a:rPr lang="ar-EG" altLang="en-US" sz="1500" b="1" dirty="0">
                <a:solidFill>
                  <a:srgbClr val="2B2620"/>
                </a:solidFill>
              </a:rPr>
              <a:t>ميول</a:t>
            </a:r>
            <a:pPr rtl="1" algn="r" marL="342900" indent="-342900">
              <a:spcAft>
                <a:spcPts val="800"/>
              </a:spcAft>
              <a:buSzPct val="100000"/>
              <a:buChar char="•"/>
            </a:pPr>
            <a:r>
              <a:rPr lang="ar-EG" altLang="en-US" sz="1500" dirty="0">
                <a:solidFill>
                  <a:srgbClr val="2B2620"/>
                </a:solidFill>
              </a:rPr>
              <a:t> للصرف لا تقل عن </a:t>
            </a:r>
            <a:pPr rtl="1" algn="r" marL="342900" indent="-342900">
              <a:spcAft>
                <a:spcPts val="800"/>
              </a:spcAft>
              <a:buSzPct val="100000"/>
              <a:buChar char="•"/>
            </a:pPr>
            <a:r>
              <a:rPr lang="ar-EG" altLang="en-US" sz="1500" b="1" dirty="0">
                <a:solidFill>
                  <a:srgbClr val="2B2620"/>
                </a:solidFill>
              </a:rPr>
              <a:t>1–2%</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ترتيب الطبقات في السقف المعكوس (Inverted): بلاطة ← خرسانة ميول ← عزل مائي ← عزل حراري ← طبقة حماية/بلاط.</a:t>
            </a:r>
            <a:endParaRPr lang="en-US" sz="1500" dirty="0"/>
          </a:p>
          <a:p>
            <a:pPr rtl="1" algn="r" marL="342900" indent="-342900">
              <a:spcAft>
                <a:spcPts val="800"/>
              </a:spcAft>
              <a:buSzPct val="100000"/>
              <a:buChar char="•"/>
            </a:pPr>
            <a:r>
              <a:rPr lang="ar-EG" altLang="en-US" sz="1500" dirty="0">
                <a:solidFill>
                  <a:srgbClr val="2B2620"/>
                </a:solidFill>
              </a:rPr>
              <a:t>العزل المائي </a:t>
            </a:r>
            <a:pPr rtl="1" algn="r" marL="342900" indent="-342900">
              <a:spcAft>
                <a:spcPts val="800"/>
              </a:spcAft>
              <a:buSzPct val="100000"/>
              <a:buChar char="•"/>
            </a:pPr>
            <a:r>
              <a:rPr lang="ar-EG" altLang="en-US" sz="1500" b="1" dirty="0">
                <a:solidFill>
                  <a:srgbClr val="2B2620"/>
                </a:solidFill>
              </a:rPr>
              <a:t>يطلع على الدروة 20–30 سم</a:t>
            </a:r>
            <a:pPr rtl="1" algn="r" marL="342900" indent="-342900">
              <a:spcAft>
                <a:spcPts val="800"/>
              </a:spcAft>
              <a:buSzPct val="100000"/>
              <a:buChar char="•"/>
            </a:pPr>
            <a:r>
              <a:rPr lang="ar-EG" altLang="en-US" sz="1500" dirty="0">
                <a:solidFill>
                  <a:srgbClr val="2B2620"/>
                </a:solidFill>
              </a:rPr>
              <a:t> ويتثبت بوزرة أو بروفيل.</a:t>
            </a:r>
            <a:endParaRPr lang="en-US" sz="1500" dirty="0"/>
          </a:p>
          <a:p>
            <a:pPr rtl="1" algn="r" marL="342900" indent="-342900">
              <a:spcAft>
                <a:spcPts val="800"/>
              </a:spcAft>
              <a:buSzPct val="100000"/>
              <a:buChar char="•"/>
            </a:pPr>
            <a:r>
              <a:rPr lang="ar-EG" altLang="en-US" sz="1500" dirty="0">
                <a:solidFill>
                  <a:srgbClr val="2B2620"/>
                </a:solidFill>
              </a:rPr>
              <a:t>الصفايات ومواسير الصرف: صفاية لكل مساحة معينة، و</a:t>
            </a:r>
            <a:pPr rtl="1" algn="r" marL="342900" indent="-342900">
              <a:spcAft>
                <a:spcPts val="800"/>
              </a:spcAft>
              <a:buSzPct val="100000"/>
              <a:buChar char="•"/>
            </a:pPr>
            <a:r>
              <a:rPr lang="ar-EG" altLang="en-US" sz="1500" b="1" dirty="0">
                <a:solidFill>
                  <a:srgbClr val="2B2620"/>
                </a:solidFill>
              </a:rPr>
              <a:t>صفاية طوارئ</a:t>
            </a:r>
            <a:pPr rtl="1" algn="r" marL="342900" indent="-342900">
              <a:spcAft>
                <a:spcPts val="800"/>
              </a:spcAft>
              <a:buSzPct val="100000"/>
              <a:buChar char="•"/>
            </a:pPr>
            <a:r>
              <a:rPr lang="ar-EG" altLang="en-US" sz="1500" dirty="0">
                <a:solidFill>
                  <a:srgbClr val="2B2620"/>
                </a:solidFill>
              </a:rPr>
              <a:t> أو فتحة فيضان.</a:t>
            </a:r>
            <a:endParaRPr lang="en-US" sz="1500" dirty="0"/>
          </a:p>
          <a:p>
            <a:pPr rtl="1" algn="r" marL="342900" indent="-342900">
              <a:spcAft>
                <a:spcPts val="800"/>
              </a:spcAft>
              <a:buSzPct val="100000"/>
              <a:buChar char="•"/>
            </a:pPr>
            <a:r>
              <a:rPr lang="ar-EG" altLang="en-US" sz="1500" dirty="0">
                <a:solidFill>
                  <a:srgbClr val="2B2620"/>
                </a:solidFill>
              </a:rPr>
              <a:t>القرميد: ميل غالباً </a:t>
            </a:r>
            <a:pPr rtl="1" algn="r" marL="342900" indent="-342900">
              <a:spcAft>
                <a:spcPts val="800"/>
              </a:spcAft>
              <a:buSzPct val="100000"/>
              <a:buChar char="•"/>
            </a:pPr>
            <a:r>
              <a:rPr lang="ar-EG" altLang="en-US" sz="1500" b="1" dirty="0">
                <a:solidFill>
                  <a:srgbClr val="2B2620"/>
                </a:solidFill>
              </a:rPr>
              <a:t>22–45°</a:t>
            </a:r>
            <a:pPr rtl="1" algn="r" marL="342900" indent="-342900">
              <a:spcAft>
                <a:spcPts val="800"/>
              </a:spcAft>
              <a:buSzPct val="100000"/>
              <a:buChar char="•"/>
            </a:pPr>
            <a:r>
              <a:rPr lang="ar-EG" altLang="en-US" sz="1500" dirty="0">
                <a:solidFill>
                  <a:srgbClr val="2B2620"/>
                </a:solidFill>
              </a:rPr>
              <a:t> حسب نوع القرميد.</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العزل ضد الرطوبة والحرارة</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أغشية بيتومينية</a:t>
            </a:r>
            <a:pPr rtl="1" algn="r" indent="0" marL="0">
              <a:buNone/>
            </a:pPr>
            <a:r>
              <a:rPr lang="ar-EG" altLang="en-US" sz="1400" dirty="0">
                <a:solidFill>
                  <a:srgbClr val="2B2620"/>
                </a:solidFill>
              </a:rPr>
              <a:t> (لفائف تُلحم بالحرارة)، </a:t>
            </a:r>
            <a:pPr rtl="1" algn="r" indent="0" marL="0">
              <a:buNone/>
            </a:pPr>
            <a:r>
              <a:rPr lang="ar-EG" altLang="en-US" sz="1400" b="1" dirty="0">
                <a:solidFill>
                  <a:srgbClr val="2B2620"/>
                </a:solidFill>
              </a:rPr>
              <a:t>أغشية سائلة</a:t>
            </a:r>
            <a:pPr rtl="1" algn="r" indent="0" marL="0">
              <a:buNone/>
            </a:pPr>
            <a:r>
              <a:rPr lang="ar-EG" altLang="en-US" sz="1400" dirty="0">
                <a:solidFill>
                  <a:srgbClr val="2B2620"/>
                </a:solidFill>
              </a:rPr>
              <a:t> (بولي يوريثان / أكريليك)، </a:t>
            </a:r>
            <a:pPr rtl="1" algn="r" indent="0" marL="0">
              <a:buNone/>
            </a:pPr>
            <a:r>
              <a:rPr lang="ar-EG" altLang="en-US" sz="1400" b="1" dirty="0">
                <a:solidFill>
                  <a:srgbClr val="2B2620"/>
                </a:solidFill>
              </a:rPr>
              <a:t>عزل أسمنتي</a:t>
            </a:r>
            <a:pPr rtl="1" algn="r" indent="0" marL="0">
              <a:buNone/>
            </a:pPr>
            <a:r>
              <a:rPr lang="ar-EG" altLang="en-US" sz="1400" dirty="0">
                <a:solidFill>
                  <a:srgbClr val="2B2620"/>
                </a:solidFill>
              </a:rPr>
              <a:t> (للحمامات والخزانات).</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الحمامات: العزل على الأرضية بالكامل ويطلع على الحوائط </a:t>
            </a:r>
            <a:pPr rtl="1" algn="r" indent="0" marL="0">
              <a:buNone/>
            </a:pPr>
            <a:r>
              <a:rPr lang="ar-EG" altLang="en-US" sz="1400" b="1" dirty="0">
                <a:solidFill>
                  <a:srgbClr val="2B2620"/>
                </a:solidFill>
              </a:rPr>
              <a:t>20–30 سم</a:t>
            </a:r>
            <a:pPr rtl="1" algn="r" indent="0" marL="0">
              <a:buNone/>
            </a:pPr>
            <a:r>
              <a:rPr lang="ar-EG" altLang="en-US" sz="1400" dirty="0">
                <a:solidFill>
                  <a:srgbClr val="2B2620"/>
                </a:solidFill>
              </a:rPr>
              <a:t>، وفي منطقة الدش </a:t>
            </a:r>
            <a:pPr rtl="1" algn="r" indent="0" marL="0">
              <a:buNone/>
            </a:pPr>
            <a:r>
              <a:rPr lang="ar-EG" altLang="en-US" sz="1400" b="1" dirty="0">
                <a:solidFill>
                  <a:srgbClr val="2B2620"/>
                </a:solidFill>
              </a:rPr>
              <a:t>180–200 سم</a:t>
            </a:r>
            <a:pPr rtl="1" algn="r" indent="0" marL="0">
              <a:buNone/>
            </a:pPr>
            <a:r>
              <a:rPr lang="ar-EG" altLang="en-US" sz="1400" dirty="0">
                <a:solidFill>
                  <a:srgbClr val="2B2620"/>
                </a:solidFill>
              </a:rPr>
              <a:t>.</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اختبار الغمر</a:t>
            </a:r>
            <a:pPr rtl="1" algn="r" indent="0" marL="0">
              <a:buNone/>
            </a:pPr>
            <a:r>
              <a:rPr lang="ar-EG" altLang="en-US" sz="1400" dirty="0">
                <a:solidFill>
                  <a:srgbClr val="2B2620"/>
                </a:solidFill>
              </a:rPr>
              <a:t> بالمية 24–48 ساعة قبل التغطية.</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مكانه الأفضل </a:t>
            </a:r>
            <a:pPr rtl="1" algn="r" indent="0" marL="0">
              <a:buNone/>
            </a:pPr>
            <a:r>
              <a:rPr lang="ar-EG" altLang="en-US" sz="1400" b="1" dirty="0">
                <a:solidFill>
                  <a:srgbClr val="2B2620"/>
                </a:solidFill>
              </a:rPr>
              <a:t>من الخارج</a:t>
            </a:r>
            <a:pPr rtl="1" algn="r" indent="0" marL="0">
              <a:buNone/>
            </a:pPr>
            <a:r>
              <a:rPr lang="ar-EG" altLang="en-US" sz="1400" dirty="0">
                <a:solidFill>
                  <a:srgbClr val="2B2620"/>
                </a:solidFill>
              </a:rPr>
              <a:t> (يحمي الخرسانة ويحافظ على الكتلة الحرارية جوه).</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مواد شائعة: بوليسترين مبثوق (XPS)، صوف صخري، بولي يوريثان رش.</a:t>
            </a:r>
            <a:endParaRPr lang="en-US" sz="1400" dirty="0"/>
          </a:p>
        </p:txBody>
      </p:sp>
      <p:sp>
        <p:nvSpPr>
          <p:cNvPr id="23" name="card5"/>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3423818" y="3566160"/>
            <a:ext cx="457200" cy="457200"/>
          </a:xfrm>
          <a:prstGeom prst="ellipse">
            <a:avLst/>
          </a:prstGeom>
          <a:solidFill>
            <a:schemeClr val="accent2"/>
          </a:solidFill>
          <a:ln/>
        </p:spPr>
      </p:sp>
      <p:sp>
        <p:nvSpPr>
          <p:cNvPr id="25" name="Text 23"/>
          <p:cNvSpPr txBox="1"/>
          <p:nvPr/>
        </p:nvSpPr>
        <p:spPr>
          <a:xfrm>
            <a:off x="342381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731520" y="411480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حاجز البخار</a:t>
            </a:r>
            <a:pPr rtl="1" algn="r" indent="0" marL="0">
              <a:buNone/>
            </a:pPr>
            <a:r>
              <a:rPr lang="ar-EG" altLang="en-US" sz="1400" dirty="0">
                <a:solidFill>
                  <a:srgbClr val="2B2620"/>
                </a:solidFill>
              </a:rPr>
              <a:t> على الوش </a:t>
            </a:r>
            <a:pPr rtl="1" algn="r" indent="0" marL="0">
              <a:buNone/>
            </a:pPr>
            <a:r>
              <a:rPr lang="ar-EG" altLang="en-US" sz="1400" b="1" dirty="0">
                <a:solidFill>
                  <a:srgbClr val="2B2620"/>
                </a:solidFill>
              </a:rPr>
              <a:t>الدافي</a:t>
            </a:r>
            <a:pPr rtl="1" algn="r" indent="0" marL="0">
              <a:buNone/>
            </a:pPr>
            <a:r>
              <a:rPr lang="ar-EG" altLang="en-US" sz="1400" dirty="0">
                <a:solidFill>
                  <a:srgbClr val="2B2620"/>
                </a:solidFill>
              </a:rPr>
              <a:t> من العزل.</a:t>
            </a:r>
            <a:endParaRPr lang="en-US" sz="1400" dirty="0"/>
          </a:p>
        </p:txBody>
      </p:sp>
      <p:sp>
        <p:nvSpPr>
          <p:cNvPr id="27" name="Text 25"/>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السعودية: SBC 601/602 (ترشيد الطاقة). مصر: كود تحسين كفاءة استخدام الطاقة في المباني. راجع النص الرسمي.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الأبواب والشبابيك</a:t>
            </a:r>
            <a:endParaRPr lang="ar-EG" sz="3000" dirty="0"/>
          </a:p>
        </p:txBody>
      </p:sp>
      <p:sp>
        <p:nvSpPr>
          <p:cNvPr id="3" name="figure-frame"/>
          <p:cNvSpPr/>
          <p:nvPr/>
        </p:nvSpPr>
        <p:spPr>
          <a:xfrm>
            <a:off x="457200" y="1325880"/>
            <a:ext cx="5669280" cy="3122023"/>
          </a:xfrm>
          <a:prstGeom prst="roundRect">
            <a:avLst>
              <a:gd name="adj" fmla="val 2929"/>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939143"/>
          </a:xfrm>
          <a:prstGeom prst="rect">
            <a:avLst/>
          </a:prstGeom>
        </p:spPr>
      </p:pic>
      <p:sp>
        <p:nvSpPr>
          <p:cNvPr id="5" name="Text 2"/>
          <p:cNvSpPr txBox="1"/>
          <p:nvPr/>
        </p:nvSpPr>
        <p:spPr>
          <a:xfrm>
            <a:off x="548640" y="4493623"/>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تفصيلة جلسة شباك خارجي</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الحلق</a:t>
            </a:r>
            <a:pPr rtl="1" algn="r" marL="342900" indent="-342900">
              <a:spcAft>
                <a:spcPts val="800"/>
              </a:spcAft>
              <a:buSzPct val="100000"/>
              <a:buChar char="•"/>
            </a:pPr>
            <a:r>
              <a:rPr lang="ar-EG" altLang="en-US" sz="1500" dirty="0">
                <a:solidFill>
                  <a:srgbClr val="2B2620"/>
                </a:solidFill>
              </a:rPr>
              <a:t> بيتثبت في الحائط بكانات أو خوابير، ويتعمل </a:t>
            </a:r>
            <a:pPr rtl="1" algn="r" marL="342900" indent="-342900">
              <a:spcAft>
                <a:spcPts val="800"/>
              </a:spcAft>
              <a:buSzPct val="100000"/>
              <a:buChar char="•"/>
            </a:pPr>
            <a:r>
              <a:rPr lang="ar-EG" altLang="en-US" sz="1500" b="1" dirty="0">
                <a:solidFill>
                  <a:srgbClr val="2B2620"/>
                </a:solidFill>
              </a:rPr>
              <a:t>فاصل</a:t>
            </a:r>
            <a:pPr rtl="1" algn="r" marL="342900" indent="-342900">
              <a:spcAft>
                <a:spcPts val="800"/>
              </a:spcAft>
              <a:buSzPct val="100000"/>
              <a:buChar char="•"/>
            </a:pPr>
            <a:r>
              <a:rPr lang="ar-EG" altLang="en-US" sz="1500" dirty="0">
                <a:solidFill>
                  <a:srgbClr val="2B2620"/>
                </a:solidFill>
              </a:rPr>
              <a:t> بينه وبين البياض.</a:t>
            </a:r>
            <a:endParaRPr lang="en-US" sz="1500" dirty="0"/>
          </a:p>
          <a:p>
            <a:pPr rtl="1" algn="r" marL="342900" indent="-342900">
              <a:spcAft>
                <a:spcPts val="800"/>
              </a:spcAft>
              <a:buSzPct val="100000"/>
              <a:buChar char="•"/>
            </a:pPr>
            <a:r>
              <a:rPr lang="ar-EG" altLang="en-US" sz="1500" dirty="0">
                <a:solidFill>
                  <a:srgbClr val="2B2620"/>
                </a:solidFill>
              </a:rPr>
              <a:t>الشبابيك الخارجية: </a:t>
            </a:r>
            <a:pPr rtl="1" algn="r" marL="342900" indent="-342900">
              <a:spcAft>
                <a:spcPts val="800"/>
              </a:spcAft>
              <a:buSzPct val="100000"/>
              <a:buChar char="•"/>
            </a:pPr>
            <a:r>
              <a:rPr lang="ar-EG" altLang="en-US" sz="1500" b="1" dirty="0">
                <a:solidFill>
                  <a:srgbClr val="2B2620"/>
                </a:solidFill>
              </a:rPr>
              <a:t>جلسة بميل للخارج</a:t>
            </a:r>
            <a:pPr rtl="1" algn="r" marL="342900" indent="-342900">
              <a:spcAft>
                <a:spcPts val="800"/>
              </a:spcAft>
              <a:buSzPct val="100000"/>
              <a:buChar char="•"/>
            </a:pPr>
            <a:r>
              <a:rPr lang="ar-EG" altLang="en-US" sz="1500" dirty="0">
                <a:solidFill>
                  <a:srgbClr val="2B2620"/>
                </a:solidFill>
              </a:rPr>
              <a:t> و</a:t>
            </a:r>
            <a:pPr rtl="1" algn="r" marL="342900" indent="-342900">
              <a:spcAft>
                <a:spcPts val="800"/>
              </a:spcAft>
              <a:buSzPct val="100000"/>
              <a:buChar char="•"/>
            </a:pPr>
            <a:r>
              <a:rPr lang="ar-EG" altLang="en-US" sz="1500" b="1" dirty="0">
                <a:solidFill>
                  <a:srgbClr val="2B2620"/>
                </a:solidFill>
              </a:rPr>
              <a:t>نقطة تقطير (Drip)</a:t>
            </a:r>
            <a:pPr rtl="1" algn="r" marL="342900" indent="-342900">
              <a:spcAft>
                <a:spcPts val="800"/>
              </a:spcAft>
              <a:buSzPct val="100000"/>
              <a:buChar char="•"/>
            </a:pPr>
            <a:r>
              <a:rPr lang="ar-EG" altLang="en-US" sz="1500" dirty="0">
                <a:solidFill>
                  <a:srgbClr val="2B2620"/>
                </a:solidFill>
              </a:rPr>
              <a:t> تحت الجلسة.</a:t>
            </a:r>
            <a:endParaRPr lang="en-US" sz="1500" dirty="0"/>
          </a:p>
          <a:p>
            <a:pPr rtl="1" algn="r" marL="342900" indent="-342900">
              <a:spcAft>
                <a:spcPts val="800"/>
              </a:spcAft>
              <a:buSzPct val="100000"/>
              <a:buChar char="•"/>
            </a:pPr>
            <a:r>
              <a:rPr lang="ar-EG" altLang="en-US" sz="1500" b="1" dirty="0">
                <a:solidFill>
                  <a:srgbClr val="2B2620"/>
                </a:solidFill>
              </a:rPr>
              <a:t>مانع تسرب (Sealant)</a:t>
            </a:r>
            <a:pPr rtl="1" algn="r" marL="342900" indent="-342900">
              <a:spcAft>
                <a:spcPts val="800"/>
              </a:spcAft>
              <a:buSzPct val="100000"/>
              <a:buChar char="•"/>
            </a:pPr>
            <a:r>
              <a:rPr lang="ar-EG" altLang="en-US" sz="1500" dirty="0">
                <a:solidFill>
                  <a:srgbClr val="2B2620"/>
                </a:solidFill>
              </a:rPr>
              <a:t> حوالين الحلق من الخارج، ومادة عازلة في الفراغ بين الحلق والحائط.</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السلالم</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معادلة الدرجة: </a:t>
            </a:r>
            <a:pPr rtl="1" algn="r" marL="342900" indent="-342900">
              <a:spcAft>
                <a:spcPts val="800"/>
              </a:spcAft>
              <a:buSzPct val="100000"/>
              <a:buChar char="•"/>
            </a:pPr>
            <a:r>
              <a:rPr lang="ar-EG" altLang="en-US" sz="1400" b="1" dirty="0">
                <a:solidFill>
                  <a:srgbClr val="2B2620"/>
                </a:solidFill>
              </a:rPr>
              <a:t>2 × القائمة + النائمة = 60–65 سم</a:t>
            </a:r>
            <a:pPr rtl="1" algn="r" marL="342900" indent="-342900">
              <a:spcAft>
                <a:spcPts val="800"/>
              </a:spcAft>
              <a:buSzPct val="100000"/>
              <a:buChar char="•"/>
            </a:pPr>
            <a:r>
              <a:rPr lang="ar-EG" altLang="en-US" sz="1400" dirty="0">
                <a:solidFill>
                  <a:srgbClr val="2B2620"/>
                </a:solidFill>
              </a:rPr>
              <a:t>.</a:t>
            </a:r>
            <a:endParaRPr lang="en-US" sz="1400" dirty="0"/>
          </a:p>
          <a:p>
            <a:pPr rtl="1" algn="r" marL="342900" indent="-342900">
              <a:spcAft>
                <a:spcPts val="800"/>
              </a:spcAft>
              <a:buSzPct val="100000"/>
              <a:buChar char="•"/>
            </a:pPr>
            <a:r>
              <a:rPr lang="ar-EG" altLang="en-US" sz="1400" dirty="0">
                <a:solidFill>
                  <a:srgbClr val="2B2620"/>
                </a:solidFill>
              </a:rPr>
              <a:t>كل الدرج في الطلعة الواحدة </a:t>
            </a:r>
            <a:pPr rtl="1" algn="r" marL="342900" indent="-342900">
              <a:spcAft>
                <a:spcPts val="800"/>
              </a:spcAft>
              <a:buSzPct val="100000"/>
              <a:buChar char="•"/>
            </a:pPr>
            <a:r>
              <a:rPr lang="ar-EG" altLang="en-US" sz="1400" b="1" dirty="0">
                <a:solidFill>
                  <a:srgbClr val="2B2620"/>
                </a:solidFill>
              </a:rPr>
              <a:t>بنفس المقاس</a:t>
            </a:r>
            <a:pPr rtl="1" algn="r" marL="342900" indent="-342900">
              <a:spcAft>
                <a:spcPts val="800"/>
              </a:spcAft>
              <a:buSzPct val="100000"/>
              <a:buChar char="•"/>
            </a:pPr>
            <a:r>
              <a:rPr lang="ar-EG" altLang="en-US" sz="1400" dirty="0">
                <a:solidFill>
                  <a:srgbClr val="2B2620"/>
                </a:solidFill>
              </a:rPr>
              <a:t> (فرق أكتر من حوالي 1 سم بيسبب تعثر).</a:t>
            </a:r>
            <a:endParaRPr lang="en-US" sz="1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ملاحظة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النوع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الأشهر في مصر والسعودية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خرساني مصبوب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للفلل والديكور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حديد بدرج خشب أو رخام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للمساحات الضيقة، مش طريق هروب أساسي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حلزوني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محتاج تصميم إنشائي خاص</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معلق / كابولي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التشطيبات</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3 طبقات: </a:t>
            </a:r>
            <a:pPr rtl="1" algn="r" indent="0" marL="0">
              <a:buNone/>
            </a:pPr>
            <a:r>
              <a:rPr lang="ar-EG" altLang="en-US" sz="1400" b="1" dirty="0">
                <a:solidFill>
                  <a:srgbClr val="2B2620"/>
                </a:solidFill>
              </a:rPr>
              <a:t>طرطشة</a:t>
            </a:r>
            <a:pPr rtl="1" algn="r" indent="0" marL="0">
              <a:buNone/>
            </a:pPr>
            <a:r>
              <a:rPr lang="ar-EG" altLang="en-US" sz="1400" dirty="0">
                <a:solidFill>
                  <a:srgbClr val="2B2620"/>
                </a:solidFill>
              </a:rPr>
              <a:t> (تماسك) ← </a:t>
            </a:r>
            <a:pPr rtl="1" algn="r" indent="0" marL="0">
              <a:buNone/>
            </a:pPr>
            <a:r>
              <a:rPr lang="ar-EG" altLang="en-US" sz="1400" b="1" dirty="0">
                <a:solidFill>
                  <a:srgbClr val="2B2620"/>
                </a:solidFill>
              </a:rPr>
              <a:t>بطانة</a:t>
            </a:r>
            <a:pPr rtl="1" algn="r" indent="0" marL="0">
              <a:buNone/>
            </a:pPr>
            <a:r>
              <a:rPr lang="ar-EG" altLang="en-US" sz="1400" dirty="0">
                <a:solidFill>
                  <a:srgbClr val="2B2620"/>
                </a:solidFill>
              </a:rPr>
              <a:t> (تسوية بالأوتار والبؤج) ← </a:t>
            </a:r>
            <a:pPr rtl="1" algn="r" indent="0" marL="0">
              <a:buNone/>
            </a:pPr>
            <a:r>
              <a:rPr lang="ar-EG" altLang="en-US" sz="1400" b="1" dirty="0">
                <a:solidFill>
                  <a:srgbClr val="2B2620"/>
                </a:solidFill>
              </a:rPr>
              <a:t>ضهارة</a:t>
            </a:r>
            <a:pPr rtl="1" algn="r" indent="0" marL="0">
              <a:buNone/>
            </a:pPr>
            <a:r>
              <a:rPr lang="ar-EG" altLang="en-US" sz="1400" dirty="0">
                <a:solidFill>
                  <a:srgbClr val="2B2620"/>
                </a:solidFill>
              </a:rPr>
              <a:t> (النعومة)، الإجمالي حوالي </a:t>
            </a:r>
            <a:pPr rtl="1" algn="r" indent="0" marL="0">
              <a:buNone/>
            </a:pPr>
            <a:r>
              <a:rPr lang="ar-EG" altLang="en-US" sz="1400" b="1" dirty="0">
                <a:solidFill>
                  <a:srgbClr val="2B2620"/>
                </a:solidFill>
              </a:rPr>
              <a:t>2–2.5 سم</a:t>
            </a:r>
            <a:pPr rtl="1" algn="r" indent="0" marL="0">
              <a:buNone/>
            </a:pPr>
            <a:r>
              <a:rPr lang="ar-EG" altLang="en-US" sz="1400" dirty="0">
                <a:solidFill>
                  <a:srgbClr val="2B2620"/>
                </a:solidFill>
              </a:rPr>
              <a:t>.</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شبك</a:t>
            </a:r>
            <a:pPr rtl="1" algn="r" indent="0" marL="0">
              <a:buNone/>
            </a:pPr>
            <a:r>
              <a:rPr lang="ar-EG" altLang="en-US" sz="1400" dirty="0">
                <a:solidFill>
                  <a:srgbClr val="2B2620"/>
                </a:solidFill>
              </a:rPr>
              <a:t> عند تلاقي الخرسانة بالطوب عشان مايحصلش شرخ.</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قطاعات معدنية كل </a:t>
            </a:r>
            <a:pPr rtl="1" algn="r" indent="0" marL="0">
              <a:buNone/>
            </a:pPr>
            <a:r>
              <a:rPr lang="ar-EG" altLang="en-US" sz="1400" b="1" dirty="0">
                <a:solidFill>
                  <a:srgbClr val="2B2620"/>
                </a:solidFill>
              </a:rPr>
              <a:t>40 أو 60 سم</a:t>
            </a:r>
            <a:pPr rtl="1" algn="r" indent="0" marL="0">
              <a:buNone/>
            </a:pPr>
            <a:r>
              <a:rPr lang="ar-EG" altLang="en-US" sz="1400" dirty="0">
                <a:solidFill>
                  <a:srgbClr val="2B2620"/>
                </a:solidFill>
              </a:rPr>
              <a:t>، ولوح </a:t>
            </a:r>
            <a:pPr rtl="1" algn="r" indent="0" marL="0">
              <a:buNone/>
            </a:pPr>
            <a:r>
              <a:rPr lang="ar-EG" altLang="en-US" sz="1400" b="1" dirty="0">
                <a:solidFill>
                  <a:srgbClr val="2B2620"/>
                </a:solidFill>
              </a:rPr>
              <a:t>12.5 مم</a:t>
            </a:r>
            <a:pPr rtl="1" algn="r" indent="0" marL="0">
              <a:buNone/>
            </a:pPr>
            <a:r>
              <a:rPr lang="ar-EG" altLang="en-US" sz="1400" dirty="0">
                <a:solidFill>
                  <a:srgbClr val="2B2620"/>
                </a:solidFill>
              </a:rPr>
              <a:t>.</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معالجة الوصلات بشريط ومعجون على 3 طبقات.</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البلاط على </a:t>
            </a:r>
            <a:pPr rtl="1" algn="r" indent="0" marL="0">
              <a:buNone/>
            </a:pPr>
            <a:r>
              <a:rPr lang="ar-EG" altLang="en-US" sz="1400" b="1" dirty="0">
                <a:solidFill>
                  <a:srgbClr val="2B2620"/>
                </a:solidFill>
              </a:rPr>
              <a:t>مونة</a:t>
            </a:r>
            <a:pPr rtl="1" algn="r" indent="0" marL="0">
              <a:buNone/>
            </a:pPr>
            <a:r>
              <a:rPr lang="ar-EG" altLang="en-US" sz="1400" dirty="0">
                <a:solidFill>
                  <a:srgbClr val="2B2620"/>
                </a:solidFill>
              </a:rPr>
              <a:t> أو </a:t>
            </a:r>
            <a:pPr rtl="1" algn="r" indent="0" marL="0">
              <a:buNone/>
            </a:pPr>
            <a:r>
              <a:rPr lang="ar-EG" altLang="en-US" sz="1400" b="1" dirty="0">
                <a:solidFill>
                  <a:srgbClr val="2B2620"/>
                </a:solidFill>
              </a:rPr>
              <a:t>لاصق</a:t>
            </a:r>
            <a:pPr rtl="1" algn="r" indent="0" marL="0">
              <a:buNone/>
            </a:pPr>
            <a:r>
              <a:rPr lang="ar-EG" altLang="en-US" sz="1400" dirty="0">
                <a:solidFill>
                  <a:srgbClr val="2B2620"/>
                </a:solidFill>
              </a:rPr>
              <a:t> حسب نوعه، مع </a:t>
            </a:r>
            <a:pPr rtl="1" algn="r" indent="0" marL="0">
              <a:buNone/>
            </a:pPr>
            <a:r>
              <a:rPr lang="ar-EG" altLang="en-US" sz="1400" b="1" dirty="0">
                <a:solidFill>
                  <a:srgbClr val="2B2620"/>
                </a:solidFill>
              </a:rPr>
              <a:t>فواصل تمدد</a:t>
            </a:r>
            <a:pPr rtl="1" algn="r" indent="0" marL="0">
              <a:buNone/>
            </a:pPr>
            <a:r>
              <a:rPr lang="ar-EG" altLang="en-US" sz="1400" dirty="0">
                <a:solidFill>
                  <a:srgbClr val="2B2620"/>
                </a:solidFill>
              </a:rPr>
              <a:t> عند الحوائط وكل مساحة كبيرة.</a:t>
            </a:r>
            <a:endParaRPr lang="en-US" sz="1400" dirty="0"/>
          </a:p>
        </p:txBody>
      </p:sp>
      <p:sp>
        <p:nvSpPr>
          <p:cNvPr id="23" name="card5"/>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3423818" y="3566160"/>
            <a:ext cx="457200" cy="457200"/>
          </a:xfrm>
          <a:prstGeom prst="ellipse">
            <a:avLst/>
          </a:prstGeom>
          <a:solidFill>
            <a:schemeClr val="accent2"/>
          </a:solidFill>
          <a:ln/>
        </p:spPr>
      </p:sp>
      <p:sp>
        <p:nvSpPr>
          <p:cNvPr id="25" name="Text 23"/>
          <p:cNvSpPr txBox="1"/>
          <p:nvPr/>
        </p:nvSpPr>
        <p:spPr>
          <a:xfrm>
            <a:off x="342381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731520"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الخشب: فاصل </a:t>
            </a:r>
            <a:pPr rtl="1" algn="r" indent="0" marL="0">
              <a:buNone/>
            </a:pPr>
            <a:r>
              <a:rPr lang="ar-EG" altLang="en-US" sz="1400" b="1" dirty="0">
                <a:solidFill>
                  <a:srgbClr val="2B2620"/>
                </a:solidFill>
              </a:rPr>
              <a:t>1 سم</a:t>
            </a:r>
            <a:pPr rtl="1" algn="r" indent="0" marL="0">
              <a:buNone/>
            </a:pPr>
            <a:r>
              <a:rPr lang="ar-EG" altLang="en-US" sz="1400" dirty="0">
                <a:solidFill>
                  <a:srgbClr val="2B2620"/>
                </a:solidFill>
              </a:rPr>
              <a:t> عند الحوائط.</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الأعمال الكهروميكانيكية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السباكة</a:t>
            </a:r>
            <a:pPr rtl="1" algn="r" indent="0" marL="0">
              <a:buNone/>
            </a:pPr>
            <a:r>
              <a:rPr lang="ar-EG" altLang="en-US" sz="1400" dirty="0">
                <a:solidFill>
                  <a:srgbClr val="2B2620"/>
                </a:solidFill>
              </a:rPr>
              <a:t>: التغذية تحت ضغط، والصرف بالجاذبية بميل حوالي </a:t>
            </a:r>
            <a:pPr rtl="1" algn="r" indent="0" marL="0">
              <a:buNone/>
            </a:pPr>
            <a:r>
              <a:rPr lang="ar-EG" altLang="en-US" sz="1400" b="1" dirty="0">
                <a:solidFill>
                  <a:srgbClr val="2B2620"/>
                </a:solidFill>
              </a:rPr>
              <a:t>1–2%</a:t>
            </a:r>
            <a:pPr rtl="1" algn="r" indent="0" marL="0">
              <a:buNone/>
            </a:pPr>
            <a:r>
              <a:rPr lang="ar-EG" altLang="en-US" sz="1400" dirty="0">
                <a:solidFill>
                  <a:srgbClr val="2B2620"/>
                </a:solidFill>
              </a:rPr>
              <a:t> للمواسير الأفقية.</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التهوية والتكييف</a:t>
            </a:r>
            <a:pPr rtl="1" algn="r" indent="0" marL="0">
              <a:buNone/>
            </a:pPr>
            <a:r>
              <a:rPr lang="ar-EG" altLang="en-US" sz="1400" dirty="0">
                <a:solidFill>
                  <a:srgbClr val="2B2620"/>
                </a:solidFill>
              </a:rPr>
              <a:t>: مسارات الدكت محتاجة ارتفاع في السقف المعلق (غالباً </a:t>
            </a:r>
            <a:pPr rtl="1" algn="r" indent="0" marL="0">
              <a:buNone/>
            </a:pPr>
            <a:r>
              <a:rPr lang="ar-EG" altLang="en-US" sz="1400" b="1" dirty="0">
                <a:solidFill>
                  <a:srgbClr val="2B2620"/>
                </a:solidFill>
              </a:rPr>
              <a:t>40–60 سم</a:t>
            </a:r>
            <a:pPr rtl="1" algn="r" indent="0" marL="0">
              <a:buNone/>
            </a:pPr>
            <a:r>
              <a:rPr lang="ar-EG" altLang="en-US" sz="1400" dirty="0">
                <a:solidFill>
                  <a:srgbClr val="2B2620"/>
                </a:solidFill>
              </a:rPr>
              <a:t>).</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الكهرباء</a:t>
            </a:r>
            <a:pPr rtl="1" algn="r" indent="0" marL="0">
              <a:buNone/>
            </a:pPr>
            <a:r>
              <a:rPr lang="ar-EG" altLang="en-US" sz="1400" dirty="0">
                <a:solidFill>
                  <a:srgbClr val="2B2620"/>
                </a:solidFill>
              </a:rPr>
              <a:t>: لوحات توزيع، دوائر منفصلة للتكييف والسخانات والمطبخ، وتأريض.</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التنسيق</a:t>
            </a:r>
            <a:pPr rtl="1" algn="r" indent="0" marL="0">
              <a:buNone/>
            </a:pPr>
            <a:r>
              <a:rPr lang="ar-EG" altLang="en-US" sz="1400" dirty="0">
                <a:solidFill>
                  <a:srgbClr val="2B2620"/>
                </a:solidFill>
              </a:rPr>
              <a:t> بين التخصصات قبل الصب: الفتحات (Sleeves) في الكمرات والبلاطات بتتساب وقت الصب مش بعده.</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أي تكسير في الخرسانة بعد الصب لعمل فتحة لازم موافقة المصمم الإنشائي.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المواد</a:t>
            </a:r>
            <a:endParaRPr lang="ar-EG" sz="30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أهم خواصها</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المادة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قوية في الضغط ضعيفة في الشد — الحديد بيشيل الشد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الخرسانة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قوي في الشد، محتاج حماية من الصدأ والحريق</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الحديد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خفيف وسهل، محتاج حماية من الرطوبة والحشرات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الخشب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كتلة حرارية، مقاومة حريق جيدة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الطوب الأحمر/الأسمنتي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شفاف، محتاج حسابات للأمان (سيكوريت / لامينيتد)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الزجاج</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خفيف ومقاوم للصدأ، تمدده الحراري عالي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الألومنيوم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خلاصة م. عمر خميس</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افهم </a:t>
            </a:r>
            <a:pPr rtl="1" algn="r" indent="0" marL="0">
              <a:buNone/>
            </a:pPr>
            <a:r>
              <a:rPr lang="ar-EG" altLang="en-US" sz="1400" b="1" dirty="0">
                <a:solidFill>
                  <a:srgbClr val="2B2620"/>
                </a:solidFill>
              </a:rPr>
              <a:t>النظام</a:t>
            </a:r>
            <a:pPr rtl="1" algn="r" indent="0" marL="0">
              <a:buNone/>
            </a:pPr>
            <a:r>
              <a:rPr lang="ar-EG" altLang="en-US" sz="1400" dirty="0">
                <a:solidFill>
                  <a:srgbClr val="2B2620"/>
                </a:solidFill>
              </a:rPr>
              <a:t> (إنشائي، غلاف، خدمات) قبل التفصيلة.</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أي مية لازم يبقى ليها </a:t>
            </a:r>
            <a:pPr rtl="1" algn="r" indent="0" marL="0">
              <a:buNone/>
            </a:pPr>
            <a:r>
              <a:rPr lang="ar-EG" altLang="en-US" sz="1400" b="1" dirty="0">
                <a:solidFill>
                  <a:srgbClr val="2B2620"/>
                </a:solidFill>
              </a:rPr>
              <a:t>طريق تمشي فيه للخارج</a:t>
            </a:r>
            <a:pPr rtl="1" algn="r" indent="0" marL="0">
              <a:buNone/>
            </a:pPr>
            <a:r>
              <a:rPr lang="ar-EG" altLang="en-US" sz="1400" dirty="0">
                <a:solidFill>
                  <a:srgbClr val="2B2620"/>
                </a:solidFill>
              </a:rPr>
              <a:t>: ميول، نقطة تقطير، وزرة، صفاية.</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العزل المائي </a:t>
            </a:r>
            <a:pPr rtl="1" algn="r" indent="0" marL="0">
              <a:buNone/>
            </a:pPr>
            <a:r>
              <a:rPr lang="ar-EG" altLang="en-US" sz="1400" b="1" dirty="0">
                <a:solidFill>
                  <a:srgbClr val="2B2620"/>
                </a:solidFill>
              </a:rPr>
              <a:t>يتختبر قبل ما يتغطى</a:t>
            </a:r>
            <a:pPr rtl="1" algn="r" indent="0" marL="0">
              <a:buNone/>
            </a:pPr>
            <a:r>
              <a:rPr lang="ar-EG" altLang="en-US" sz="1400" dirty="0">
                <a:solidFill>
                  <a:srgbClr val="2B2620"/>
                </a:solidFill>
              </a:rPr>
              <a:t>.</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العزل الحراري من </a:t>
            </a:r>
            <a:pPr rtl="1" algn="r" indent="0" marL="0">
              <a:buNone/>
            </a:pPr>
            <a:r>
              <a:rPr lang="ar-EG" altLang="en-US" sz="1400" b="1" dirty="0">
                <a:solidFill>
                  <a:srgbClr val="2B2620"/>
                </a:solidFill>
              </a:rPr>
              <a:t>برا</a:t>
            </a:r>
            <a:pPr rtl="1" algn="r" indent="0" marL="0">
              <a:buNone/>
            </a:pPr>
            <a:r>
              <a:rPr lang="ar-EG" altLang="en-US" sz="1400" dirty="0">
                <a:solidFill>
                  <a:srgbClr val="2B2620"/>
                </a:solidFill>
              </a:rPr>
              <a:t> أحسن، وحاجز البخار من </a:t>
            </a:r>
            <a:pPr rtl="1" algn="r" indent="0" marL="0">
              <a:buNone/>
            </a:pPr>
            <a:r>
              <a:rPr lang="ar-EG" altLang="en-US" sz="1400" b="1" dirty="0">
                <a:solidFill>
                  <a:srgbClr val="2B2620"/>
                </a:solidFill>
              </a:rPr>
              <a:t>جوه</a:t>
            </a:r>
            <a:pPr rtl="1" algn="r" indent="0" marL="0">
              <a:buNone/>
            </a:pPr>
            <a:r>
              <a:rPr lang="ar-EG" altLang="en-US" sz="1400" dirty="0">
                <a:solidFill>
                  <a:srgbClr val="2B2620"/>
                </a:solidFill>
              </a:rPr>
              <a:t>.</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التنسيق بين التخصصات </a:t>
            </a:r>
            <a:pPr rtl="1" algn="r" indent="0" marL="0">
              <a:buNone/>
            </a:pPr>
            <a:r>
              <a:rPr lang="ar-EG" altLang="en-US" sz="1400" b="1" dirty="0">
                <a:solidFill>
                  <a:srgbClr val="2B2620"/>
                </a:solidFill>
              </a:rPr>
              <a:t>قبل الصب</a:t>
            </a:r>
            <a:pPr rtl="1" algn="r" indent="0" marL="0">
              <a:buNone/>
            </a:pPr>
            <a:r>
              <a:rPr lang="ar-EG" altLang="en-US" sz="1400" dirty="0">
                <a:solidFill>
                  <a:srgbClr val="2B2620"/>
                </a:solidFill>
              </a:rPr>
              <a:t> بيوفر فلوس ووقت.</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مختصر وتلخيص م. عمر خميس — مكتبة م. عمر خميس للاسكتش اب.</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شكراً</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+20 100 543 3170</a:t>
            </a:r>
            <a:endParaRPr lang="ar-EG" sz="1800" dirty="0"/>
          </a:p>
        </p:txBody>
      </p:sp>
      <p:sp>
        <p:nvSpPr>
          <p:cNvPr id="4" name="Text 2"/>
          <p:cNvSpPr txBox="1"/>
          <p:nvPr/>
        </p:nvSpPr>
        <p:spPr>
          <a:xfrm>
            <a:off x="914400" y="5577840"/>
            <a:ext cx="10362895" cy="548640"/>
          </a:xfrm>
          <a:prstGeom prst="rect">
            <a:avLst/>
          </a:prstGeom>
          <a:noFill/>
          <a:ln/>
        </p:spPr>
        <p:txBody>
          <a:bodyPr wrap="square" rtlCol="0" anchor="ctr"/>
          <a:lstStyle/>
          <a:p>
            <a:pPr rtl="1" algn="ctr" indent="0" marL="0">
              <a:buNone/>
            </a:pPr>
            <a:r>
              <a:rPr lang="ar-EG" altLang="en-US" sz="1400" dirty="0">
                <a:solidFill>
                  <a:srgbClr val="E3C278"/>
                </a:solidFill>
              </a:rPr>
              <a:t>لا تنسوا صاحب المكتبة من الدعاء — عمر بن جمال خميس، غفر الله له ولوالديه</a:t>
            </a:r>
            <a:endParaRPr lang="ar-EG"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8A5A10"/>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ملخص: إنشاء المباني بالرسم — تشينغ</dc:title>
  <dc:subject>PptxGenJS Presentation</dc:subject>
  <dc:creator>Eng. Omar Khamis</dc:creator>
  <cp:lastModifiedBy>Eng. Omar Khamis</cp:lastModifiedBy>
  <cp:revision>1</cp:revision>
  <dcterms:created xsi:type="dcterms:W3CDTF">2026-10-15T12:37:09Z</dcterms:created>
  <dcterms:modified xsi:type="dcterms:W3CDTF">2026-10-15T12:37:09Z</dcterms:modified>
</cp:coreProperties>
</file>