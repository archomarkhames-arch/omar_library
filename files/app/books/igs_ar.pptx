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769d8bf5-830a-1d57-b07a-9f7748035c9b}">
          <p14:sldIdLst>
            <p14:sldId id="256"/>
          </p14:sldIdLst>
        </p14:section>
        <p14:section name="المحتوى" id="{ddd59baa-0651-3ad8-cc11-afad32c315cc}">
          <p14:sldIdLst>
            <p14:sldId id="257"/>
          </p14:sldIdLst>
        </p14:section>
        <p14:section name="الملخص" id="{6445dd3c-8745-b250-a191-c4020fa36004}">
          <p14:sldIdLst>
            <p14:sldId id="258"/>
            <p14:sldId id="259"/>
            <p14:sldId id="260"/>
            <p14:sldId id="261"/>
            <p14:sldId id="262"/>
            <p14:sldId id="263"/>
            <p14:sldId id="264"/>
            <p14:sldId id="265"/>
            <p14:sldId id="266"/>
            <p14:sldId id="267"/>
            <p14:sldId id="268"/>
            <p14:sldId id="269"/>
          </p14:sldIdLst>
        </p14:section>
        <p14:section name="الختام" id="{9e69c65e-0682-0a81-427a-90f7fe6e5fc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«المعايير المصورة للتصميم الداخلي» (Interior Graphic Standards)، الطبعة الثانية 2010، تحرير كوركي بينجيلي، من سلسلة Graphic Standards الشهيرة. الكتاب بيغطي كل حاجة جوه المبنى: القواطيع، الأسقف، الأرضيات، التشطيبات، النجارة، الأثاث، الإضاءة، الصوتيات، الإتاحة، وتصميم الداخل لأنواع المباني.
ليه مهم لمصمم الديكور ومهندس التشطيبات؟
بيحوّل الفكرة لـمواصفة وتفصيلة ومقاس.
بيساعدك تكتب بنود المقايسة ومواصفات المواد صح.
بيقلل الأخطاء بين التصميم والتنفيذ.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الإتاحة لذوي الهمم
دائرة لف الكرسي المتحرك 150 سم.
عرض الباب الصافي 80–90 سم على الأقل.
الحوض: ارتفاع حوالي 80–85 سم وخلوص تحته للركب.
المسكات في الحمام على ارتفاع 70–75 سم.
مفاتيح الكهرباء وأزرار المصاعد في مدى الوصول 40–120 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مكونات القاطوع الجاف
مسارات (Tracks) فوق وتحت، وقوائم (Studs) رأسية كل 40 أو 60 سم.
لوح جبس 12.5 مم (عادي / مقاوم رطوبة أخضر / مقاوم حريق أحمر).
صوف صخري جوه للعزل الصوتي والحريق.
قواعد تنفيذية
وصلات الألواح متبادلة بين الوشين ومش على نفس القائم.
تقوية خشب أو معدن مكان الدواليب المعلقة والتلفزيونات والمغاسل.
قاطوع للعزل الصوتي لازم يوصل للبلاطة الخرسانية مش للسقف المعلق بس.
فاصل حركة في القواطيع الطويلة (حوالي كل 9–15 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ارتفاع الفراغ فوق السقف (Plenum) حسب التكييف: غالباً 15–60 سم.
فتحات صيانة عند المحابس والوحدات الداخلية للتكييف.
التعليق بشماعات كل حوالي 120 سم (حسب نظام المصنع).
نسّق مكان السبوتات والفتحات والحساسات مع شبكة السقف.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أنواع وأماكن استخدامها
الانتقالات بين الأرضيات
فرق منسوب لحد 6 مم مقبول بدون شطف.
من 6 لـ 13 مم شطف بميل لا يزيد عن 1:2.
أكتر من كده يتعامل كمنحدر.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الدهانات
مطفي للأسقف والغرف، نصف لامع للمطابخ والحمامات والطرقات (سهل المسح).
مقاومة الغسيل وقابلية التنظيف من خواص المنتج اللي تتكتب في المواصفة.
ورق الحائط والتجاليد
الجدار لازم يكون ناشف ومستوي وبطانة قبل ورق الحائط.
تجاليد الخشب والشرائح على شاسيه مع فراغ تهوية.
قابلية الاشتعال
التشطيبات في الممرات ومسارات الهروب لازم تكون من فئة انتشار لهب منخفضة حسب الكود.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مواد الألواح
MDF (سطح ناعم للدهان والأكريليك)، خشب حبيبي/ميلامين (اقتصادي)، أبلكاش (قوي ومقاوم رطوبة أكتر)، HPL (سطح قوي).
حافة (Edge banding) على كل الحواف الظاهرة.
المفصلات والمجاري (Soft close / Tandem) تتحدد في المواصفة بالحِمل وعدد الفتحات.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مسافات المرور: 75–90 سم حوالين الأثاث في السكني، أكتر في التجاري.
السفرة: 60 سم لكل فرد، و90–120 سم ورا الكراسي.
المعيشة: ترابيزة الوسط 40–45 سم من الكنبة، والكنب متقابل بمسافة حوالي 2.4–3.0 م للكلام المريح.
المكاتب: مكتب 72–75 سم، ومسافة 80–100 سم ورا الكرسي.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طبقات الإضاءة
عامة (Ambient): السقف والسبوتات.
مهام (Task): تحت العلوي في المطبخ، أباجورة المكتب.
تجميلية (Accent): إبراز لوحة أو حائط.
ديكورية: النجف والمعلقات.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العزل (منع انتقال الصوت) يعتمد على الكتلة والفصل والإحكام.
الامتصاص (تقليل الصدى) يعتمد على المواد المسامية: موكيت، ستائر، ألواح أكوستيك.
بين الشقق: عزل صوتي محمول على الهوا حوالي STC 50 أو أكتر.
فتحات الكهرباء المتقابلة في القاطوع لازم تتباعد عشان الصوت مايعديش.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السكني
فصل العام عن الخاص، تخزين كفاية، إضاءة طبيعية.
المكاتب
مرونة القواطيع، الأرضيات المرفوعة أحياناً، الصوتيات في المكتب المفتوح.
الضيافة (فنادق ومطاعم)
متانة التشطيبات، مقاومة الحريق، الصيانة السهلة.
التجاري
مسارات الحركة، الإضاءة على المنتج، المرونة لتغيير العرض.
الصحي
أسطح سهلة التعقيم، زوايا مدورة، أرضيات بدون فواصل.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قرار تصميم داخلي لازم يتحول لـمواصفة + تفصيلة + مقاس.
اعمل تقويات جوه القواطيع قبل الإقفال.
الأسقف المعلقة محتاجة تنسيق مع التكييف والإضاءة والحريق.
التشطيبات في مسارات الهروب لازم تطابق كود الحريق.
الإضاءة طبقات، والصوتيات عزل + امتصاص.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r" indent="0" marL="0">
              <a:buNone/>
              <a:defRPr lang="en-US" sz="3000" b="1" dirty="0">
                <a:solidFill>
                  <a:srgbClr val="2B2620"/>
                </a:solidFill>
              </a:defRPr>
            </a:lvl1pPr>
          </a:lstStyle>
          <a:p>
            <a:pPr algn="r" indent="0" marL="0">
              <a:buNone/>
            </a:pPr>
            <a:endParaRPr lang="en-US" sz="3000" dirty="0"/>
          </a:p>
        </p:txBody>
      </p:sp>
      <p:sp>
        <p:nvSpPr>
          <p:cNvPr id="3" name="Text 0"/>
          <p:cNvSpPr/>
          <p:nvPr/>
        </p:nvSpPr>
        <p:spPr>
          <a:xfrm>
            <a:off x="4327855" y="6400800"/>
            <a:ext cx="7315200" cy="320040"/>
          </a:xfrm>
          <a:prstGeom prst="rect">
            <a:avLst/>
          </a:prstGeom>
          <a:noFill/>
          <a:ln/>
        </p:spPr>
        <p:txBody>
          <a:bodyPr wrap="square" rtlCol="0" anchor="ctr"/>
          <a:lstStyle/>
          <a:p>
            <a:pPr algn="r" indent="0" marL="0">
              <a:buNone/>
            </a:pPr>
            <a:r>
              <a:rPr lang="ar-EG" altLang="en-US" sz="1000" dirty="0">
                <a:solidFill>
                  <a:srgbClr val="8A7E6A"/>
                </a:solidFill>
              </a:rPr>
              <a:t>مختصر وتلخيص م. عمر خميس  —  +20 100 543 3170</a:t>
            </a:r>
            <a:endParaRPr lang="ar-EG" sz="10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ملخص: المعايير المصورة للتصميم الداخلي</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مكتبة م. عمر خميس — 2026</a:t>
            </a:r>
            <a:endParaRPr lang="ar-EG"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rtl="1" algn="ctr" indent="0" marL="0">
              <a:buNone/>
            </a:pPr>
            <a:r>
              <a:rPr lang="ar-EG" altLang="en-US" sz="1200" dirty="0">
                <a:solidFill>
                  <a:srgbClr val="B9AE97"/>
                </a:solidFill>
              </a:rPr>
              <a:t>ملخص للتعلم — لا يغني عن الكتاب الأصلي</a:t>
            </a:r>
            <a:endParaRPr lang="ar-EG"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محتوى العرض</a:t>
            </a:r>
            <a:endParaRPr lang="ar-EG" sz="3000" dirty="0"/>
          </a:p>
        </p:txBody>
      </p:sp>
      <p:sp>
        <p:nvSpPr>
          <p:cNvPr id="3" name="n1"/>
          <p:cNvSpPr/>
          <p:nvPr/>
        </p:nvSpPr>
        <p:spPr>
          <a:xfrm>
            <a:off x="11094415" y="1362456"/>
            <a:ext cx="384048" cy="384048"/>
          </a:xfrm>
          <a:prstGeom prst="ellipse">
            <a:avLst/>
          </a:prstGeom>
          <a:solidFill>
            <a:schemeClr val="accent1"/>
          </a:solidFill>
          <a:ln/>
        </p:spPr>
      </p:sp>
      <p:sp>
        <p:nvSpPr>
          <p:cNvPr id="4" name="Text 2"/>
          <p:cNvSpPr txBox="1"/>
          <p:nvPr/>
        </p:nvSpPr>
        <p:spPr>
          <a:xfrm>
            <a:off x="11094415"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6187288"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مقدمة: المرجع التنفيذي للتصميم الداخلي</a:t>
            </a:r>
            <a:endParaRPr lang="ar-EG" sz="1500" dirty="0"/>
          </a:p>
        </p:txBody>
      </p:sp>
      <p:sp>
        <p:nvSpPr>
          <p:cNvPr id="6" name="n2"/>
          <p:cNvSpPr/>
          <p:nvPr/>
        </p:nvSpPr>
        <p:spPr>
          <a:xfrm>
            <a:off x="11094415" y="1874520"/>
            <a:ext cx="384048" cy="384048"/>
          </a:xfrm>
          <a:prstGeom prst="ellipse">
            <a:avLst/>
          </a:prstGeom>
          <a:solidFill>
            <a:schemeClr val="accent1"/>
          </a:solidFill>
          <a:ln/>
        </p:spPr>
      </p:sp>
      <p:sp>
        <p:nvSpPr>
          <p:cNvPr id="7" name="Text 5"/>
          <p:cNvSpPr txBox="1"/>
          <p:nvPr/>
        </p:nvSpPr>
        <p:spPr>
          <a:xfrm>
            <a:off x="11094415"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6187288"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العوامل البشرية والإرجونوميكس</a:t>
            </a:r>
            <a:endParaRPr lang="ar-EG" sz="1500" dirty="0"/>
          </a:p>
        </p:txBody>
      </p:sp>
      <p:sp>
        <p:nvSpPr>
          <p:cNvPr id="9" name="n3"/>
          <p:cNvSpPr/>
          <p:nvPr/>
        </p:nvSpPr>
        <p:spPr>
          <a:xfrm>
            <a:off x="11094415" y="2386584"/>
            <a:ext cx="384048" cy="384048"/>
          </a:xfrm>
          <a:prstGeom prst="ellipse">
            <a:avLst/>
          </a:prstGeom>
          <a:solidFill>
            <a:schemeClr val="accent1"/>
          </a:solidFill>
          <a:ln/>
        </p:spPr>
      </p:sp>
      <p:sp>
        <p:nvSpPr>
          <p:cNvPr id="10" name="Text 8"/>
          <p:cNvSpPr txBox="1"/>
          <p:nvPr/>
        </p:nvSpPr>
        <p:spPr>
          <a:xfrm>
            <a:off x="11094415"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6187288"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القواطيع والجبس بورد</a:t>
            </a:r>
            <a:endParaRPr lang="ar-EG" sz="1500" dirty="0"/>
          </a:p>
        </p:txBody>
      </p:sp>
      <p:sp>
        <p:nvSpPr>
          <p:cNvPr id="12" name="n4"/>
          <p:cNvSpPr/>
          <p:nvPr/>
        </p:nvSpPr>
        <p:spPr>
          <a:xfrm>
            <a:off x="11094415" y="2898648"/>
            <a:ext cx="384048" cy="384048"/>
          </a:xfrm>
          <a:prstGeom prst="ellipse">
            <a:avLst/>
          </a:prstGeom>
          <a:solidFill>
            <a:schemeClr val="accent1"/>
          </a:solidFill>
          <a:ln/>
        </p:spPr>
      </p:sp>
      <p:sp>
        <p:nvSpPr>
          <p:cNvPr id="13" name="Text 11"/>
          <p:cNvSpPr txBox="1"/>
          <p:nvPr/>
        </p:nvSpPr>
        <p:spPr>
          <a:xfrm>
            <a:off x="11094415"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6187288"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الأسقف المعلقة</a:t>
            </a:r>
            <a:endParaRPr lang="ar-EG" sz="1500" dirty="0"/>
          </a:p>
        </p:txBody>
      </p:sp>
      <p:sp>
        <p:nvSpPr>
          <p:cNvPr id="15" name="n5"/>
          <p:cNvSpPr/>
          <p:nvPr/>
        </p:nvSpPr>
        <p:spPr>
          <a:xfrm>
            <a:off x="11094415" y="3410712"/>
            <a:ext cx="384048" cy="384048"/>
          </a:xfrm>
          <a:prstGeom prst="ellipse">
            <a:avLst/>
          </a:prstGeom>
          <a:solidFill>
            <a:schemeClr val="accent1"/>
          </a:solidFill>
          <a:ln/>
        </p:spPr>
      </p:sp>
      <p:sp>
        <p:nvSpPr>
          <p:cNvPr id="16" name="Text 14"/>
          <p:cNvSpPr txBox="1"/>
          <p:nvPr/>
        </p:nvSpPr>
        <p:spPr>
          <a:xfrm>
            <a:off x="11094415"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6187288"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الأرضيات</a:t>
            </a:r>
            <a:endParaRPr lang="ar-EG" sz="1500" dirty="0"/>
          </a:p>
        </p:txBody>
      </p:sp>
      <p:sp>
        <p:nvSpPr>
          <p:cNvPr id="18" name="n6"/>
          <p:cNvSpPr/>
          <p:nvPr/>
        </p:nvSpPr>
        <p:spPr>
          <a:xfrm>
            <a:off x="11094415" y="3922776"/>
            <a:ext cx="384048" cy="384048"/>
          </a:xfrm>
          <a:prstGeom prst="ellipse">
            <a:avLst/>
          </a:prstGeom>
          <a:solidFill>
            <a:schemeClr val="accent1"/>
          </a:solidFill>
          <a:ln/>
        </p:spPr>
      </p:sp>
      <p:sp>
        <p:nvSpPr>
          <p:cNvPr id="19" name="Text 17"/>
          <p:cNvSpPr txBox="1"/>
          <p:nvPr/>
        </p:nvSpPr>
        <p:spPr>
          <a:xfrm>
            <a:off x="11094415"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6187288"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التشطيبات ومواصفاتها</a:t>
            </a:r>
            <a:endParaRPr lang="ar-EG" sz="1500" dirty="0"/>
          </a:p>
        </p:txBody>
      </p:sp>
      <p:sp>
        <p:nvSpPr>
          <p:cNvPr id="21" name="n7"/>
          <p:cNvSpPr/>
          <p:nvPr/>
        </p:nvSpPr>
        <p:spPr>
          <a:xfrm>
            <a:off x="5455768" y="1362456"/>
            <a:ext cx="384048" cy="384048"/>
          </a:xfrm>
          <a:prstGeom prst="ellipse">
            <a:avLst/>
          </a:prstGeom>
          <a:solidFill>
            <a:schemeClr val="accent1"/>
          </a:solidFill>
          <a:ln/>
        </p:spPr>
      </p:sp>
      <p:sp>
        <p:nvSpPr>
          <p:cNvPr id="22" name="Text 20"/>
          <p:cNvSpPr txBox="1"/>
          <p:nvPr/>
        </p:nvSpPr>
        <p:spPr>
          <a:xfrm>
            <a:off x="545576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548640"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الأعمال الخشبية والدواليب (Millwork &amp; Casework)</a:t>
            </a:r>
            <a:endParaRPr lang="ar-EG" sz="1500" dirty="0"/>
          </a:p>
        </p:txBody>
      </p:sp>
      <p:sp>
        <p:nvSpPr>
          <p:cNvPr id="24" name="n8"/>
          <p:cNvSpPr/>
          <p:nvPr/>
        </p:nvSpPr>
        <p:spPr>
          <a:xfrm>
            <a:off x="5455768" y="1874520"/>
            <a:ext cx="384048" cy="384048"/>
          </a:xfrm>
          <a:prstGeom prst="ellipse">
            <a:avLst/>
          </a:prstGeom>
          <a:solidFill>
            <a:schemeClr val="accent1"/>
          </a:solidFill>
          <a:ln/>
        </p:spPr>
      </p:sp>
      <p:sp>
        <p:nvSpPr>
          <p:cNvPr id="25" name="Text 23"/>
          <p:cNvSpPr txBox="1"/>
          <p:nvPr/>
        </p:nvSpPr>
        <p:spPr>
          <a:xfrm>
            <a:off x="545576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548640"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الأثاث</a:t>
            </a:r>
            <a:endParaRPr lang="ar-EG" sz="1500" dirty="0"/>
          </a:p>
        </p:txBody>
      </p:sp>
      <p:sp>
        <p:nvSpPr>
          <p:cNvPr id="27" name="n9"/>
          <p:cNvSpPr/>
          <p:nvPr/>
        </p:nvSpPr>
        <p:spPr>
          <a:xfrm>
            <a:off x="5455768" y="2386584"/>
            <a:ext cx="384048" cy="384048"/>
          </a:xfrm>
          <a:prstGeom prst="ellipse">
            <a:avLst/>
          </a:prstGeom>
          <a:solidFill>
            <a:schemeClr val="accent1"/>
          </a:solidFill>
          <a:ln/>
        </p:spPr>
      </p:sp>
      <p:sp>
        <p:nvSpPr>
          <p:cNvPr id="28" name="Text 26"/>
          <p:cNvSpPr txBox="1"/>
          <p:nvPr/>
        </p:nvSpPr>
        <p:spPr>
          <a:xfrm>
            <a:off x="545576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548640"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الإضاءة</a:t>
            </a:r>
            <a:endParaRPr lang="ar-EG" sz="1500" dirty="0"/>
          </a:p>
        </p:txBody>
      </p:sp>
      <p:sp>
        <p:nvSpPr>
          <p:cNvPr id="30" name="n10"/>
          <p:cNvSpPr/>
          <p:nvPr/>
        </p:nvSpPr>
        <p:spPr>
          <a:xfrm>
            <a:off x="5455768" y="2898648"/>
            <a:ext cx="384048" cy="384048"/>
          </a:xfrm>
          <a:prstGeom prst="ellipse">
            <a:avLst/>
          </a:prstGeom>
          <a:solidFill>
            <a:schemeClr val="accent1"/>
          </a:solidFill>
          <a:ln/>
        </p:spPr>
      </p:sp>
      <p:sp>
        <p:nvSpPr>
          <p:cNvPr id="31" name="Text 29"/>
          <p:cNvSpPr txBox="1"/>
          <p:nvPr/>
        </p:nvSpPr>
        <p:spPr>
          <a:xfrm>
            <a:off x="545576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548640"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الصوتيات</a:t>
            </a:r>
            <a:endParaRPr lang="ar-EG" sz="1500" dirty="0"/>
          </a:p>
        </p:txBody>
      </p:sp>
      <p:sp>
        <p:nvSpPr>
          <p:cNvPr id="33" name="n11"/>
          <p:cNvSpPr/>
          <p:nvPr/>
        </p:nvSpPr>
        <p:spPr>
          <a:xfrm>
            <a:off x="5455768" y="3410712"/>
            <a:ext cx="384048" cy="384048"/>
          </a:xfrm>
          <a:prstGeom prst="ellipse">
            <a:avLst/>
          </a:prstGeom>
          <a:solidFill>
            <a:schemeClr val="accent1"/>
          </a:solidFill>
          <a:ln/>
        </p:spPr>
      </p:sp>
      <p:sp>
        <p:nvSpPr>
          <p:cNvPr id="34" name="Text 32"/>
          <p:cNvSpPr txBox="1"/>
          <p:nvPr/>
        </p:nvSpPr>
        <p:spPr>
          <a:xfrm>
            <a:off x="545576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548640"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تصميم الداخل لأنواع المباني</a:t>
            </a:r>
            <a:endParaRPr lang="ar-EG" sz="1500" dirty="0"/>
          </a:p>
        </p:txBody>
      </p:sp>
      <p:sp>
        <p:nvSpPr>
          <p:cNvPr id="36" name="n12"/>
          <p:cNvSpPr/>
          <p:nvPr/>
        </p:nvSpPr>
        <p:spPr>
          <a:xfrm>
            <a:off x="5455768" y="3922776"/>
            <a:ext cx="384048" cy="384048"/>
          </a:xfrm>
          <a:prstGeom prst="ellipse">
            <a:avLst/>
          </a:prstGeom>
          <a:solidFill>
            <a:schemeClr val="accent1"/>
          </a:solidFill>
          <a:ln/>
        </p:spPr>
      </p:sp>
      <p:sp>
        <p:nvSpPr>
          <p:cNvPr id="37" name="Text 35"/>
          <p:cNvSpPr txBox="1"/>
          <p:nvPr/>
        </p:nvSpPr>
        <p:spPr>
          <a:xfrm>
            <a:off x="545576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548640"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خلاصة م. عمر خميس</a:t>
            </a:r>
            <a:endParaRPr lang="ar-EG"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مقدمة: المرجع التنفيذي للتصميم الداخلي</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«المعايير المصورة للتصميم الداخلي» (Interior Graphic Standards)، الطبعة الثانية 2010، تحرير كوركي بينجيلي، …</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بيحوّل الفكرة لـ</a:t>
            </a:r>
            <a:pPr rtl="1" algn="r" indent="0" marL="0">
              <a:buNone/>
            </a:pPr>
            <a:r>
              <a:rPr lang="ar-EG" altLang="en-US" sz="1400" b="1" dirty="0">
                <a:solidFill>
                  <a:srgbClr val="2B2620"/>
                </a:solidFill>
              </a:rPr>
              <a:t>مواصفة وتفصيلة ومقاس</a:t>
            </a:r>
            <a:pPr rtl="1" algn="r" indent="0" marL="0">
              <a:buNone/>
            </a:pPr>
            <a:r>
              <a:rPr lang="ar-EG" altLang="en-US" sz="1400" dirty="0">
                <a:solidFill>
                  <a:srgbClr val="2B2620"/>
                </a:solidFill>
              </a:rPr>
              <a:t>.</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بيساعدك تكتب </a:t>
            </a:r>
            <a:pPr rtl="1" algn="r" indent="0" marL="0">
              <a:buNone/>
            </a:pPr>
            <a:r>
              <a:rPr lang="ar-EG" altLang="en-US" sz="1400" b="1" dirty="0">
                <a:solidFill>
                  <a:srgbClr val="2B2620"/>
                </a:solidFill>
              </a:rPr>
              <a:t>بنود المقايسة</a:t>
            </a:r>
            <a:pPr rtl="1" algn="r" indent="0" marL="0">
              <a:buNone/>
            </a:pPr>
            <a:r>
              <a:rPr lang="ar-EG" altLang="en-US" sz="1400" dirty="0">
                <a:solidFill>
                  <a:srgbClr val="2B2620"/>
                </a:solidFill>
              </a:rPr>
              <a:t> ومواصفات المواد صح.</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بيقلل الأخطاء بين التصميم والتنفيذ.</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الملخص ده بصياغة م. عمر خميس، والأرقام فيه قيم شائعة في الممارسة. الكتاب مبني على المعايير الأمريكية (ADA وIBC وغيرهم)، فارجع للكود المحلي.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العوامل البشرية والإرجونوميكس</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dirty="0">
                <a:solidFill>
                  <a:srgbClr val="2B2620"/>
                </a:solidFill>
              </a:rPr>
              <a:t>دائرة لف الكرسي المتحرك </a:t>
            </a:r>
            <a:pPr rtl="1" algn="r" marL="342900" indent="-342900">
              <a:spcAft>
                <a:spcPts val="800"/>
              </a:spcAft>
              <a:buSzPct val="100000"/>
              <a:buChar char="•"/>
            </a:pPr>
            <a:r>
              <a:rPr lang="ar-EG" altLang="en-US" sz="1400" b="1" dirty="0">
                <a:solidFill>
                  <a:srgbClr val="2B2620"/>
                </a:solidFill>
              </a:rPr>
              <a:t>150 سم</a:t>
            </a:r>
            <a:pPr rtl="1" algn="r" marL="342900" indent="-342900">
              <a:spcAft>
                <a:spcPts val="800"/>
              </a:spcAft>
              <a:buSzPct val="100000"/>
              <a:buChar char="•"/>
            </a:pPr>
            <a:r>
              <a:rPr lang="ar-EG" altLang="en-US" sz="1400" dirty="0">
                <a:solidFill>
                  <a:srgbClr val="2B2620"/>
                </a:solidFill>
              </a:rPr>
              <a:t>.</a:t>
            </a:r>
            <a:endParaRPr lang="en-US" sz="1400" dirty="0"/>
          </a:p>
          <a:p>
            <a:pPr rtl="1" algn="r" marL="342900" indent="-342900">
              <a:spcAft>
                <a:spcPts val="800"/>
              </a:spcAft>
              <a:buSzPct val="100000"/>
              <a:buChar char="•"/>
            </a:pPr>
            <a:r>
              <a:rPr lang="ar-EG" altLang="en-US" sz="1400" dirty="0">
                <a:solidFill>
                  <a:srgbClr val="2B2620"/>
                </a:solidFill>
              </a:rPr>
              <a:t>عرض الباب الصافي </a:t>
            </a:r>
            <a:pPr rtl="1" algn="r" marL="342900" indent="-342900">
              <a:spcAft>
                <a:spcPts val="800"/>
              </a:spcAft>
              <a:buSzPct val="100000"/>
              <a:buChar char="•"/>
            </a:pPr>
            <a:r>
              <a:rPr lang="ar-EG" altLang="en-US" sz="1400" b="1" dirty="0">
                <a:solidFill>
                  <a:srgbClr val="2B2620"/>
                </a:solidFill>
              </a:rPr>
              <a:t>80–90 سم</a:t>
            </a:r>
            <a:pPr rtl="1" algn="r" marL="342900" indent="-342900">
              <a:spcAft>
                <a:spcPts val="800"/>
              </a:spcAft>
              <a:buSzPct val="100000"/>
              <a:buChar char="•"/>
            </a:pPr>
            <a:r>
              <a:rPr lang="ar-EG" altLang="en-US" sz="1400" dirty="0">
                <a:solidFill>
                  <a:srgbClr val="2B2620"/>
                </a:solidFill>
              </a:rPr>
              <a:t> على الأقل.</a:t>
            </a:r>
            <a:endParaRPr lang="en-US" sz="14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القيمة التقريبية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النشاط</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43–48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مقعد كرسي سفرة / مكتب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72–76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سطح مكتب / سفرة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85–92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سطح عمل واقف (مطبخ)</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105–110 سم مع كرسي 75–80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كاونتر بار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حوالي 170–180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أعلى رف مريح</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حوالي 115–120 سم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مستوى العين قاعد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القواطيع والجبس بورد</a:t>
            </a:r>
            <a:endParaRPr lang="ar-EG" sz="3000" dirty="0"/>
          </a:p>
        </p:txBody>
      </p:sp>
      <p:sp>
        <p:nvSpPr>
          <p:cNvPr id="3" name="figure-frame"/>
          <p:cNvSpPr/>
          <p:nvPr/>
        </p:nvSpPr>
        <p:spPr>
          <a:xfrm>
            <a:off x="457200" y="1325880"/>
            <a:ext cx="5669280" cy="2926080"/>
          </a:xfrm>
          <a:prstGeom prst="roundRect">
            <a:avLst>
              <a:gd name="adj" fmla="val 3125"/>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743200"/>
          </a:xfrm>
          <a:prstGeom prst="rect">
            <a:avLst/>
          </a:prstGeom>
        </p:spPr>
      </p:pic>
      <p:sp>
        <p:nvSpPr>
          <p:cNvPr id="5" name="Text 2"/>
          <p:cNvSpPr txBox="1"/>
          <p:nvPr/>
        </p:nvSpPr>
        <p:spPr>
          <a:xfrm>
            <a:off x="548640" y="429768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قطاع في قاطوع جبس بورد معزول</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مسارات</a:t>
            </a:r>
            <a:pPr rtl="1" algn="r" marL="342900" indent="-342900">
              <a:spcAft>
                <a:spcPts val="800"/>
              </a:spcAft>
              <a:buSzPct val="100000"/>
              <a:buChar char="•"/>
            </a:pPr>
            <a:r>
              <a:rPr lang="ar-EG" altLang="en-US" sz="1500" dirty="0">
                <a:solidFill>
                  <a:srgbClr val="2B2620"/>
                </a:solidFill>
              </a:rPr>
              <a:t> (Tracks) فوق وتحت، و</a:t>
            </a:r>
            <a:pPr rtl="1" algn="r" marL="342900" indent="-342900">
              <a:spcAft>
                <a:spcPts val="800"/>
              </a:spcAft>
              <a:buSzPct val="100000"/>
              <a:buChar char="•"/>
            </a:pPr>
            <a:r>
              <a:rPr lang="ar-EG" altLang="en-US" sz="1500" b="1" dirty="0">
                <a:solidFill>
                  <a:srgbClr val="2B2620"/>
                </a:solidFill>
              </a:rPr>
              <a:t>قوائم</a:t>
            </a:r>
            <a:pPr rtl="1" algn="r" marL="342900" indent="-342900">
              <a:spcAft>
                <a:spcPts val="800"/>
              </a:spcAft>
              <a:buSzPct val="100000"/>
              <a:buChar char="•"/>
            </a:pPr>
            <a:r>
              <a:rPr lang="ar-EG" altLang="en-US" sz="1500" dirty="0">
                <a:solidFill>
                  <a:srgbClr val="2B2620"/>
                </a:solidFill>
              </a:rPr>
              <a:t> (Studs) رأسية كل </a:t>
            </a:r>
            <a:pPr rtl="1" algn="r" marL="342900" indent="-342900">
              <a:spcAft>
                <a:spcPts val="800"/>
              </a:spcAft>
              <a:buSzPct val="100000"/>
              <a:buChar char="•"/>
            </a:pPr>
            <a:r>
              <a:rPr lang="ar-EG" altLang="en-US" sz="1500" b="1" dirty="0">
                <a:solidFill>
                  <a:srgbClr val="2B2620"/>
                </a:solidFill>
              </a:rPr>
              <a:t>40 أو 60 سم</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b="1" dirty="0">
                <a:solidFill>
                  <a:srgbClr val="2B2620"/>
                </a:solidFill>
              </a:rPr>
              <a:t>لوح جبس</a:t>
            </a:r>
            <a:pPr rtl="1" algn="r" marL="342900" indent="-342900">
              <a:spcAft>
                <a:spcPts val="800"/>
              </a:spcAft>
              <a:buSzPct val="100000"/>
              <a:buChar char="•"/>
            </a:pPr>
            <a:r>
              <a:rPr lang="ar-EG" altLang="en-US" sz="1500" dirty="0">
                <a:solidFill>
                  <a:srgbClr val="2B2620"/>
                </a:solidFill>
              </a:rPr>
              <a:t> 12.5 مم (عادي / مقاوم رطوبة أخضر / مقاوم حريق أحمر).</a:t>
            </a:r>
            <a:endParaRPr lang="en-US" sz="1500" dirty="0"/>
          </a:p>
          <a:p>
            <a:pPr rtl="1" algn="r" marL="342900" indent="-342900">
              <a:spcAft>
                <a:spcPts val="800"/>
              </a:spcAft>
              <a:buSzPct val="100000"/>
              <a:buChar char="•"/>
            </a:pPr>
            <a:r>
              <a:rPr lang="ar-EG" altLang="en-US" sz="1500" b="1" dirty="0">
                <a:solidFill>
                  <a:srgbClr val="2B2620"/>
                </a:solidFill>
              </a:rPr>
              <a:t>صوف صخري</a:t>
            </a:r>
            <a:pPr rtl="1" algn="r" marL="342900" indent="-342900">
              <a:spcAft>
                <a:spcPts val="800"/>
              </a:spcAft>
              <a:buSzPct val="100000"/>
              <a:buChar char="•"/>
            </a:pPr>
            <a:r>
              <a:rPr lang="ar-EG" altLang="en-US" sz="1500" dirty="0">
                <a:solidFill>
                  <a:srgbClr val="2B2620"/>
                </a:solidFill>
              </a:rPr>
              <a:t> جوه للعزل الصوتي والحريق.</a:t>
            </a:r>
            <a:endParaRPr lang="en-US" sz="1500" dirty="0"/>
          </a:p>
          <a:p>
            <a:pPr rtl="1" algn="r" marL="342900" indent="-342900">
              <a:spcAft>
                <a:spcPts val="800"/>
              </a:spcAft>
              <a:buSzPct val="100000"/>
              <a:buChar char="•"/>
            </a:pPr>
            <a:r>
              <a:rPr lang="ar-EG" altLang="en-US" sz="1500" b="1" dirty="0">
                <a:solidFill>
                  <a:srgbClr val="2B2620"/>
                </a:solidFill>
              </a:rPr>
              <a:t>وصلات الألواح</a:t>
            </a:r>
            <a:pPr rtl="1" algn="r" marL="342900" indent="-342900">
              <a:spcAft>
                <a:spcPts val="800"/>
              </a:spcAft>
              <a:buSzPct val="100000"/>
              <a:buChar char="•"/>
            </a:pPr>
            <a:r>
              <a:rPr lang="ar-EG" altLang="en-US" sz="1500" dirty="0">
                <a:solidFill>
                  <a:srgbClr val="2B2620"/>
                </a:solidFill>
              </a:rPr>
              <a:t> متبادلة بين الوشين ومش على نفس القائم.</a:t>
            </a:r>
            <a:endParaRPr lang="en-US" sz="1500" dirty="0"/>
          </a:p>
          <a:p>
            <a:pPr rtl="1" algn="r" marL="342900" indent="-342900">
              <a:spcAft>
                <a:spcPts val="800"/>
              </a:spcAft>
              <a:buSzPct val="100000"/>
              <a:buChar char="•"/>
            </a:pPr>
            <a:r>
              <a:rPr lang="ar-EG" altLang="en-US" sz="1500" b="1" dirty="0">
                <a:solidFill>
                  <a:srgbClr val="2B2620"/>
                </a:solidFill>
              </a:rPr>
              <a:t>تقوية</a:t>
            </a:r>
            <a:pPr rtl="1" algn="r" marL="342900" indent="-342900">
              <a:spcAft>
                <a:spcPts val="800"/>
              </a:spcAft>
              <a:buSzPct val="100000"/>
              <a:buChar char="•"/>
            </a:pPr>
            <a:r>
              <a:rPr lang="ar-EG" altLang="en-US" sz="1500" dirty="0">
                <a:solidFill>
                  <a:srgbClr val="2B2620"/>
                </a:solidFill>
              </a:rPr>
              <a:t> خشب أو معدن مكان الدواليب المعلقة والتلفزيونات والمغاسل.</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الأسقف المعلقة</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b="1" dirty="0">
                <a:solidFill>
                  <a:srgbClr val="2B2620"/>
                </a:solidFill>
              </a:rPr>
              <a:t>ارتفاع الفراغ</a:t>
            </a:r>
            <a:pPr rtl="1" algn="r" marL="342900" indent="-342900">
              <a:spcAft>
                <a:spcPts val="800"/>
              </a:spcAft>
              <a:buSzPct val="100000"/>
              <a:buChar char="•"/>
            </a:pPr>
            <a:r>
              <a:rPr lang="ar-EG" altLang="en-US" sz="1400" dirty="0">
                <a:solidFill>
                  <a:srgbClr val="2B2620"/>
                </a:solidFill>
              </a:rPr>
              <a:t> فوق السقف (Plenum) حسب التكييف: غالباً </a:t>
            </a:r>
            <a:pPr rtl="1" algn="r" marL="342900" indent="-342900">
              <a:spcAft>
                <a:spcPts val="800"/>
              </a:spcAft>
              <a:buSzPct val="100000"/>
              <a:buChar char="•"/>
            </a:pPr>
            <a:r>
              <a:rPr lang="ar-EG" altLang="en-US" sz="1400" b="1" dirty="0">
                <a:solidFill>
                  <a:srgbClr val="2B2620"/>
                </a:solidFill>
              </a:rPr>
              <a:t>15–60 سم</a:t>
            </a:r>
            <a:pPr rtl="1" algn="r" marL="342900" indent="-342900">
              <a:spcAft>
                <a:spcPts val="800"/>
              </a:spcAft>
              <a:buSzPct val="100000"/>
              <a:buChar char="•"/>
            </a:pPr>
            <a:r>
              <a:rPr lang="ar-EG" altLang="en-US" sz="1400" dirty="0">
                <a:solidFill>
                  <a:srgbClr val="2B2620"/>
                </a:solidFill>
              </a:rPr>
              <a:t>.</a:t>
            </a:r>
            <a:endParaRPr lang="en-US" sz="1400" dirty="0"/>
          </a:p>
          <a:p>
            <a:pPr rtl="1" algn="r" marL="342900" indent="-342900">
              <a:spcAft>
                <a:spcPts val="800"/>
              </a:spcAft>
              <a:buSzPct val="100000"/>
              <a:buChar char="•"/>
            </a:pPr>
            <a:r>
              <a:rPr lang="ar-EG" altLang="en-US" sz="1400" b="1" dirty="0">
                <a:solidFill>
                  <a:srgbClr val="2B2620"/>
                </a:solidFill>
              </a:rPr>
              <a:t>فتحات صيانة</a:t>
            </a:r>
            <a:pPr rtl="1" algn="r" marL="342900" indent="-342900">
              <a:spcAft>
                <a:spcPts val="800"/>
              </a:spcAft>
              <a:buSzPct val="100000"/>
              <a:buChar char="•"/>
            </a:pPr>
            <a:r>
              <a:rPr lang="ar-EG" altLang="en-US" sz="1400" dirty="0">
                <a:solidFill>
                  <a:srgbClr val="2B2620"/>
                </a:solidFill>
              </a:rPr>
              <a:t> عند المحابس والوحدات الداخلية للتكييف.</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الاستخدام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النوع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مكاتب، سهولة الصيانة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بلاطات على شبكة ظاهرة 60×60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سكني وفنادق، شكل نظيف</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جبس بورد سادة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ديكور وواجهات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شرائح ألومنيوم / خشب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أشكال وإضاءة خاصة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مشدود (Stretch)</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الأرضيات</a:t>
            </a:r>
            <a:endParaRPr lang="ar-EG" sz="3000" dirty="0"/>
          </a:p>
        </p:txBody>
      </p:sp>
      <p:sp>
        <p:nvSpPr>
          <p:cNvPr id="3" name="figure-frame"/>
          <p:cNvSpPr/>
          <p:nvPr/>
        </p:nvSpPr>
        <p:spPr>
          <a:xfrm>
            <a:off x="457200" y="1325880"/>
            <a:ext cx="5669280" cy="2142309"/>
          </a:xfrm>
          <a:prstGeom prst="roundRect">
            <a:avLst>
              <a:gd name="adj" fmla="val 4268"/>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1959429"/>
          </a:xfrm>
          <a:prstGeom prst="rect">
            <a:avLst/>
          </a:prstGeom>
        </p:spPr>
      </p:pic>
      <p:sp>
        <p:nvSpPr>
          <p:cNvPr id="5" name="Text 2"/>
          <p:cNvSpPr txBox="1"/>
          <p:nvPr/>
        </p:nvSpPr>
        <p:spPr>
          <a:xfrm>
            <a:off x="548640" y="3513909"/>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انتقال بين أرضيتين بشطف صغير</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فرق منسوب لحد </a:t>
            </a:r>
            <a:pPr rtl="1" algn="r" marL="342900" indent="-342900">
              <a:spcAft>
                <a:spcPts val="800"/>
              </a:spcAft>
              <a:buSzPct val="100000"/>
              <a:buChar char="•"/>
            </a:pPr>
            <a:r>
              <a:rPr lang="ar-EG" altLang="en-US" sz="1500" b="1" dirty="0">
                <a:solidFill>
                  <a:srgbClr val="2B2620"/>
                </a:solidFill>
              </a:rPr>
              <a:t>6 مم</a:t>
            </a:r>
            <a:pPr rtl="1" algn="r" marL="342900" indent="-342900">
              <a:spcAft>
                <a:spcPts val="800"/>
              </a:spcAft>
              <a:buSzPct val="100000"/>
              <a:buChar char="•"/>
            </a:pPr>
            <a:r>
              <a:rPr lang="ar-EG" altLang="en-US" sz="1500" dirty="0">
                <a:solidFill>
                  <a:srgbClr val="2B2620"/>
                </a:solidFill>
              </a:rPr>
              <a:t> مقبول بدون شطف.</a:t>
            </a:r>
            <a:endParaRPr lang="en-US" sz="1500" dirty="0"/>
          </a:p>
          <a:p>
            <a:pPr rtl="1" algn="r" marL="342900" indent="-342900">
              <a:spcAft>
                <a:spcPts val="800"/>
              </a:spcAft>
              <a:buSzPct val="100000"/>
              <a:buChar char="•"/>
            </a:pPr>
            <a:r>
              <a:rPr lang="ar-EG" altLang="en-US" sz="1500" dirty="0">
                <a:solidFill>
                  <a:srgbClr val="2B2620"/>
                </a:solidFill>
              </a:rPr>
              <a:t>من </a:t>
            </a:r>
            <a:pPr rtl="1" algn="r" marL="342900" indent="-342900">
              <a:spcAft>
                <a:spcPts val="800"/>
              </a:spcAft>
              <a:buSzPct val="100000"/>
              <a:buChar char="•"/>
            </a:pPr>
            <a:r>
              <a:rPr lang="ar-EG" altLang="en-US" sz="1500" b="1" dirty="0">
                <a:solidFill>
                  <a:srgbClr val="2B2620"/>
                </a:solidFill>
              </a:rPr>
              <a:t>6 لـ 13 مم</a:t>
            </a:r>
            <a:pPr rtl="1" algn="r" marL="342900" indent="-342900">
              <a:spcAft>
                <a:spcPts val="800"/>
              </a:spcAft>
              <a:buSzPct val="100000"/>
              <a:buChar char="•"/>
            </a:pPr>
            <a:r>
              <a:rPr lang="ar-EG" altLang="en-US" sz="1500" dirty="0">
                <a:solidFill>
                  <a:srgbClr val="2B2620"/>
                </a:solidFill>
              </a:rPr>
              <a:t> شطف بميل لا يزيد عن </a:t>
            </a:r>
            <a:pPr rtl="1" algn="r" marL="342900" indent="-342900">
              <a:spcAft>
                <a:spcPts val="800"/>
              </a:spcAft>
              <a:buSzPct val="100000"/>
              <a:buChar char="•"/>
            </a:pPr>
            <a:r>
              <a:rPr lang="ar-EG" altLang="en-US" sz="1500" b="1" dirty="0">
                <a:solidFill>
                  <a:srgbClr val="2B2620"/>
                </a:solidFill>
              </a:rPr>
              <a:t>1:2</a:t>
            </a:r>
            <a:pPr rtl="1" algn="r" marL="342900" indent="-342900">
              <a:spcAft>
                <a:spcPts val="800"/>
              </a:spcAft>
              <a:buSzPct val="100000"/>
              <a:buChar char="•"/>
            </a:pPr>
            <a:r>
              <a:rPr lang="ar-EG" altLang="en-US" sz="1500" dirty="0">
                <a:solidFill>
                  <a:srgbClr val="2B2620"/>
                </a:solidFill>
              </a:rPr>
              <a:t>.</a:t>
            </a:r>
            <a:endParaRPr lang="en-US" sz="1500" dirty="0"/>
          </a:p>
          <a:p>
            <a:pPr rtl="1" algn="r" marL="342900" indent="-342900">
              <a:spcAft>
                <a:spcPts val="800"/>
              </a:spcAft>
              <a:buSzPct val="100000"/>
              <a:buChar char="•"/>
            </a:pPr>
            <a:r>
              <a:rPr lang="ar-EG" altLang="en-US" sz="1500" dirty="0">
                <a:solidFill>
                  <a:srgbClr val="2B2620"/>
                </a:solidFill>
              </a:rPr>
              <a:t>أكتر من كده يتعامل كمنحدر.</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التشطيبات ومواصفاتها</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مطفي</a:t>
            </a:r>
            <a:pPr rtl="1" algn="r" indent="0" marL="0">
              <a:buNone/>
            </a:pPr>
            <a:r>
              <a:rPr lang="ar-EG" altLang="en-US" sz="1400" dirty="0">
                <a:solidFill>
                  <a:srgbClr val="2B2620"/>
                </a:solidFill>
              </a:rPr>
              <a:t> للأسقف والغرف، </a:t>
            </a:r>
            <a:pPr rtl="1" algn="r" indent="0" marL="0">
              <a:buNone/>
            </a:pPr>
            <a:r>
              <a:rPr lang="ar-EG" altLang="en-US" sz="1400" b="1" dirty="0">
                <a:solidFill>
                  <a:srgbClr val="2B2620"/>
                </a:solidFill>
              </a:rPr>
              <a:t>نصف لامع</a:t>
            </a:r>
            <a:pPr rtl="1" algn="r" indent="0" marL="0">
              <a:buNone/>
            </a:pPr>
            <a:r>
              <a:rPr lang="ar-EG" altLang="en-US" sz="1400" dirty="0">
                <a:solidFill>
                  <a:srgbClr val="2B2620"/>
                </a:solidFill>
              </a:rPr>
              <a:t> للمطابخ والحمامات والطرقات (سهل المسح).</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مقاومة الغسيل وقابلية التنظيف من خواص المنتج اللي تتكتب في المواصفة.</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الجدار لازم يكون </a:t>
            </a:r>
            <a:pPr rtl="1" algn="r" indent="0" marL="0">
              <a:buNone/>
            </a:pPr>
            <a:r>
              <a:rPr lang="ar-EG" altLang="en-US" sz="1400" b="1" dirty="0">
                <a:solidFill>
                  <a:srgbClr val="2B2620"/>
                </a:solidFill>
              </a:rPr>
              <a:t>ناشف ومستوي</a:t>
            </a:r>
            <a:pPr rtl="1" algn="r" indent="0" marL="0">
              <a:buNone/>
            </a:pPr>
            <a:r>
              <a:rPr lang="ar-EG" altLang="en-US" sz="1400" dirty="0">
                <a:solidFill>
                  <a:srgbClr val="2B2620"/>
                </a:solidFill>
              </a:rPr>
              <a:t> وبطانة قبل ورق الحائط.</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تجاليد الخشب والشرائح على </a:t>
            </a:r>
            <a:pPr rtl="1" algn="r" indent="0" marL="0">
              <a:buNone/>
            </a:pPr>
            <a:r>
              <a:rPr lang="ar-EG" altLang="en-US" sz="1400" b="1" dirty="0">
                <a:solidFill>
                  <a:srgbClr val="2B2620"/>
                </a:solidFill>
              </a:rPr>
              <a:t>شاسيه</a:t>
            </a:r>
            <a:pPr rtl="1" algn="r" indent="0" marL="0">
              <a:buNone/>
            </a:pPr>
            <a:r>
              <a:rPr lang="ar-EG" altLang="en-US" sz="1400" dirty="0">
                <a:solidFill>
                  <a:srgbClr val="2B2620"/>
                </a:solidFill>
              </a:rPr>
              <a:t> مع فراغ تهوية.</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التشطيبات في الممرات ومسارات الهروب لازم تكون من </a:t>
            </a:r>
            <a:pPr rtl="1" algn="r" indent="0" marL="0">
              <a:buNone/>
            </a:pPr>
            <a:r>
              <a:rPr lang="ar-EG" altLang="en-US" sz="1400" b="1" dirty="0">
                <a:solidFill>
                  <a:srgbClr val="2B2620"/>
                </a:solidFill>
              </a:rPr>
              <a:t>فئة انتشار لهب منخفضة</a:t>
            </a:r>
            <a:pPr rtl="1" algn="r" indent="0" marL="0">
              <a:buNone/>
            </a:pPr>
            <a:r>
              <a:rPr lang="ar-EG" altLang="en-US" sz="1400" dirty="0">
                <a:solidFill>
                  <a:srgbClr val="2B2620"/>
                </a:solidFill>
              </a:rPr>
              <a:t> حسب الكود.</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مصر: الكود المصري لأسس تصميم واشتراطات تنفيذ حماية المنشآت من الحريق. السعودية: SBC 801. راجع النص الرسمي.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الأعمال الخشبية والدواليب (Millwork &amp; Casework)</a:t>
            </a:r>
            <a:endParaRPr lang="ar-EG" sz="3000" dirty="0"/>
          </a:p>
        </p:txBody>
      </p:sp>
      <p:sp>
        <p:nvSpPr>
          <p:cNvPr id="3" name="figure-frame"/>
          <p:cNvSpPr/>
          <p:nvPr/>
        </p:nvSpPr>
        <p:spPr>
          <a:xfrm>
            <a:off x="457200" y="1325880"/>
            <a:ext cx="5669280" cy="3014570"/>
          </a:xfrm>
          <a:prstGeom prst="roundRect">
            <a:avLst>
              <a:gd name="adj" fmla="val 3033"/>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831690"/>
          </a:xfrm>
          <a:prstGeom prst="rect">
            <a:avLst/>
          </a:prstGeom>
        </p:spPr>
      </p:pic>
      <p:sp>
        <p:nvSpPr>
          <p:cNvPr id="5" name="Text 2"/>
          <p:cNvSpPr txBox="1"/>
          <p:nvPr/>
        </p:nvSpPr>
        <p:spPr>
          <a:xfrm>
            <a:off x="548640" y="438617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قطاع في مطبخ: الوحدة السفلية والعلوية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MDF</a:t>
            </a:r>
            <a:pPr rtl="1" algn="r" marL="342900" indent="-342900">
              <a:spcAft>
                <a:spcPts val="800"/>
              </a:spcAft>
              <a:buSzPct val="100000"/>
              <a:buChar char="•"/>
            </a:pPr>
            <a:r>
              <a:rPr lang="ar-EG" altLang="en-US" sz="1500" dirty="0">
                <a:solidFill>
                  <a:srgbClr val="2B2620"/>
                </a:solidFill>
              </a:rPr>
              <a:t> (سطح ناعم للدهان والأكريليك)، </a:t>
            </a:r>
            <a:pPr rtl="1" algn="r" marL="342900" indent="-342900">
              <a:spcAft>
                <a:spcPts val="800"/>
              </a:spcAft>
              <a:buSzPct val="100000"/>
              <a:buChar char="•"/>
            </a:pPr>
            <a:r>
              <a:rPr lang="ar-EG" altLang="en-US" sz="1500" b="1" dirty="0">
                <a:solidFill>
                  <a:srgbClr val="2B2620"/>
                </a:solidFill>
              </a:rPr>
              <a:t>خشب حبيبي/ميلامين</a:t>
            </a:r>
            <a:pPr rtl="1" algn="r" marL="342900" indent="-342900">
              <a:spcAft>
                <a:spcPts val="800"/>
              </a:spcAft>
              <a:buSzPct val="100000"/>
              <a:buChar char="•"/>
            </a:pPr>
            <a:r>
              <a:rPr lang="ar-EG" altLang="en-US" sz="1500" dirty="0">
                <a:solidFill>
                  <a:srgbClr val="2B2620"/>
                </a:solidFill>
              </a:rPr>
              <a:t> (اقتصادي)، </a:t>
            </a:r>
            <a:pPr rtl="1" algn="r" marL="342900" indent="-342900">
              <a:spcAft>
                <a:spcPts val="800"/>
              </a:spcAft>
              <a:buSzPct val="100000"/>
              <a:buChar char="•"/>
            </a:pPr>
            <a:r>
              <a:rPr lang="ar-EG" altLang="en-US" sz="1500" b="1" dirty="0">
                <a:solidFill>
                  <a:srgbClr val="2B2620"/>
                </a:solidFill>
              </a:rPr>
              <a:t>أبلكاش</a:t>
            </a:r>
            <a:pPr rtl="1" algn="r" marL="342900" indent="-342900">
              <a:spcAft>
                <a:spcPts val="800"/>
              </a:spcAft>
              <a:buSzPct val="100000"/>
              <a:buChar char="•"/>
            </a:pPr>
            <a:r>
              <a:rPr lang="ar-EG" altLang="en-US" sz="1500" dirty="0">
                <a:solidFill>
                  <a:srgbClr val="2B2620"/>
                </a:solidFill>
              </a:rPr>
              <a:t> (قوي ومقاوم رطوبة أكتر)، </a:t>
            </a:r>
            <a:pPr rtl="1" algn="r" marL="342900" indent="-342900">
              <a:spcAft>
                <a:spcPts val="800"/>
              </a:spcAft>
              <a:buSzPct val="100000"/>
              <a:buChar char="•"/>
            </a:pPr>
            <a:r>
              <a:rPr lang="ar-EG" altLang="en-US" sz="1500" b="1" dirty="0">
                <a:solidFill>
                  <a:srgbClr val="2B2620"/>
                </a:solidFill>
              </a:rPr>
              <a:t>HPL</a:t>
            </a:r>
            <a:pPr rtl="1" algn="r" marL="342900" indent="-342900">
              <a:spcAft>
                <a:spcPts val="800"/>
              </a:spcAft>
              <a:buSzPct val="100000"/>
              <a:buChar char="•"/>
            </a:pPr>
            <a:r>
              <a:rPr lang="ar-EG" altLang="en-US" sz="1500" dirty="0">
                <a:solidFill>
                  <a:srgbClr val="2B2620"/>
                </a:solidFill>
              </a:rPr>
              <a:t> (سطح قوي).</a:t>
            </a:r>
            <a:endParaRPr lang="en-US" sz="1500" dirty="0"/>
          </a:p>
          <a:p>
            <a:pPr rtl="1" algn="r" marL="342900" indent="-342900">
              <a:spcAft>
                <a:spcPts val="800"/>
              </a:spcAft>
              <a:buSzPct val="100000"/>
              <a:buChar char="•"/>
            </a:pPr>
            <a:r>
              <a:rPr lang="ar-EG" altLang="en-US" sz="1500" b="1" dirty="0">
                <a:solidFill>
                  <a:srgbClr val="2B2620"/>
                </a:solidFill>
              </a:rPr>
              <a:t>حافة (Edge banding)</a:t>
            </a:r>
            <a:pPr rtl="1" algn="r" marL="342900" indent="-342900">
              <a:spcAft>
                <a:spcPts val="800"/>
              </a:spcAft>
              <a:buSzPct val="100000"/>
              <a:buChar char="•"/>
            </a:pPr>
            <a:r>
              <a:rPr lang="ar-EG" altLang="en-US" sz="1500" dirty="0">
                <a:solidFill>
                  <a:srgbClr val="2B2620"/>
                </a:solidFill>
              </a:rPr>
              <a:t> على كل الحواف الظاهرة.</a:t>
            </a:r>
            <a:endParaRPr lang="en-US" sz="1500" dirty="0"/>
          </a:p>
          <a:p>
            <a:pPr rtl="1" algn="r" marL="342900" indent="-342900">
              <a:spcAft>
                <a:spcPts val="800"/>
              </a:spcAft>
              <a:buSzPct val="100000"/>
              <a:buChar char="•"/>
            </a:pPr>
            <a:r>
              <a:rPr lang="ar-EG" altLang="en-US" sz="1500" dirty="0">
                <a:solidFill>
                  <a:srgbClr val="2B2620"/>
                </a:solidFill>
              </a:rPr>
              <a:t>المفصلات والمجاري (Soft close / Tandem) تتحدد في المواصفة بالحِمل وعدد الفتحات.</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الأثاث</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مسافات المرور</a:t>
            </a:r>
            <a:pPr rtl="1" algn="r" indent="0" marL="0">
              <a:buNone/>
            </a:pPr>
            <a:r>
              <a:rPr lang="ar-EG" altLang="en-US" sz="1400" dirty="0">
                <a:solidFill>
                  <a:srgbClr val="2B2620"/>
                </a:solidFill>
              </a:rPr>
              <a:t>: 75–90 سم حوالين الأثاث في السكني، أكتر في التجاري.</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السفرة</a:t>
            </a:r>
            <a:pPr rtl="1" algn="r" indent="0" marL="0">
              <a:buNone/>
            </a:pPr>
            <a:r>
              <a:rPr lang="ar-EG" altLang="en-US" sz="1400" dirty="0">
                <a:solidFill>
                  <a:srgbClr val="2B2620"/>
                </a:solidFill>
              </a:rPr>
              <a:t>: 60 سم لكل فرد، و90–120 سم ورا الكراسي.</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المعيشة</a:t>
            </a:r>
            <a:pPr rtl="1" algn="r" indent="0" marL="0">
              <a:buNone/>
            </a:pPr>
            <a:r>
              <a:rPr lang="ar-EG" altLang="en-US" sz="1400" dirty="0">
                <a:solidFill>
                  <a:srgbClr val="2B2620"/>
                </a:solidFill>
              </a:rPr>
              <a:t>: ترابيزة الوسط 40–45 سم من الكنبة، والكنب متقابل بمسافة حوالي 2.4–3.0 م للكلام المريح.</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المكاتب</a:t>
            </a:r>
            <a:pPr rtl="1" algn="r" indent="0" marL="0">
              <a:buNone/>
            </a:pPr>
            <a:r>
              <a:rPr lang="ar-EG" altLang="en-US" sz="1400" dirty="0">
                <a:solidFill>
                  <a:srgbClr val="2B2620"/>
                </a:solidFill>
              </a:rPr>
              <a:t>: مكتب 72–75 سم، ومسافة 80–100 سم ورا الكرسي.</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الإضاءة</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b="1" dirty="0">
                <a:solidFill>
                  <a:srgbClr val="2B2620"/>
                </a:solidFill>
              </a:rPr>
              <a:t>عامة</a:t>
            </a:r>
            <a:pPr rtl="1" algn="r" marL="342900" indent="-342900">
              <a:spcAft>
                <a:spcPts val="800"/>
              </a:spcAft>
              <a:buSzPct val="100000"/>
              <a:buChar char="•"/>
            </a:pPr>
            <a:r>
              <a:rPr lang="ar-EG" altLang="en-US" sz="1400" dirty="0">
                <a:solidFill>
                  <a:srgbClr val="2B2620"/>
                </a:solidFill>
              </a:rPr>
              <a:t> (Ambient): السقف والسبوتات.</a:t>
            </a:r>
            <a:endParaRPr lang="en-US" sz="1400" dirty="0"/>
          </a:p>
          <a:p>
            <a:pPr rtl="1" algn="r" marL="342900" indent="-342900">
              <a:spcAft>
                <a:spcPts val="800"/>
              </a:spcAft>
              <a:buSzPct val="100000"/>
              <a:buChar char="•"/>
            </a:pPr>
            <a:r>
              <a:rPr lang="ar-EG" altLang="en-US" sz="1400" b="1" dirty="0">
                <a:solidFill>
                  <a:srgbClr val="2B2620"/>
                </a:solidFill>
              </a:rPr>
              <a:t>مهام</a:t>
            </a:r>
            <a:pPr rtl="1" algn="r" marL="342900" indent="-342900">
              <a:spcAft>
                <a:spcPts val="800"/>
              </a:spcAft>
              <a:buSzPct val="100000"/>
              <a:buChar char="•"/>
            </a:pPr>
            <a:r>
              <a:rPr lang="ar-EG" altLang="en-US" sz="1400" dirty="0">
                <a:solidFill>
                  <a:srgbClr val="2B2620"/>
                </a:solidFill>
              </a:rPr>
              <a:t> (Task): تحت العلوي في المطبخ، أباجورة المكتب.</a:t>
            </a:r>
            <a:endParaRPr lang="en-US" sz="1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rtl="1" algn="r" indent="0" marL="0">
                        <a:buNone/>
                      </a:pPr>
                      <a:r>
                        <a:rPr lang="ar-EG" altLang="en-US" sz="1300" b="1" dirty="0">
                          <a:solidFill>
                            <a:srgbClr val="FFFFFF"/>
                          </a:solidFill>
                        </a:rPr>
                        <a:t>درجة اللون</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شدة الإضاءة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الفراغ</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2700–3000K</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150–300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معيشة ونوم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3000–4000K</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300–500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مطبخ (سطح العمل)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3000–4000K</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300 لوكس على الوش</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حمام (المرايا)</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4000K</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500 لوكس</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مكتب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حسب المنتج</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750–1500 لوكس على المعروض</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محلات (عرض)</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الصوتيات</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العزل</a:t>
            </a:r>
            <a:pPr rtl="1" algn="r" indent="0" marL="0">
              <a:buNone/>
            </a:pPr>
            <a:r>
              <a:rPr lang="ar-EG" altLang="en-US" sz="1400" dirty="0">
                <a:solidFill>
                  <a:srgbClr val="2B2620"/>
                </a:solidFill>
              </a:rPr>
              <a:t> (منع انتقال الصوت) يعتمد على الكتلة والفصل والإحكام.</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الامتصاص</a:t>
            </a:r>
            <a:pPr rtl="1" algn="r" indent="0" marL="0">
              <a:buNone/>
            </a:pPr>
            <a:r>
              <a:rPr lang="ar-EG" altLang="en-US" sz="1400" dirty="0">
                <a:solidFill>
                  <a:srgbClr val="2B2620"/>
                </a:solidFill>
              </a:rPr>
              <a:t> (تقليل الصدى) يعتمد على المواد المسامية: موكيت، ستائر، ألواح أكوستيك.</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بين الشقق: عزل صوتي محمول على الهوا حوالي </a:t>
            </a:r>
            <a:pPr rtl="1" algn="r" indent="0" marL="0">
              <a:buNone/>
            </a:pPr>
            <a:r>
              <a:rPr lang="ar-EG" altLang="en-US" sz="1400" b="1" dirty="0">
                <a:solidFill>
                  <a:srgbClr val="2B2620"/>
                </a:solidFill>
              </a:rPr>
              <a:t>STC 50</a:t>
            </a:r>
            <a:pPr rtl="1" algn="r" indent="0" marL="0">
              <a:buNone/>
            </a:pPr>
            <a:r>
              <a:rPr lang="ar-EG" altLang="en-US" sz="1400" dirty="0">
                <a:solidFill>
                  <a:srgbClr val="2B2620"/>
                </a:solidFill>
              </a:rPr>
              <a:t> أو أكتر.</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فتحات الكهرباء</a:t>
            </a:r>
            <a:pPr rtl="1" algn="r" indent="0" marL="0">
              <a:buNone/>
            </a:pPr>
            <a:r>
              <a:rPr lang="ar-EG" altLang="en-US" sz="1400" dirty="0">
                <a:solidFill>
                  <a:srgbClr val="2B2620"/>
                </a:solidFill>
              </a:rPr>
              <a:t> المتقابلة في القاطوع لازم تتباعد عشان الصوت مايعديش.</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تصميم الداخل لأنواع المباني</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فصل العام عن الخاص، تخزين كفاية، إضاءة طبيعية.</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مرونة القواطيع، الأرضيات المرفوعة أحياناً، الصوتيات في المكتب المفتوح.</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متانة التشطيبات، مقاومة الحريق، الصيانة السهلة.</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مسارات الحركة، الإضاءة على المنتج، المرونة لتغيير العرض.</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أسطح سهلة التعقيم، زوايا مدورة، أرضيات بدون فواصل.</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خلاصة م. عمر خميس</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كل قرار تصميم داخلي لازم يتحول لـ</a:t>
            </a:r>
            <a:pPr rtl="1" algn="r" indent="0" marL="0">
              <a:buNone/>
            </a:pPr>
            <a:r>
              <a:rPr lang="ar-EG" altLang="en-US" sz="1400" b="1" dirty="0">
                <a:solidFill>
                  <a:srgbClr val="2B2620"/>
                </a:solidFill>
              </a:rPr>
              <a:t>مواصفة + تفصيلة + مقاس</a:t>
            </a:r>
            <a:pPr rtl="1" algn="r" indent="0" marL="0">
              <a:buNone/>
            </a:pPr>
            <a:r>
              <a:rPr lang="ar-EG" altLang="en-US" sz="1400" dirty="0">
                <a:solidFill>
                  <a:srgbClr val="2B2620"/>
                </a:solidFill>
              </a:rPr>
              <a:t>.</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اعمل </a:t>
            </a:r>
            <a:pPr rtl="1" algn="r" indent="0" marL="0">
              <a:buNone/>
            </a:pPr>
            <a:r>
              <a:rPr lang="ar-EG" altLang="en-US" sz="1400" b="1" dirty="0">
                <a:solidFill>
                  <a:srgbClr val="2B2620"/>
                </a:solidFill>
              </a:rPr>
              <a:t>تقويات</a:t>
            </a:r>
            <a:pPr rtl="1" algn="r" indent="0" marL="0">
              <a:buNone/>
            </a:pPr>
            <a:r>
              <a:rPr lang="ar-EG" altLang="en-US" sz="1400" dirty="0">
                <a:solidFill>
                  <a:srgbClr val="2B2620"/>
                </a:solidFill>
              </a:rPr>
              <a:t> جوه القواطيع قبل الإقفال.</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الأسقف المعلقة محتاجة </a:t>
            </a:r>
            <a:pPr rtl="1" algn="r" indent="0" marL="0">
              <a:buNone/>
            </a:pPr>
            <a:r>
              <a:rPr lang="ar-EG" altLang="en-US" sz="1400" b="1" dirty="0">
                <a:solidFill>
                  <a:srgbClr val="2B2620"/>
                </a:solidFill>
              </a:rPr>
              <a:t>تنسيق</a:t>
            </a:r>
            <a:pPr rtl="1" algn="r" indent="0" marL="0">
              <a:buNone/>
            </a:pPr>
            <a:r>
              <a:rPr lang="ar-EG" altLang="en-US" sz="1400" dirty="0">
                <a:solidFill>
                  <a:srgbClr val="2B2620"/>
                </a:solidFill>
              </a:rPr>
              <a:t> مع التكييف والإضاءة والحريق.</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التشطيبات في مسارات الهروب لازم تطابق </a:t>
            </a:r>
            <a:pPr rtl="1" algn="r" indent="0" marL="0">
              <a:buNone/>
            </a:pPr>
            <a:r>
              <a:rPr lang="ar-EG" altLang="en-US" sz="1400" b="1" dirty="0">
                <a:solidFill>
                  <a:srgbClr val="2B2620"/>
                </a:solidFill>
              </a:rPr>
              <a:t>كود الحريق</a:t>
            </a:r>
            <a:pPr rtl="1" algn="r" indent="0" marL="0">
              <a:buNone/>
            </a:pPr>
            <a:r>
              <a:rPr lang="ar-EG" altLang="en-US" sz="1400" dirty="0">
                <a:solidFill>
                  <a:srgbClr val="2B2620"/>
                </a:solidFill>
              </a:rPr>
              <a:t>.</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الإضاءة </a:t>
            </a:r>
            <a:pPr rtl="1" algn="r" indent="0" marL="0">
              <a:buNone/>
            </a:pPr>
            <a:r>
              <a:rPr lang="ar-EG" altLang="en-US" sz="1400" b="1" dirty="0">
                <a:solidFill>
                  <a:srgbClr val="2B2620"/>
                </a:solidFill>
              </a:rPr>
              <a:t>طبقات</a:t>
            </a:r>
            <a:pPr rtl="1" algn="r" indent="0" marL="0">
              <a:buNone/>
            </a:pPr>
            <a:r>
              <a:rPr lang="ar-EG" altLang="en-US" sz="1400" dirty="0">
                <a:solidFill>
                  <a:srgbClr val="2B2620"/>
                </a:solidFill>
              </a:rPr>
              <a:t>، والصوتيات </a:t>
            </a:r>
            <a:pPr rtl="1" algn="r" indent="0" marL="0">
              <a:buNone/>
            </a:pPr>
            <a:r>
              <a:rPr lang="ar-EG" altLang="en-US" sz="1400" b="1" dirty="0">
                <a:solidFill>
                  <a:srgbClr val="2B2620"/>
                </a:solidFill>
              </a:rPr>
              <a:t>عزل + امتصاص</a:t>
            </a:r>
            <a:pPr rtl="1" algn="r" indent="0" marL="0">
              <a:buNone/>
            </a:pPr>
            <a:r>
              <a:rPr lang="ar-EG" altLang="en-US" sz="1400" dirty="0">
                <a:solidFill>
                  <a:srgbClr val="2B2620"/>
                </a:solidFill>
              </a:rPr>
              <a:t>.</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مختصر وتلخيص م. عمر خميس — مكتبة م. عمر خميس للاسكتش اب.</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شكراً</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+20 100 543 3170</a:t>
            </a:r>
            <a:endParaRPr lang="ar-EG" sz="1800" dirty="0"/>
          </a:p>
        </p:txBody>
      </p:sp>
      <p:sp>
        <p:nvSpPr>
          <p:cNvPr id="4" name="Text 2"/>
          <p:cNvSpPr txBox="1"/>
          <p:nvPr/>
        </p:nvSpPr>
        <p:spPr>
          <a:xfrm>
            <a:off x="914400" y="5577840"/>
            <a:ext cx="10362895" cy="548640"/>
          </a:xfrm>
          <a:prstGeom prst="rect">
            <a:avLst/>
          </a:prstGeom>
          <a:noFill/>
          <a:ln/>
        </p:spPr>
        <p:txBody>
          <a:bodyPr wrap="square" rtlCol="0" anchor="ctr"/>
          <a:lstStyle/>
          <a:p>
            <a:pPr rtl="1" algn="ctr" indent="0" marL="0">
              <a:buNone/>
            </a:pPr>
            <a:r>
              <a:rPr lang="ar-EG" altLang="en-US" sz="1400" dirty="0">
                <a:solidFill>
                  <a:srgbClr val="E3C278"/>
                </a:solidFill>
              </a:rPr>
              <a:t>لا تنسوا صاحب المكتبة من الدعاء — عمر بن جمال خميس، غفر الله له ولوالديه</a:t>
            </a:r>
            <a:endParaRPr lang="ar-EG"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7A3E65"/>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ملخص: المعايير المصورة للتصميم الداخلي</dc:title>
  <dc:subject>PptxGenJS Presentation</dc:subject>
  <dc:creator>Eng. Omar Khamis</dc:creator>
  <cp:lastModifiedBy>Eng. Omar Khamis</cp:lastModifiedBy>
  <cp:revision>1</cp:revision>
  <dcterms:created xsi:type="dcterms:W3CDTF">2026-10-15T12:37:10Z</dcterms:created>
  <dcterms:modified xsi:type="dcterms:W3CDTF">2026-10-15T12:37:10Z</dcterms:modified>
</cp:coreProperties>
</file>