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f3fac95-a349-1ebf-75ea-7156f92e90ca}">
          <p14:sldIdLst>
            <p14:sldId id="256"/>
          </p14:sldIdLst>
        </p14:section>
        <p14:section name="Contents" id="{550c91e7-58ff-ddf8-3291-bb47485f3490}">
          <p14:sldIdLst>
            <p14:sldId id="257"/>
          </p14:sldIdLst>
        </p14:section>
        <p14:section name="Summary" id="{4b15b441-6cc1-1a07-9af2-f44be438c20b}">
          <p14:sldIdLst>
            <p14:sldId id="258"/>
            <p14:sldId id="259"/>
            <p14:sldId id="260"/>
            <p14:sldId id="261"/>
            <p14:sldId id="262"/>
            <p14:sldId id="263"/>
            <p14:sldId id="264"/>
            <p14:sldId id="265"/>
            <p14:sldId id="266"/>
            <p14:sldId id="267"/>
            <p14:sldId id="268"/>
            <p14:sldId id="269"/>
            <p14:sldId id="270"/>
          </p14:sldIdLst>
        </p14:section>
        <p14:section name="Closing" id="{ff0f61b3-6a3e-ebc9-ca38-51bf2546c075}">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for the Poor: An Experiment in Rural Egypt, by the Egyptian architect Hassan Fathy (1900–1989). First published in Cairo in 1969 as "Gourna: A Tale of Two Villages", then in English by the University of Chicago Press in 1973. It tells the story of building New Gourna village west of Luxor between 1946 and 1952.
Why the book matters
One of the first Arab architecture books to reach the whole world and be translated into many languages.
It asks a question still open today: how do we build good homes people can afford?
An intellectual foundation for sustainable, climate-responsive architecture in the Arab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1940s millions of Egyptian farmers lived in poor, decaying houses.
"Modern" materials (cement, steel, imported timber) were too expensive for them.
The usual government answer: standard concrete buildings — costly and unsuited to the climate and way of life.
Fathy saw the answer in local materials, traditional craft and people's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people of Old Gourna lived on top of the ancient Theban tombs, and the government decided to move them to a new village.
Fathy was commissioned to design the new village in mud brick.
A large part was built: the market, mosque, khan, theatre, a school and a number of houses.
The project was never completed: administrative and funding problems, and some villagers refused to leave their old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Ingredients and making
Mud + straw + water, mixed and left to mature, shaped in timber moulds and dried in the sun.
No firing = almost no energy and low cost.
Advantages
Weaknesses and protection
Water is the enemy: a stone or fired-brick base, roof overhangs, lime render renewed regularly.
Lower compressive strength than fired brick — suited to low buildings (one or two storeys).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Nubian masons near Aswan built vaults without timber centring: bricks are laid in leaning courses against an end wall, each course holding the one before.
This solved the problem of expensive timber in Egypt (it was imported).
The curved shape (close to a parabola) keeps the load in compression only, where mud brick is strong.
A dome over a square room sits on pendentives in the corners.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house is grouped around a courtyard open to the sky.
The courtyard stores cool night air and releases it to the rooms in the morning.
It gives shade and privacy to the family, and space for children and plants.
Proportion matters: a narrow, tall courtyard = more shade.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malqaf is a roof tower open to the prevailing wind (north-west in Egypt).
It catches cleaner air from above (cleaner and cooler than street air) and brings it down into rooms.
Wet pottery or charcoal placed in it cools the air by evaporation.
With the shukhshaykha (a roof lantern letting hot air out) it completes a ventilation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Turned timber lattice with small openings over windows.
Breaks direct sun and reduces glare.
Privacy: those inside can see out, not the other way round.
Lets air through; water jars were once placed behind it for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Fathy believed people should take part in building their homes: learn the craft and work with their hands.
The architect's role is to understand each family's needs (size, work, animals, customs) and design for them.
Every house in Gourna was different for its family — against the idea of a repeated standard unit.
Training: passing the Nubian masons' craft on to the villagers.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earth and building without centring greatly reduced cost compared with concrete.
Labour from the villagers themselves = money stays in the village.
For Fathy, the true cost of a house is not only materials — it includes thermal comfort, building life and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project did not fully succeed
Bureaucracy and changing officials.
Villagers were attached to their old place and livelihood.
Some saw mud brick as "poor people's architecture" and wanted "modern" concrete.
Lessons for today
Design for climate first: orientation, shade, natural ventilation, thermal mass.
Local, low-energy materials where appropriate.
The user is a partner in design.
Traditional crafts can be developed rather than discarded.
Low cost does not mean poor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received the Right Livelihood Award ("Alternative Nobel") and an Aga Khan award for architecture.
New Gourna today receives international attention for heritage conservation.
His ideas influenced architects in Egypt, Saudi Arabia and worldwide, and the modern earth-architecture movement.
Projects such as New Baris village in the Kharga oasis and Dar al-Islam in New Mexico continue his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architecture is not about expense — it is about understanding.
The hot climate of Egypt and Saudi Arabia calls for thick walls, courtyards, wind catchers, mashrabiyas and few west openings.
Every housing project must weigh the social factor, not just the structural one.
Traditional craft is a treasure — develop it with modern techniques.
Read the original book — it holds a spirit no summary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000" b="1" dirty="0">
                <a:solidFill>
                  <a:srgbClr val="2B2620"/>
                </a:solidFill>
              </a:defRPr>
            </a:lvl1pPr>
          </a:lstStyle>
          <a:p>
            <a:pPr algn="l" indent="0" marL="0">
              <a:buNone/>
            </a:pPr>
            <a:endParaRPr lang="en-US" sz="3000" dirty="0"/>
          </a:p>
        </p:txBody>
      </p:sp>
      <p:sp>
        <p:nvSpPr>
          <p:cNvPr id="3" name="Text 0"/>
          <p:cNvSpPr/>
          <p:nvPr/>
        </p:nvSpPr>
        <p:spPr>
          <a:xfrm>
            <a:off x="548640" y="6400800"/>
            <a:ext cx="7315200" cy="320040"/>
          </a:xfrm>
          <a:prstGeom prst="rect">
            <a:avLst/>
          </a:prstGeom>
          <a:noFill/>
          <a:ln/>
        </p:spPr>
        <p:txBody>
          <a:bodyPr wrap="square" rtlCol="0" anchor="ctr"/>
          <a:lstStyle/>
          <a:p>
            <a:pPr algn="l" indent="0" marL="0">
              <a:buNone/>
            </a:pPr>
            <a:r>
              <a:rPr lang="en-US" altLang="en-US" sz="1000" dirty="0">
                <a:solidFill>
                  <a:srgbClr val="8A7E6A"/>
                </a:solidFill>
              </a:rPr>
              <a:t>Summary by Eng. Omar Khamis  —  +20 100 543 3170</a:t>
            </a:r>
            <a:endParaRPr lang="en-US" sz="10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Summary: Architecture for the Poor — Hassan Fathy</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Omar Khamis Library — 2026</a:t>
            </a:r>
            <a:endParaRPr lang="en-US"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algn="ctr" indent="0" marL="0">
              <a:buNone/>
            </a:pPr>
            <a:r>
              <a:rPr lang="en-US" altLang="en-US" sz="1200" dirty="0">
                <a:solidFill>
                  <a:srgbClr val="B9AE97"/>
                </a:solidFill>
              </a:rPr>
              <a:t>A learning summary — not a substitute for the original book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What this deck covers</a:t>
            </a:r>
            <a:endParaRPr lang="en-US" sz="3000" dirty="0"/>
          </a:p>
        </p:txBody>
      </p:sp>
      <p:sp>
        <p:nvSpPr>
          <p:cNvPr id="3" name="n1"/>
          <p:cNvSpPr/>
          <p:nvPr/>
        </p:nvSpPr>
        <p:spPr>
          <a:xfrm>
            <a:off x="548640" y="1362456"/>
            <a:ext cx="384048" cy="384048"/>
          </a:xfrm>
          <a:prstGeom prst="ellipse">
            <a:avLst/>
          </a:prstGeom>
          <a:solidFill>
            <a:schemeClr val="accent1"/>
          </a:solidFill>
          <a:ln/>
        </p:spPr>
      </p:sp>
      <p:sp>
        <p:nvSpPr>
          <p:cNvPr id="4" name="Text 2"/>
          <p:cNvSpPr txBox="1"/>
          <p:nvPr/>
        </p:nvSpPr>
        <p:spPr>
          <a:xfrm>
            <a:off x="548640"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51560"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Introduction: a book that changed how the world sees …</a:t>
            </a:r>
            <a:endParaRPr lang="en-US" sz="1500" dirty="0"/>
          </a:p>
        </p:txBody>
      </p:sp>
      <p:sp>
        <p:nvSpPr>
          <p:cNvPr id="6" name="n2"/>
          <p:cNvSpPr/>
          <p:nvPr/>
        </p:nvSpPr>
        <p:spPr>
          <a:xfrm>
            <a:off x="548640" y="1874520"/>
            <a:ext cx="384048" cy="384048"/>
          </a:xfrm>
          <a:prstGeom prst="ellipse">
            <a:avLst/>
          </a:prstGeom>
          <a:solidFill>
            <a:schemeClr val="accent1"/>
          </a:solidFill>
          <a:ln/>
        </p:spPr>
      </p:sp>
      <p:sp>
        <p:nvSpPr>
          <p:cNvPr id="7" name="Text 5"/>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51560"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The problem: poverty and housing</a:t>
            </a:r>
            <a:endParaRPr lang="en-US" sz="1500" dirty="0"/>
          </a:p>
        </p:txBody>
      </p:sp>
      <p:sp>
        <p:nvSpPr>
          <p:cNvPr id="9" name="n3"/>
          <p:cNvSpPr/>
          <p:nvPr/>
        </p:nvSpPr>
        <p:spPr>
          <a:xfrm>
            <a:off x="548640" y="2386584"/>
            <a:ext cx="384048" cy="384048"/>
          </a:xfrm>
          <a:prstGeom prst="ellipse">
            <a:avLst/>
          </a:prstGeom>
          <a:solidFill>
            <a:schemeClr val="accent1"/>
          </a:solidFill>
          <a:ln/>
        </p:spPr>
      </p:sp>
      <p:sp>
        <p:nvSpPr>
          <p:cNvPr id="10" name="Text 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51560"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The story of Gourna</a:t>
            </a:r>
            <a:endParaRPr lang="en-US" sz="1500" dirty="0"/>
          </a:p>
        </p:txBody>
      </p:sp>
      <p:sp>
        <p:nvSpPr>
          <p:cNvPr id="12" name="n4"/>
          <p:cNvSpPr/>
          <p:nvPr/>
        </p:nvSpPr>
        <p:spPr>
          <a:xfrm>
            <a:off x="548640" y="2898648"/>
            <a:ext cx="384048" cy="384048"/>
          </a:xfrm>
          <a:prstGeom prst="ellipse">
            <a:avLst/>
          </a:prstGeom>
          <a:solidFill>
            <a:schemeClr val="accent1"/>
          </a:solidFill>
          <a:ln/>
        </p:spPr>
      </p:sp>
      <p:sp>
        <p:nvSpPr>
          <p:cNvPr id="13" name="Text 11"/>
          <p:cNvSpPr txBox="1"/>
          <p:nvPr/>
        </p:nvSpPr>
        <p:spPr>
          <a:xfrm>
            <a:off x="54864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51560"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Mud brick</a:t>
            </a:r>
            <a:endParaRPr lang="en-US" sz="1500" dirty="0"/>
          </a:p>
        </p:txBody>
      </p:sp>
      <p:sp>
        <p:nvSpPr>
          <p:cNvPr id="15" name="n5"/>
          <p:cNvSpPr/>
          <p:nvPr/>
        </p:nvSpPr>
        <p:spPr>
          <a:xfrm>
            <a:off x="548640" y="3410712"/>
            <a:ext cx="384048" cy="384048"/>
          </a:xfrm>
          <a:prstGeom prst="ellipse">
            <a:avLst/>
          </a:prstGeom>
          <a:solidFill>
            <a:schemeClr val="accent1"/>
          </a:solidFill>
          <a:ln/>
        </p:spPr>
      </p:sp>
      <p:sp>
        <p:nvSpPr>
          <p:cNvPr id="16" name="Text 14"/>
          <p:cNvSpPr txBox="1"/>
          <p:nvPr/>
        </p:nvSpPr>
        <p:spPr>
          <a:xfrm>
            <a:off x="548640"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51560"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The Nubian vault and dome</a:t>
            </a:r>
            <a:endParaRPr lang="en-US" sz="1500" dirty="0"/>
          </a:p>
        </p:txBody>
      </p:sp>
      <p:sp>
        <p:nvSpPr>
          <p:cNvPr id="18" name="n6"/>
          <p:cNvSpPr/>
          <p:nvPr/>
        </p:nvSpPr>
        <p:spPr>
          <a:xfrm>
            <a:off x="548640" y="3922776"/>
            <a:ext cx="384048" cy="384048"/>
          </a:xfrm>
          <a:prstGeom prst="ellipse">
            <a:avLst/>
          </a:prstGeom>
          <a:solidFill>
            <a:schemeClr val="accent1"/>
          </a:solidFill>
          <a:ln/>
        </p:spPr>
      </p:sp>
      <p:sp>
        <p:nvSpPr>
          <p:cNvPr id="19" name="Text 17"/>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51560"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The courtyard</a:t>
            </a:r>
            <a:endParaRPr lang="en-US" sz="1500" dirty="0"/>
          </a:p>
        </p:txBody>
      </p:sp>
      <p:sp>
        <p:nvSpPr>
          <p:cNvPr id="21" name="n7"/>
          <p:cNvSpPr/>
          <p:nvPr/>
        </p:nvSpPr>
        <p:spPr>
          <a:xfrm>
            <a:off x="548640" y="4434840"/>
            <a:ext cx="384048" cy="384048"/>
          </a:xfrm>
          <a:prstGeom prst="ellipse">
            <a:avLst/>
          </a:prstGeom>
          <a:solidFill>
            <a:schemeClr val="accent1"/>
          </a:solidFill>
          <a:ln/>
        </p:spPr>
      </p:sp>
      <p:sp>
        <p:nvSpPr>
          <p:cNvPr id="22" name="Text 20"/>
          <p:cNvSpPr txBox="1"/>
          <p:nvPr/>
        </p:nvSpPr>
        <p:spPr>
          <a:xfrm>
            <a:off x="548640"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51560" y="4398264"/>
            <a:ext cx="4907128" cy="457200"/>
          </a:xfrm>
          <a:prstGeom prst="rect">
            <a:avLst/>
          </a:prstGeom>
          <a:noFill/>
          <a:ln/>
        </p:spPr>
        <p:txBody>
          <a:bodyPr wrap="square" rtlCol="0" anchor="ctr"/>
          <a:lstStyle/>
          <a:p>
            <a:pPr algn="l" indent="0" marL="0">
              <a:buNone/>
            </a:pPr>
            <a:r>
              <a:rPr lang="en-US" altLang="en-US" sz="1500" dirty="0">
                <a:solidFill>
                  <a:schemeClr val="tx1"/>
                </a:solidFill>
              </a:rPr>
              <a:t>The malqaf and natural ventilation</a:t>
            </a:r>
            <a:endParaRPr lang="en-US" sz="1500" dirty="0"/>
          </a:p>
        </p:txBody>
      </p:sp>
      <p:sp>
        <p:nvSpPr>
          <p:cNvPr id="24" name="n8"/>
          <p:cNvSpPr/>
          <p:nvPr/>
        </p:nvSpPr>
        <p:spPr>
          <a:xfrm>
            <a:off x="6187288" y="1362456"/>
            <a:ext cx="384048" cy="384048"/>
          </a:xfrm>
          <a:prstGeom prst="ellipse">
            <a:avLst/>
          </a:prstGeom>
          <a:solidFill>
            <a:schemeClr val="accent1"/>
          </a:solidFill>
          <a:ln/>
        </p:spPr>
      </p:sp>
      <p:sp>
        <p:nvSpPr>
          <p:cNvPr id="25" name="Text 23"/>
          <p:cNvSpPr txBox="1"/>
          <p:nvPr/>
        </p:nvSpPr>
        <p:spPr>
          <a:xfrm>
            <a:off x="618728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6690208"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The mashrabiya</a:t>
            </a:r>
            <a:endParaRPr lang="en-US" sz="1500" dirty="0"/>
          </a:p>
        </p:txBody>
      </p:sp>
      <p:sp>
        <p:nvSpPr>
          <p:cNvPr id="27" name="n9"/>
          <p:cNvSpPr/>
          <p:nvPr/>
        </p:nvSpPr>
        <p:spPr>
          <a:xfrm>
            <a:off x="6187288" y="1874520"/>
            <a:ext cx="384048" cy="384048"/>
          </a:xfrm>
          <a:prstGeom prst="ellipse">
            <a:avLst/>
          </a:prstGeom>
          <a:solidFill>
            <a:schemeClr val="accent1"/>
          </a:solidFill>
          <a:ln/>
        </p:spPr>
      </p:sp>
      <p:sp>
        <p:nvSpPr>
          <p:cNvPr id="28" name="Text 26"/>
          <p:cNvSpPr txBox="1"/>
          <p:nvPr/>
        </p:nvSpPr>
        <p:spPr>
          <a:xfrm>
            <a:off x="618728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6690208"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Cooperative building and participation</a:t>
            </a:r>
            <a:endParaRPr lang="en-US" sz="1500" dirty="0"/>
          </a:p>
        </p:txBody>
      </p:sp>
      <p:sp>
        <p:nvSpPr>
          <p:cNvPr id="30" name="n10"/>
          <p:cNvSpPr/>
          <p:nvPr/>
        </p:nvSpPr>
        <p:spPr>
          <a:xfrm>
            <a:off x="6187288" y="2386584"/>
            <a:ext cx="384048" cy="384048"/>
          </a:xfrm>
          <a:prstGeom prst="ellipse">
            <a:avLst/>
          </a:prstGeom>
          <a:solidFill>
            <a:schemeClr val="accent1"/>
          </a:solidFill>
          <a:ln/>
        </p:spPr>
      </p:sp>
      <p:sp>
        <p:nvSpPr>
          <p:cNvPr id="31" name="Text 29"/>
          <p:cNvSpPr txBox="1"/>
          <p:nvPr/>
        </p:nvSpPr>
        <p:spPr>
          <a:xfrm>
            <a:off x="618728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6690208"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Cost and economy</a:t>
            </a:r>
            <a:endParaRPr lang="en-US" sz="1500" dirty="0"/>
          </a:p>
        </p:txBody>
      </p:sp>
      <p:sp>
        <p:nvSpPr>
          <p:cNvPr id="33" name="n11"/>
          <p:cNvSpPr/>
          <p:nvPr/>
        </p:nvSpPr>
        <p:spPr>
          <a:xfrm>
            <a:off x="6187288" y="2898648"/>
            <a:ext cx="384048" cy="384048"/>
          </a:xfrm>
          <a:prstGeom prst="ellipse">
            <a:avLst/>
          </a:prstGeom>
          <a:solidFill>
            <a:schemeClr val="accent1"/>
          </a:solidFill>
          <a:ln/>
        </p:spPr>
      </p:sp>
      <p:sp>
        <p:nvSpPr>
          <p:cNvPr id="34" name="Text 32"/>
          <p:cNvSpPr txBox="1"/>
          <p:nvPr/>
        </p:nvSpPr>
        <p:spPr>
          <a:xfrm>
            <a:off x="618728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6690208"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Criticism and lessons</a:t>
            </a:r>
            <a:endParaRPr lang="en-US" sz="1500" dirty="0"/>
          </a:p>
        </p:txBody>
      </p:sp>
      <p:sp>
        <p:nvSpPr>
          <p:cNvPr id="36" name="n12"/>
          <p:cNvSpPr/>
          <p:nvPr/>
        </p:nvSpPr>
        <p:spPr>
          <a:xfrm>
            <a:off x="6187288" y="3410712"/>
            <a:ext cx="384048" cy="384048"/>
          </a:xfrm>
          <a:prstGeom prst="ellipse">
            <a:avLst/>
          </a:prstGeom>
          <a:solidFill>
            <a:schemeClr val="accent1"/>
          </a:solidFill>
          <a:ln/>
        </p:spPr>
      </p:sp>
      <p:sp>
        <p:nvSpPr>
          <p:cNvPr id="37" name="Text 35"/>
          <p:cNvSpPr txBox="1"/>
          <p:nvPr/>
        </p:nvSpPr>
        <p:spPr>
          <a:xfrm>
            <a:off x="618728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6690208"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Hassan Fathy's influence</a:t>
            </a:r>
            <a:endParaRPr lang="en-US" sz="1500" dirty="0"/>
          </a:p>
        </p:txBody>
      </p:sp>
      <p:sp>
        <p:nvSpPr>
          <p:cNvPr id="39" name="n13"/>
          <p:cNvSpPr/>
          <p:nvPr/>
        </p:nvSpPr>
        <p:spPr>
          <a:xfrm>
            <a:off x="6187288" y="3922776"/>
            <a:ext cx="384048" cy="384048"/>
          </a:xfrm>
          <a:prstGeom prst="ellipse">
            <a:avLst/>
          </a:prstGeom>
          <a:solidFill>
            <a:schemeClr val="accent1"/>
          </a:solidFill>
          <a:ln/>
        </p:spPr>
      </p:sp>
      <p:sp>
        <p:nvSpPr>
          <p:cNvPr id="40" name="Text 38"/>
          <p:cNvSpPr txBox="1"/>
          <p:nvPr/>
        </p:nvSpPr>
        <p:spPr>
          <a:xfrm>
            <a:off x="618728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6690208"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Eng. Omar Khamis's takeaways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Introduction: a book that changed how the world sees climate-responsive architecture</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Architecture for the Poor: An Experiment in Rural Egypt, by the Egyptian architect Hassan Fathy (1900–1989). …</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One of the first Arab architecture books to reach the whole world and be translated into many languages.</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It asks a question still open today: </a:t>
            </a:r>
            <a:pPr algn="l" indent="0" marL="0">
              <a:buNone/>
            </a:pPr>
            <a:r>
              <a:rPr lang="en-US" altLang="en-US" sz="1400" b="1" dirty="0">
                <a:solidFill>
                  <a:srgbClr val="2B2620"/>
                </a:solidFill>
              </a:rPr>
              <a:t>how do we build good homes people can afford?</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An intellectual foundation for </a:t>
            </a:r>
            <a:pPr algn="l" indent="0" marL="0">
              <a:buNone/>
            </a:pPr>
            <a:r>
              <a:rPr lang="en-US" altLang="en-US" sz="1400" b="1" dirty="0">
                <a:solidFill>
                  <a:srgbClr val="2B2620"/>
                </a:solidFill>
              </a:rPr>
              <a:t>sustainable, climate-responsive architecture</a:t>
            </a:r>
            <a:pPr algn="l" indent="0" marL="0">
              <a:buNone/>
            </a:pPr>
            <a:r>
              <a:rPr lang="en-US" altLang="en-US" sz="1400" dirty="0">
                <a:solidFill>
                  <a:srgbClr val="2B2620"/>
                </a:solidFill>
              </a:rPr>
              <a:t> in the Arab world.</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This summary is written by Eng. Omar Khamis for learning and is no substitute for reading the original.</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problem: poverty and housing</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In the 1940s millions of Egyptian farmers lived in poor, decaying houses.</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"Modern" materials (cement, steel, imported timber) were </a:t>
            </a:r>
            <a:pPr algn="l" indent="0" marL="0">
              <a:buNone/>
            </a:pPr>
            <a:r>
              <a:rPr lang="en-US" altLang="en-US" sz="1400" b="1" dirty="0">
                <a:solidFill>
                  <a:srgbClr val="2B2620"/>
                </a:solidFill>
              </a:rPr>
              <a:t>too expensive</a:t>
            </a:r>
            <a:pPr algn="l" indent="0" marL="0">
              <a:buNone/>
            </a:pPr>
            <a:r>
              <a:rPr lang="en-US" altLang="en-US" sz="1400" dirty="0">
                <a:solidFill>
                  <a:srgbClr val="2B2620"/>
                </a:solidFill>
              </a:rPr>
              <a:t> for them.</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The usual government answer: standard concrete buildings — </a:t>
            </a:r>
            <a:pPr algn="l" indent="0" marL="0">
              <a:buNone/>
            </a:pPr>
            <a:r>
              <a:rPr lang="en-US" altLang="en-US" sz="1400" b="1" dirty="0">
                <a:solidFill>
                  <a:srgbClr val="2B2620"/>
                </a:solidFill>
              </a:rPr>
              <a:t>costly and unsuited</a:t>
            </a:r>
            <a:pPr algn="l" indent="0" marL="0">
              <a:buNone/>
            </a:pPr>
            <a:r>
              <a:rPr lang="en-US" altLang="en-US" sz="1400" dirty="0">
                <a:solidFill>
                  <a:srgbClr val="2B2620"/>
                </a:solidFill>
              </a:rPr>
              <a:t> to the climate and way of life.</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Fathy saw the answer in </a:t>
            </a:r>
            <a:pPr algn="l" indent="0" marL="0">
              <a:buNone/>
            </a:pPr>
            <a:r>
              <a:rPr lang="en-US" altLang="en-US" sz="1400" b="1" dirty="0">
                <a:solidFill>
                  <a:srgbClr val="2B2620"/>
                </a:solidFill>
              </a:rPr>
              <a:t>local materials</a:t>
            </a:r>
            <a:pPr algn="l" indent="0" marL="0">
              <a:buNone/>
            </a:pPr>
            <a:r>
              <a:rPr lang="en-US" altLang="en-US" sz="1400" dirty="0">
                <a:solidFill>
                  <a:srgbClr val="2B2620"/>
                </a:solidFill>
              </a:rPr>
              <a:t>, </a:t>
            </a:r>
            <a:pPr algn="l" indent="0" marL="0">
              <a:buNone/>
            </a:pPr>
            <a:r>
              <a:rPr lang="en-US" altLang="en-US" sz="1400" b="1" dirty="0">
                <a:solidFill>
                  <a:srgbClr val="2B2620"/>
                </a:solidFill>
              </a:rPr>
              <a:t>traditional craft</a:t>
            </a:r>
            <a:pPr algn="l" indent="0" marL="0">
              <a:buNone/>
            </a:pPr>
            <a:r>
              <a:rPr lang="en-US" altLang="en-US" sz="1400" dirty="0">
                <a:solidFill>
                  <a:srgbClr val="2B2620"/>
                </a:solidFill>
              </a:rPr>
              <a:t> and </a:t>
            </a:r>
            <a:pPr algn="l" indent="0" marL="0">
              <a:buNone/>
            </a:pPr>
            <a:r>
              <a:rPr lang="en-US" altLang="en-US" sz="1400" b="1" dirty="0">
                <a:solidFill>
                  <a:srgbClr val="2B2620"/>
                </a:solidFill>
              </a:rPr>
              <a:t>people's participation</a:t>
            </a:r>
            <a:pPr algn="l" indent="0" marL="0">
              <a:buNone/>
            </a:pPr>
            <a:r>
              <a:rPr lang="en-US" altLang="en-US" sz="1400" dirty="0">
                <a:solidFill>
                  <a:srgbClr val="2B2620"/>
                </a:solidFill>
              </a:rPr>
              <a:t>.</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story of Gourna</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The people of Old Gourna lived on top of the ancient Theban tombs, and the government decided to move them to a new village.</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Fathy was commissioned to design the new village in </a:t>
            </a:r>
            <a:pPr algn="l" indent="0" marL="0">
              <a:buNone/>
            </a:pPr>
            <a:r>
              <a:rPr lang="en-US" altLang="en-US" sz="1400" b="1" dirty="0">
                <a:solidFill>
                  <a:srgbClr val="2B2620"/>
                </a:solidFill>
              </a:rPr>
              <a:t>mud brick</a:t>
            </a:r>
            <a:pPr algn="l" indent="0" marL="0">
              <a:buNone/>
            </a:pPr>
            <a:r>
              <a:rPr lang="en-US" altLang="en-US" sz="1400" dirty="0">
                <a:solidFill>
                  <a:srgbClr val="2B2620"/>
                </a:solidFill>
              </a:rPr>
              <a:t>.</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A large part was built: the market, mosque, khan, theatre, a school and a number of houses.</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The project was </a:t>
            </a:r>
            <a:pPr algn="l" indent="0" marL="0">
              <a:buNone/>
            </a:pPr>
            <a:r>
              <a:rPr lang="en-US" altLang="en-US" sz="1400" b="1" dirty="0">
                <a:solidFill>
                  <a:srgbClr val="2B2620"/>
                </a:solidFill>
              </a:rPr>
              <a:t>never completed</a:t>
            </a:r>
            <a:pPr algn="l" indent="0" marL="0">
              <a:buNone/>
            </a:pPr>
            <a:r>
              <a:rPr lang="en-US" altLang="en-US" sz="1400" dirty="0">
                <a:solidFill>
                  <a:srgbClr val="2B2620"/>
                </a:solidFill>
              </a:rPr>
              <a:t>: administrative and funding problems, and some villagers refused to leave their old homes.</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The lesson: a housing project does not succeed on design alone — it needs social acceptance and administrative support.</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Mud brick</a:t>
            </a:r>
            <a:endParaRPr lang="en-US" sz="3000" dirty="0"/>
          </a:p>
        </p:txBody>
      </p:sp>
      <p:sp>
        <p:nvSpPr>
          <p:cNvPr id="3" name="figure-frame"/>
          <p:cNvSpPr/>
          <p:nvPr/>
        </p:nvSpPr>
        <p:spPr>
          <a:xfrm>
            <a:off x="6065215" y="1325880"/>
            <a:ext cx="5669280" cy="3122023"/>
          </a:xfrm>
          <a:prstGeom prst="roundRect">
            <a:avLst>
              <a:gd name="adj" fmla="val 2929"/>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939143"/>
          </a:xfrm>
          <a:prstGeom prst="rect">
            <a:avLst/>
          </a:prstGeom>
        </p:spPr>
      </p:pic>
      <p:sp>
        <p:nvSpPr>
          <p:cNvPr id="5" name="Text 2"/>
          <p:cNvSpPr txBox="1"/>
          <p:nvPr/>
        </p:nvSpPr>
        <p:spPr>
          <a:xfrm>
            <a:off x="6156655" y="4493623"/>
            <a:ext cx="5486400" cy="365760"/>
          </a:xfrm>
          <a:prstGeom prst="rect">
            <a:avLst/>
          </a:prstGeom>
          <a:noFill/>
          <a:ln/>
        </p:spPr>
        <p:txBody>
          <a:bodyPr wrap="square" rtlCol="0" anchor="ctr"/>
          <a:lstStyle/>
          <a:p>
            <a:pPr algn="ctr" indent="0" marL="0">
              <a:buNone/>
            </a:pPr>
            <a:r>
              <a:rPr lang="en-US" altLang="en-US" sz="1100" i="1" dirty="0">
                <a:solidFill>
                  <a:srgbClr val="6B6152"/>
                </a:solidFill>
              </a:rPr>
              <a:t>Protecting a mud-brick wall from water</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Mud + straw + water, mixed and left to mature, shaped in timber moulds and dried in the sun.</a:t>
            </a:r>
            <a:endParaRPr lang="en-US" sz="1500" dirty="0"/>
          </a:p>
          <a:p>
            <a:pPr algn="l" marL="342900" indent="-342900">
              <a:spcAft>
                <a:spcPts val="800"/>
              </a:spcAft>
              <a:buSzPct val="100000"/>
              <a:buChar char="•"/>
            </a:pPr>
            <a:r>
              <a:rPr lang="en-US" altLang="en-US" sz="1500" b="1" dirty="0">
                <a:solidFill>
                  <a:srgbClr val="2B2620"/>
                </a:solidFill>
              </a:rPr>
              <a:t>No firing</a:t>
            </a:r>
            <a:pPr algn="l" marL="342900" indent="-342900">
              <a:spcAft>
                <a:spcPts val="800"/>
              </a:spcAft>
              <a:buSzPct val="100000"/>
              <a:buChar char="•"/>
            </a:pPr>
            <a:r>
              <a:rPr lang="en-US" altLang="en-US" sz="1500" dirty="0">
                <a:solidFill>
                  <a:srgbClr val="2B2620"/>
                </a:solidFill>
              </a:rPr>
              <a:t> = almost no energy and low cost.</a:t>
            </a:r>
            <a:endParaRPr lang="en-US" sz="1500" dirty="0"/>
          </a:p>
          <a:p>
            <a:pPr algn="l" marL="342900" indent="-342900">
              <a:spcAft>
                <a:spcPts val="800"/>
              </a:spcAft>
              <a:buSzPct val="100000"/>
              <a:buChar char="•"/>
            </a:pPr>
            <a:r>
              <a:rPr lang="en-US" altLang="en-US" sz="1500" b="1" dirty="0">
                <a:solidFill>
                  <a:srgbClr val="2B2620"/>
                </a:solidFill>
              </a:rPr>
              <a:t>Water</a:t>
            </a:r>
            <a:pPr algn="l" marL="342900" indent="-342900">
              <a:spcAft>
                <a:spcPts val="800"/>
              </a:spcAft>
              <a:buSzPct val="100000"/>
              <a:buChar char="•"/>
            </a:pPr>
            <a:r>
              <a:rPr lang="en-US" altLang="en-US" sz="1500" dirty="0">
                <a:solidFill>
                  <a:srgbClr val="2B2620"/>
                </a:solidFill>
              </a:rPr>
              <a:t> is the enemy: a stone or fired-brick base, roof overhangs, lime render renewed regularly.</a:t>
            </a:r>
            <a:endParaRPr lang="en-US" sz="1500" dirty="0"/>
          </a:p>
          <a:p>
            <a:pPr algn="l" marL="342900" indent="-342900">
              <a:spcAft>
                <a:spcPts val="800"/>
              </a:spcAft>
              <a:buSzPct val="100000"/>
              <a:buChar char="•"/>
            </a:pPr>
            <a:r>
              <a:rPr lang="en-US" altLang="en-US" sz="1500" dirty="0">
                <a:solidFill>
                  <a:srgbClr val="2B2620"/>
                </a:solidFill>
              </a:rPr>
              <a:t>Lower compressive strength than fired brick — suited to low buildings (one or two storeys).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Nubian vault and dome</a:t>
            </a:r>
            <a:endParaRPr lang="en-US" sz="3000" dirty="0"/>
          </a:p>
        </p:txBody>
      </p:sp>
      <p:sp>
        <p:nvSpPr>
          <p:cNvPr id="3" name="figure-frame"/>
          <p:cNvSpPr/>
          <p:nvPr/>
        </p:nvSpPr>
        <p:spPr>
          <a:xfrm>
            <a:off x="6065215" y="1325880"/>
            <a:ext cx="5669280" cy="3108960"/>
          </a:xfrm>
          <a:prstGeom prst="roundRect">
            <a:avLst>
              <a:gd name="adj" fmla="val 294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926080"/>
          </a:xfrm>
          <a:prstGeom prst="rect">
            <a:avLst/>
          </a:prstGeom>
        </p:spPr>
      </p:pic>
      <p:sp>
        <p:nvSpPr>
          <p:cNvPr id="5" name="Text 2"/>
          <p:cNvSpPr txBox="1"/>
          <p:nvPr/>
        </p:nvSpPr>
        <p:spPr>
          <a:xfrm>
            <a:off x="6156655" y="4480560"/>
            <a:ext cx="5486400" cy="365760"/>
          </a:xfrm>
          <a:prstGeom prst="rect">
            <a:avLst/>
          </a:prstGeom>
          <a:noFill/>
          <a:ln/>
        </p:spPr>
        <p:txBody>
          <a:bodyPr wrap="square" rtlCol="0" anchor="ctr"/>
          <a:lstStyle/>
          <a:p>
            <a:pPr algn="ctr" indent="0" marL="0">
              <a:buNone/>
            </a:pPr>
            <a:r>
              <a:rPr lang="en-US" altLang="en-US" sz="1100" i="1" dirty="0">
                <a:solidFill>
                  <a:srgbClr val="6B6152"/>
                </a:solidFill>
              </a:rPr>
              <a:t>A Nubian vault built in leaning courses without centring</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Nubian masons near Aswan built </a:t>
            </a:r>
            <a:pPr algn="l" marL="342900" indent="-342900">
              <a:spcAft>
                <a:spcPts val="800"/>
              </a:spcAft>
              <a:buSzPct val="100000"/>
              <a:buChar char="•"/>
            </a:pPr>
            <a:r>
              <a:rPr lang="en-US" altLang="en-US" sz="1500" b="1" dirty="0">
                <a:solidFill>
                  <a:srgbClr val="2B2620"/>
                </a:solidFill>
              </a:rPr>
              <a:t>vaults without timber centring</a:t>
            </a:r>
            <a:pPr algn="l" marL="342900" indent="-342900">
              <a:spcAft>
                <a:spcPts val="800"/>
              </a:spcAft>
              <a:buSzPct val="100000"/>
              <a:buChar char="•"/>
            </a:pPr>
            <a:r>
              <a:rPr lang="en-US" altLang="en-US" sz="1500" dirty="0">
                <a:solidFill>
                  <a:srgbClr val="2B2620"/>
                </a:solidFill>
              </a:rPr>
              <a:t>: bricks are laid in leaning courses against an end wall, …</a:t>
            </a:r>
            <a:endParaRPr lang="en-US" sz="1500" dirty="0"/>
          </a:p>
          <a:p>
            <a:pPr algn="l" marL="342900" indent="-342900">
              <a:spcAft>
                <a:spcPts val="800"/>
              </a:spcAft>
              <a:buSzPct val="100000"/>
              <a:buChar char="•"/>
            </a:pPr>
            <a:r>
              <a:rPr lang="en-US" altLang="en-US" sz="1500" dirty="0">
                <a:solidFill>
                  <a:srgbClr val="2B2620"/>
                </a:solidFill>
              </a:rPr>
              <a:t>This solved the problem of </a:t>
            </a:r>
            <a:pPr algn="l" marL="342900" indent="-342900">
              <a:spcAft>
                <a:spcPts val="800"/>
              </a:spcAft>
              <a:buSzPct val="100000"/>
              <a:buChar char="•"/>
            </a:pPr>
            <a:r>
              <a:rPr lang="en-US" altLang="en-US" sz="1500" b="1" dirty="0">
                <a:solidFill>
                  <a:srgbClr val="2B2620"/>
                </a:solidFill>
              </a:rPr>
              <a:t>expensive timber</a:t>
            </a:r>
            <a:pPr algn="l" marL="342900" indent="-342900">
              <a:spcAft>
                <a:spcPts val="800"/>
              </a:spcAft>
              <a:buSzPct val="100000"/>
              <a:buChar char="•"/>
            </a:pPr>
            <a:r>
              <a:rPr lang="en-US" altLang="en-US" sz="1500" dirty="0">
                <a:solidFill>
                  <a:srgbClr val="2B2620"/>
                </a:solidFill>
              </a:rPr>
              <a:t> in Egypt (it was imported).</a:t>
            </a:r>
            <a:endParaRPr lang="en-US" sz="1500" dirty="0"/>
          </a:p>
          <a:p>
            <a:pPr algn="l" marL="342900" indent="-342900">
              <a:spcAft>
                <a:spcPts val="800"/>
              </a:spcAft>
              <a:buSzPct val="100000"/>
              <a:buChar char="•"/>
            </a:pPr>
            <a:r>
              <a:rPr lang="en-US" altLang="en-US" sz="1500" dirty="0">
                <a:solidFill>
                  <a:srgbClr val="2B2620"/>
                </a:solidFill>
              </a:rPr>
              <a:t>The curved shape (close to a parabola) keeps the load in </a:t>
            </a:r>
            <a:pPr algn="l" marL="342900" indent="-342900">
              <a:spcAft>
                <a:spcPts val="800"/>
              </a:spcAft>
              <a:buSzPct val="100000"/>
              <a:buChar char="•"/>
            </a:pPr>
            <a:r>
              <a:rPr lang="en-US" altLang="en-US" sz="1500" b="1" dirty="0">
                <a:solidFill>
                  <a:srgbClr val="2B2620"/>
                </a:solidFill>
              </a:rPr>
              <a:t>compression only</a:t>
            </a:r>
            <a:pPr algn="l" marL="342900" indent="-342900">
              <a:spcAft>
                <a:spcPts val="800"/>
              </a:spcAft>
              <a:buSzPct val="100000"/>
              <a:buChar char="•"/>
            </a:pPr>
            <a:r>
              <a:rPr lang="en-US" altLang="en-US" sz="1500" dirty="0">
                <a:solidFill>
                  <a:srgbClr val="2B2620"/>
                </a:solidFill>
              </a:rPr>
              <a:t>, where mud brick is strong.</a:t>
            </a:r>
            <a:endParaRPr lang="en-US" sz="1500" dirty="0"/>
          </a:p>
          <a:p>
            <a:pPr algn="l" marL="342900" indent="-342900">
              <a:spcAft>
                <a:spcPts val="800"/>
              </a:spcAft>
              <a:buSzPct val="100000"/>
              <a:buChar char="•"/>
            </a:pPr>
            <a:r>
              <a:rPr lang="en-US" altLang="en-US" sz="1500" dirty="0">
                <a:solidFill>
                  <a:srgbClr val="2B2620"/>
                </a:solidFill>
              </a:rPr>
              <a:t>A </a:t>
            </a:r>
            <a:pPr algn="l" marL="342900" indent="-342900">
              <a:spcAft>
                <a:spcPts val="800"/>
              </a:spcAft>
              <a:buSzPct val="100000"/>
              <a:buChar char="•"/>
            </a:pPr>
            <a:r>
              <a:rPr lang="en-US" altLang="en-US" sz="1500" b="1" dirty="0">
                <a:solidFill>
                  <a:srgbClr val="2B2620"/>
                </a:solidFill>
              </a:rPr>
              <a:t>dome</a:t>
            </a:r>
            <a:pPr algn="l" marL="342900" indent="-342900">
              <a:spcAft>
                <a:spcPts val="800"/>
              </a:spcAft>
              <a:buSzPct val="100000"/>
              <a:buChar char="•"/>
            </a:pPr>
            <a:r>
              <a:rPr lang="en-US" altLang="en-US" sz="1500" dirty="0">
                <a:solidFill>
                  <a:srgbClr val="2B2620"/>
                </a:solidFill>
              </a:rPr>
              <a:t> over a square room sits on </a:t>
            </a:r>
            <a:pPr algn="l" marL="342900" indent="-342900">
              <a:spcAft>
                <a:spcPts val="800"/>
              </a:spcAft>
              <a:buSzPct val="100000"/>
              <a:buChar char="•"/>
            </a:pPr>
            <a:r>
              <a:rPr lang="en-US" altLang="en-US" sz="1500" b="1" dirty="0">
                <a:solidFill>
                  <a:srgbClr val="2B2620"/>
                </a:solidFill>
              </a:rPr>
              <a:t>pendentives</a:t>
            </a:r>
            <a:pPr algn="l" marL="342900" indent="-342900">
              <a:spcAft>
                <a:spcPts val="800"/>
              </a:spcAft>
              <a:buSzPct val="100000"/>
              <a:buChar char="•"/>
            </a:pPr>
            <a:r>
              <a:rPr lang="en-US" altLang="en-US" sz="1500" dirty="0">
                <a:solidFill>
                  <a:srgbClr val="2B2620"/>
                </a:solidFill>
              </a:rPr>
              <a:t> in the corners.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courtyard</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The house is grouped around a </a:t>
            </a:r>
            <a:pPr algn="l" indent="0" marL="0">
              <a:buNone/>
            </a:pPr>
            <a:r>
              <a:rPr lang="en-US" altLang="en-US" sz="1400" b="1" dirty="0">
                <a:solidFill>
                  <a:srgbClr val="2B2620"/>
                </a:solidFill>
              </a:rPr>
              <a:t>courtyard</a:t>
            </a:r>
            <a:pPr algn="l" indent="0" marL="0">
              <a:buNone/>
            </a:pPr>
            <a:r>
              <a:rPr lang="en-US" altLang="en-US" sz="1400" dirty="0">
                <a:solidFill>
                  <a:srgbClr val="2B2620"/>
                </a:solidFill>
              </a:rPr>
              <a:t> open to the sky.</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The courtyard stores </a:t>
            </a:r>
            <a:pPr algn="l" indent="0" marL="0">
              <a:buNone/>
            </a:pPr>
            <a:r>
              <a:rPr lang="en-US" altLang="en-US" sz="1400" b="1" dirty="0">
                <a:solidFill>
                  <a:srgbClr val="2B2620"/>
                </a:solidFill>
              </a:rPr>
              <a:t>cool night air</a:t>
            </a:r>
            <a:pPr algn="l" indent="0" marL="0">
              <a:buNone/>
            </a:pPr>
            <a:r>
              <a:rPr lang="en-US" altLang="en-US" sz="1400" dirty="0">
                <a:solidFill>
                  <a:srgbClr val="2B2620"/>
                </a:solidFill>
              </a:rPr>
              <a:t> and releases it to the rooms in the morning.</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It gives </a:t>
            </a:r>
            <a:pPr algn="l" indent="0" marL="0">
              <a:buNone/>
            </a:pPr>
            <a:r>
              <a:rPr lang="en-US" altLang="en-US" sz="1400" b="1" dirty="0">
                <a:solidFill>
                  <a:srgbClr val="2B2620"/>
                </a:solidFill>
              </a:rPr>
              <a:t>shade</a:t>
            </a:r>
            <a:pPr algn="l" indent="0" marL="0">
              <a:buNone/>
            </a:pPr>
            <a:r>
              <a:rPr lang="en-US" altLang="en-US" sz="1400" dirty="0">
                <a:solidFill>
                  <a:srgbClr val="2B2620"/>
                </a:solidFill>
              </a:rPr>
              <a:t> and </a:t>
            </a:r>
            <a:pPr algn="l" indent="0" marL="0">
              <a:buNone/>
            </a:pPr>
            <a:r>
              <a:rPr lang="en-US" altLang="en-US" sz="1400" b="1" dirty="0">
                <a:solidFill>
                  <a:srgbClr val="2B2620"/>
                </a:solidFill>
              </a:rPr>
              <a:t>privacy</a:t>
            </a:r>
            <a:pPr algn="l" indent="0" marL="0">
              <a:buNone/>
            </a:pPr>
            <a:r>
              <a:rPr lang="en-US" altLang="en-US" sz="1400" dirty="0">
                <a:solidFill>
                  <a:srgbClr val="2B2620"/>
                </a:solidFill>
              </a:rPr>
              <a:t> to the family, and space for children and plants.</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Proportion matters: a narrow, tall courtyard = more shade.</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malqaf and natural ventilation</a:t>
            </a:r>
            <a:endParaRPr lang="en-US" sz="3000" dirty="0"/>
          </a:p>
        </p:txBody>
      </p:sp>
      <p:sp>
        <p:nvSpPr>
          <p:cNvPr id="3" name="figure-frame"/>
          <p:cNvSpPr/>
          <p:nvPr/>
        </p:nvSpPr>
        <p:spPr>
          <a:xfrm>
            <a:off x="6065215" y="1325880"/>
            <a:ext cx="5669280" cy="3108960"/>
          </a:xfrm>
          <a:prstGeom prst="roundRect">
            <a:avLst>
              <a:gd name="adj" fmla="val 294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926080"/>
          </a:xfrm>
          <a:prstGeom prst="rect">
            <a:avLst/>
          </a:prstGeom>
        </p:spPr>
      </p:pic>
      <p:sp>
        <p:nvSpPr>
          <p:cNvPr id="5" name="Text 2"/>
          <p:cNvSpPr txBox="1"/>
          <p:nvPr/>
        </p:nvSpPr>
        <p:spPr>
          <a:xfrm>
            <a:off x="6156655" y="4480560"/>
            <a:ext cx="5486400" cy="365760"/>
          </a:xfrm>
          <a:prstGeom prst="rect">
            <a:avLst/>
          </a:prstGeom>
          <a:noFill/>
          <a:ln/>
        </p:spPr>
        <p:txBody>
          <a:bodyPr wrap="square" rtlCol="0" anchor="ctr"/>
          <a:lstStyle/>
          <a:p>
            <a:pPr algn="ctr" indent="0" marL="0">
              <a:buNone/>
            </a:pPr>
            <a:r>
              <a:rPr lang="en-US" altLang="en-US" sz="1100" i="1" dirty="0">
                <a:solidFill>
                  <a:srgbClr val="6B6152"/>
                </a:solidFill>
              </a:rPr>
              <a:t>The ventilation cycle of the malqaf and the roof lantern</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The </a:t>
            </a:r>
            <a:pPr algn="l" marL="342900" indent="-342900">
              <a:spcAft>
                <a:spcPts val="800"/>
              </a:spcAft>
              <a:buSzPct val="100000"/>
              <a:buChar char="•"/>
            </a:pPr>
            <a:r>
              <a:rPr lang="en-US" altLang="en-US" sz="1500" b="1" dirty="0">
                <a:solidFill>
                  <a:srgbClr val="2B2620"/>
                </a:solidFill>
              </a:rPr>
              <a:t>malqaf</a:t>
            </a:r>
            <a:pPr algn="l" marL="342900" indent="-342900">
              <a:spcAft>
                <a:spcPts val="800"/>
              </a:spcAft>
              <a:buSzPct val="100000"/>
              <a:buChar char="•"/>
            </a:pPr>
            <a:r>
              <a:rPr lang="en-US" altLang="en-US" sz="1500" dirty="0">
                <a:solidFill>
                  <a:srgbClr val="2B2620"/>
                </a:solidFill>
              </a:rPr>
              <a:t> is a roof tower open to the </a:t>
            </a:r>
            <a:pPr algn="l" marL="342900" indent="-342900">
              <a:spcAft>
                <a:spcPts val="800"/>
              </a:spcAft>
              <a:buSzPct val="100000"/>
              <a:buChar char="•"/>
            </a:pPr>
            <a:r>
              <a:rPr lang="en-US" altLang="en-US" sz="1500" b="1" dirty="0">
                <a:solidFill>
                  <a:srgbClr val="2B2620"/>
                </a:solidFill>
              </a:rPr>
              <a:t>prevailing wind</a:t>
            </a:r>
            <a:pPr algn="l" marL="342900" indent="-342900">
              <a:spcAft>
                <a:spcPts val="800"/>
              </a:spcAft>
              <a:buSzPct val="100000"/>
              <a:buChar char="•"/>
            </a:pPr>
            <a:r>
              <a:rPr lang="en-US" altLang="en-US" sz="1500" dirty="0">
                <a:solidFill>
                  <a:srgbClr val="2B2620"/>
                </a:solidFill>
              </a:rPr>
              <a:t> (north-west in Egypt).</a:t>
            </a:r>
            <a:endParaRPr lang="en-US" sz="1500" dirty="0"/>
          </a:p>
          <a:p>
            <a:pPr algn="l" marL="342900" indent="-342900">
              <a:spcAft>
                <a:spcPts val="800"/>
              </a:spcAft>
              <a:buSzPct val="100000"/>
              <a:buChar char="•"/>
            </a:pPr>
            <a:r>
              <a:rPr lang="en-US" altLang="en-US" sz="1500" dirty="0">
                <a:solidFill>
                  <a:srgbClr val="2B2620"/>
                </a:solidFill>
              </a:rPr>
              <a:t>It catches cleaner air from above (cleaner and cooler than street air) and brings it down into rooms.</a:t>
            </a:r>
            <a:endParaRPr lang="en-US" sz="1500" dirty="0"/>
          </a:p>
          <a:p>
            <a:pPr algn="l" marL="342900" indent="-342900">
              <a:spcAft>
                <a:spcPts val="800"/>
              </a:spcAft>
              <a:buSzPct val="100000"/>
              <a:buChar char="•"/>
            </a:pPr>
            <a:r>
              <a:rPr lang="en-US" altLang="en-US" sz="1500" b="1" dirty="0">
                <a:solidFill>
                  <a:srgbClr val="2B2620"/>
                </a:solidFill>
              </a:rPr>
              <a:t>Wet pottery or charcoal</a:t>
            </a:r>
            <a:pPr algn="l" marL="342900" indent="-342900">
              <a:spcAft>
                <a:spcPts val="800"/>
              </a:spcAft>
              <a:buSzPct val="100000"/>
              <a:buChar char="•"/>
            </a:pPr>
            <a:r>
              <a:rPr lang="en-US" altLang="en-US" sz="1500" dirty="0">
                <a:solidFill>
                  <a:srgbClr val="2B2620"/>
                </a:solidFill>
              </a:rPr>
              <a:t> placed in it cools the air by evaporation.</a:t>
            </a:r>
            <a:endParaRPr lang="en-US" sz="1500" dirty="0"/>
          </a:p>
          <a:p>
            <a:pPr algn="l" marL="342900" indent="-342900">
              <a:spcAft>
                <a:spcPts val="800"/>
              </a:spcAft>
              <a:buSzPct val="100000"/>
              <a:buChar char="•"/>
            </a:pPr>
            <a:r>
              <a:rPr lang="en-US" altLang="en-US" sz="1500" dirty="0">
                <a:solidFill>
                  <a:srgbClr val="2B2620"/>
                </a:solidFill>
              </a:rPr>
              <a:t>With the </a:t>
            </a:r>
            <a:pPr algn="l" marL="342900" indent="-342900">
              <a:spcAft>
                <a:spcPts val="800"/>
              </a:spcAft>
              <a:buSzPct val="100000"/>
              <a:buChar char="•"/>
            </a:pPr>
            <a:r>
              <a:rPr lang="en-US" altLang="en-US" sz="1500" b="1" dirty="0">
                <a:solidFill>
                  <a:srgbClr val="2B2620"/>
                </a:solidFill>
              </a:rPr>
              <a:t>shukhshaykha</a:t>
            </a:r>
            <a:pPr algn="l" marL="342900" indent="-342900">
              <a:spcAft>
                <a:spcPts val="800"/>
              </a:spcAft>
              <a:buSzPct val="100000"/>
              <a:buChar char="•"/>
            </a:pPr>
            <a:r>
              <a:rPr lang="en-US" altLang="en-US" sz="1500" dirty="0">
                <a:solidFill>
                  <a:srgbClr val="2B2620"/>
                </a:solidFill>
              </a:rPr>
              <a:t> (a roof lantern letting hot air out) it completes a ventilation cycle.</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The mashrabiya</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Turned timber lattice with small openings over windows.</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Breaks direct sun</a:t>
            </a:r>
            <a:pPr algn="l" indent="0" marL="0">
              <a:buNone/>
            </a:pPr>
            <a:r>
              <a:rPr lang="en-US" altLang="en-US" sz="1400" dirty="0">
                <a:solidFill>
                  <a:srgbClr val="2B2620"/>
                </a:solidFill>
              </a:rPr>
              <a:t> and reduces glare.</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Privacy</a:t>
            </a:r>
            <a:pPr algn="l" indent="0" marL="0">
              <a:buNone/>
            </a:pPr>
            <a:r>
              <a:rPr lang="en-US" altLang="en-US" sz="1400" dirty="0">
                <a:solidFill>
                  <a:srgbClr val="2B2620"/>
                </a:solidFill>
              </a:rPr>
              <a:t>: those inside can see out, not the other way round.</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Lets </a:t>
            </a:r>
            <a:pPr algn="l" indent="0" marL="0">
              <a:buNone/>
            </a:pPr>
            <a:r>
              <a:rPr lang="en-US" altLang="en-US" sz="1400" b="1" dirty="0">
                <a:solidFill>
                  <a:srgbClr val="2B2620"/>
                </a:solidFill>
              </a:rPr>
              <a:t>air</a:t>
            </a:r>
            <a:pPr algn="l" indent="0" marL="0">
              <a:buNone/>
            </a:pPr>
            <a:r>
              <a:rPr lang="en-US" altLang="en-US" sz="1400" dirty="0">
                <a:solidFill>
                  <a:srgbClr val="2B2620"/>
                </a:solidFill>
              </a:rPr>
              <a:t> through; water jars were once placed behind it for cooling.</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Cooperative building and participation</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Fathy believed people should </a:t>
            </a:r>
            <a:pPr algn="l" indent="0" marL="0">
              <a:buNone/>
            </a:pPr>
            <a:r>
              <a:rPr lang="en-US" altLang="en-US" sz="1400" b="1" dirty="0">
                <a:solidFill>
                  <a:srgbClr val="2B2620"/>
                </a:solidFill>
              </a:rPr>
              <a:t>take part in building their homes</a:t>
            </a:r>
            <a:pPr algn="l" indent="0" marL="0">
              <a:buNone/>
            </a:pPr>
            <a:r>
              <a:rPr lang="en-US" altLang="en-US" sz="1400" dirty="0">
                <a:solidFill>
                  <a:srgbClr val="2B2620"/>
                </a:solidFill>
              </a:rPr>
              <a:t>: learn the craft and work with their hands.</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The </a:t>
            </a:r>
            <a:pPr algn="l" indent="0" marL="0">
              <a:buNone/>
            </a:pPr>
            <a:r>
              <a:rPr lang="en-US" altLang="en-US" sz="1400" b="1" dirty="0">
                <a:solidFill>
                  <a:srgbClr val="2B2620"/>
                </a:solidFill>
              </a:rPr>
              <a:t>architect's</a:t>
            </a:r>
            <a:pPr algn="l" indent="0" marL="0">
              <a:buNone/>
            </a:pPr>
            <a:r>
              <a:rPr lang="en-US" altLang="en-US" sz="1400" dirty="0">
                <a:solidFill>
                  <a:srgbClr val="2B2620"/>
                </a:solidFill>
              </a:rPr>
              <a:t> role is to understand each family's needs (size, work, animals, customs) and design for them.</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Every house in Gourna was </a:t>
            </a:r>
            <a:pPr algn="l" indent="0" marL="0">
              <a:buNone/>
            </a:pPr>
            <a:r>
              <a:rPr lang="en-US" altLang="en-US" sz="1400" b="1" dirty="0">
                <a:solidFill>
                  <a:srgbClr val="2B2620"/>
                </a:solidFill>
              </a:rPr>
              <a:t>different</a:t>
            </a:r>
            <a:pPr algn="l" indent="0" marL="0">
              <a:buNone/>
            </a:pPr>
            <a:r>
              <a:rPr lang="en-US" altLang="en-US" sz="1400" dirty="0">
                <a:solidFill>
                  <a:srgbClr val="2B2620"/>
                </a:solidFill>
              </a:rPr>
              <a:t> for its family — against the idea of a repeated standard unit.</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Training</a:t>
            </a:r>
            <a:pPr algn="l" indent="0" marL="0">
              <a:buNone/>
            </a:pPr>
            <a:r>
              <a:rPr lang="en-US" altLang="en-US" sz="1400" dirty="0">
                <a:solidFill>
                  <a:srgbClr val="2B2620"/>
                </a:solidFill>
              </a:rPr>
              <a:t>: passing the Nubian masons' craft on to the villagers.</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Cost and economy</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Local earth and building without centring </a:t>
            </a:r>
            <a:pPr algn="l" indent="0" marL="0">
              <a:buNone/>
            </a:pPr>
            <a:r>
              <a:rPr lang="en-US" altLang="en-US" sz="1400" b="1" dirty="0">
                <a:solidFill>
                  <a:srgbClr val="2B2620"/>
                </a:solidFill>
              </a:rPr>
              <a:t>greatly reduced cost</a:t>
            </a:r>
            <a:pPr algn="l" indent="0" marL="0">
              <a:buNone/>
            </a:pPr>
            <a:r>
              <a:rPr lang="en-US" altLang="en-US" sz="1400" dirty="0">
                <a:solidFill>
                  <a:srgbClr val="2B2620"/>
                </a:solidFill>
              </a:rPr>
              <a:t> compared with concrete.</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Labour from the villagers themselves = money stays in the village.</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For Fathy, the true cost of a house is not only materials — it includes thermal comfort, building life and maintenance.</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Criticism and lessons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Bureaucracy and changing officials.</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Villagers were attached to their old place and livelihood.</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Some saw mud brick as "poor people's architecture" and wanted "modern" concrete.</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Design for </a:t>
            </a:r>
            <a:pPr algn="l" indent="0" marL="0">
              <a:buNone/>
            </a:pPr>
            <a:r>
              <a:rPr lang="en-US" altLang="en-US" sz="1400" b="1" dirty="0">
                <a:solidFill>
                  <a:srgbClr val="2B2620"/>
                </a:solidFill>
              </a:rPr>
              <a:t>climate</a:t>
            </a:r>
            <a:pPr algn="l" indent="0" marL="0">
              <a:buNone/>
            </a:pPr>
            <a:r>
              <a:rPr lang="en-US" altLang="en-US" sz="1400" dirty="0">
                <a:solidFill>
                  <a:srgbClr val="2B2620"/>
                </a:solidFill>
              </a:rPr>
              <a:t> first: orientation, shade, natural ventilation, thermal mass.</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b="1" dirty="0">
                <a:solidFill>
                  <a:srgbClr val="2B2620"/>
                </a:solidFill>
              </a:rPr>
              <a:t>Local, low-energy materials</a:t>
            </a:r>
            <a:pPr algn="l" indent="0" marL="0">
              <a:buNone/>
            </a:pPr>
            <a:r>
              <a:rPr lang="en-US" altLang="en-US" sz="1400" dirty="0">
                <a:solidFill>
                  <a:srgbClr val="2B2620"/>
                </a:solidFill>
              </a:rPr>
              <a:t> where appropriate.</a:t>
            </a:r>
            <a:endParaRPr lang="en-US" sz="1400" dirty="0"/>
          </a:p>
        </p:txBody>
      </p:sp>
      <p:sp>
        <p:nvSpPr>
          <p:cNvPr id="23" name="card5"/>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8310677" y="3566160"/>
            <a:ext cx="457200" cy="457200"/>
          </a:xfrm>
          <a:prstGeom prst="ellipse">
            <a:avLst/>
          </a:prstGeom>
          <a:solidFill>
            <a:schemeClr val="accent2"/>
          </a:solidFill>
          <a:ln/>
        </p:spPr>
      </p:sp>
      <p:sp>
        <p:nvSpPr>
          <p:cNvPr id="25" name="Text 23"/>
          <p:cNvSpPr txBox="1"/>
          <p:nvPr/>
        </p:nvSpPr>
        <p:spPr>
          <a:xfrm>
            <a:off x="831067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8310677" y="4114800"/>
            <a:ext cx="3149498" cy="914400"/>
          </a:xfrm>
          <a:prstGeom prst="rect">
            <a:avLst/>
          </a:prstGeom>
          <a:noFill/>
          <a:ln/>
        </p:spPr>
        <p:txBody>
          <a:bodyPr wrap="square" rtlCol="0" anchor="t"/>
          <a:lstStyle/>
          <a:p>
            <a:pPr algn="l" indent="0" marL="0">
              <a:buNone/>
            </a:pPr>
            <a:r>
              <a:rPr lang="en-US" altLang="en-US" sz="1400" b="1" dirty="0">
                <a:solidFill>
                  <a:srgbClr val="2B2620"/>
                </a:solidFill>
              </a:rPr>
              <a:t>The user is a partner</a:t>
            </a:r>
            <a:pPr algn="l" indent="0" marL="0">
              <a:buNone/>
            </a:pPr>
            <a:r>
              <a:rPr lang="en-US" altLang="en-US" sz="1400" dirty="0">
                <a:solidFill>
                  <a:srgbClr val="2B2620"/>
                </a:solidFill>
              </a:rPr>
              <a:t> in design.</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Hassan Fathy's influence</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He received the </a:t>
            </a:r>
            <a:pPr algn="l" indent="0" marL="0">
              <a:buNone/>
            </a:pPr>
            <a:r>
              <a:rPr lang="en-US" altLang="en-US" sz="1400" b="1" dirty="0">
                <a:solidFill>
                  <a:srgbClr val="2B2620"/>
                </a:solidFill>
              </a:rPr>
              <a:t>Right Livelihood Award</a:t>
            </a:r>
            <a:pPr algn="l" indent="0" marL="0">
              <a:buNone/>
            </a:pPr>
            <a:r>
              <a:rPr lang="en-US" altLang="en-US" sz="1400" dirty="0">
                <a:solidFill>
                  <a:srgbClr val="2B2620"/>
                </a:solidFill>
              </a:rPr>
              <a:t> ("Alternative Nobel") and an </a:t>
            </a:r>
            <a:pPr algn="l" indent="0" marL="0">
              <a:buNone/>
            </a:pPr>
            <a:r>
              <a:rPr lang="en-US" altLang="en-US" sz="1400" b="1" dirty="0">
                <a:solidFill>
                  <a:srgbClr val="2B2620"/>
                </a:solidFill>
              </a:rPr>
              <a:t>Aga Khan</a:t>
            </a:r>
            <a:pPr algn="l" indent="0" marL="0">
              <a:buNone/>
            </a:pPr>
            <a:r>
              <a:rPr lang="en-US" altLang="en-US" sz="1400" dirty="0">
                <a:solidFill>
                  <a:srgbClr val="2B2620"/>
                </a:solidFill>
              </a:rPr>
              <a:t> award for architecture.</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New Gourna today receives international attention for heritage conservation.</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His ideas influenced architects in Egypt, Saudi Arabia and worldwide, and the modern earth-architecture movement.</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Projects such as </a:t>
            </a:r>
            <a:pPr algn="l" indent="0" marL="0">
              <a:buNone/>
            </a:pPr>
            <a:r>
              <a:rPr lang="en-US" altLang="en-US" sz="1400" b="1" dirty="0">
                <a:solidFill>
                  <a:srgbClr val="2B2620"/>
                </a:solidFill>
              </a:rPr>
              <a:t>New Baris</a:t>
            </a:r>
            <a:pPr algn="l" indent="0" marL="0">
              <a:buNone/>
            </a:pPr>
            <a:r>
              <a:rPr lang="en-US" altLang="en-US" sz="1400" dirty="0">
                <a:solidFill>
                  <a:srgbClr val="2B2620"/>
                </a:solidFill>
              </a:rPr>
              <a:t> village in the Kharga oasis and </a:t>
            </a:r>
            <a:pPr algn="l" indent="0" marL="0">
              <a:buNone/>
            </a:pPr>
            <a:r>
              <a:rPr lang="en-US" altLang="en-US" sz="1400" b="1" dirty="0">
                <a:solidFill>
                  <a:srgbClr val="2B2620"/>
                </a:solidFill>
              </a:rPr>
              <a:t>Dar al-Islam</a:t>
            </a:r>
            <a:pPr algn="l" indent="0" marL="0">
              <a:buNone/>
            </a:pPr>
            <a:r>
              <a:rPr lang="en-US" altLang="en-US" sz="1400" dirty="0">
                <a:solidFill>
                  <a:srgbClr val="2B2620"/>
                </a:solidFill>
              </a:rPr>
              <a:t> in New Mexico continue his ideas.</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Eng. Omar Khamis's takeaways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Good architecture is not about expense — it is about </a:t>
            </a:r>
            <a:pPr algn="l" indent="0" marL="0">
              <a:buNone/>
            </a:pPr>
            <a:r>
              <a:rPr lang="en-US" altLang="en-US" sz="1400" b="1" dirty="0">
                <a:solidFill>
                  <a:srgbClr val="2B2620"/>
                </a:solidFill>
              </a:rPr>
              <a:t>understanding</a:t>
            </a:r>
            <a:pPr algn="l" indent="0" marL="0">
              <a:buNone/>
            </a:pPr>
            <a:r>
              <a:rPr lang="en-US" altLang="en-US" sz="1400" dirty="0">
                <a:solidFill>
                  <a:srgbClr val="2B2620"/>
                </a:solidFill>
              </a:rPr>
              <a:t>.</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The hot climate of Egypt and Saudi Arabia calls for </a:t>
            </a:r>
            <a:pPr algn="l" indent="0" marL="0">
              <a:buNone/>
            </a:pPr>
            <a:r>
              <a:rPr lang="en-US" altLang="en-US" sz="1400" b="1" dirty="0">
                <a:solidFill>
                  <a:srgbClr val="2B2620"/>
                </a:solidFill>
              </a:rPr>
              <a:t>thick walls, courtyards, wind catchers, mashrabiyas and few west openings</a:t>
            </a:r>
            <a:pPr algn="l" indent="0" marL="0">
              <a:buNone/>
            </a:pPr>
            <a:r>
              <a:rPr lang="en-US" altLang="en-US" sz="1400" dirty="0">
                <a:solidFill>
                  <a:srgbClr val="2B2620"/>
                </a:solidFill>
              </a:rPr>
              <a:t>.</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Every housing project must weigh the </a:t>
            </a:r>
            <a:pPr algn="l" indent="0" marL="0">
              <a:buNone/>
            </a:pPr>
            <a:r>
              <a:rPr lang="en-US" altLang="en-US" sz="1400" b="1" dirty="0">
                <a:solidFill>
                  <a:srgbClr val="2B2620"/>
                </a:solidFill>
              </a:rPr>
              <a:t>social factor</a:t>
            </a:r>
            <a:pPr algn="l" indent="0" marL="0">
              <a:buNone/>
            </a:pPr>
            <a:r>
              <a:rPr lang="en-US" altLang="en-US" sz="1400" dirty="0">
                <a:solidFill>
                  <a:srgbClr val="2B2620"/>
                </a:solidFill>
              </a:rPr>
              <a:t>, not just the structural one.</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Traditional craft is a </a:t>
            </a:r>
            <a:pPr algn="l" indent="0" marL="0">
              <a:buNone/>
            </a:pPr>
            <a:r>
              <a:rPr lang="en-US" altLang="en-US" sz="1400" b="1" dirty="0">
                <a:solidFill>
                  <a:srgbClr val="2B2620"/>
                </a:solidFill>
              </a:rPr>
              <a:t>treasure</a:t>
            </a:r>
            <a:pPr algn="l" indent="0" marL="0">
              <a:buNone/>
            </a:pPr>
            <a:r>
              <a:rPr lang="en-US" altLang="en-US" sz="1400" dirty="0">
                <a:solidFill>
                  <a:srgbClr val="2B2620"/>
                </a:solidFill>
              </a:rPr>
              <a:t> — develop it with modern techniques.</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Read the original book — it holds a spirit no summary can.</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Summary by Eng. Omar Khamis — Omar Khamis Library for SketchUp.</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Thank you</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+20 100 543 3170</a:t>
            </a:r>
            <a:endParaRPr lang="en-US" sz="1800" dirty="0"/>
          </a:p>
        </p:txBody>
      </p:sp>
      <p:sp>
        <p:nvSpPr>
          <p:cNvPr id="4" name="Text 2"/>
          <p:cNvSpPr txBox="1"/>
          <p:nvPr/>
        </p:nvSpPr>
        <p:spPr>
          <a:xfrm>
            <a:off x="914400" y="5577840"/>
            <a:ext cx="10362895" cy="548640"/>
          </a:xfrm>
          <a:prstGeom prst="rect">
            <a:avLst/>
          </a:prstGeom>
          <a:noFill/>
          <a:ln/>
        </p:spPr>
        <p:txBody>
          <a:bodyPr wrap="square" rtlCol="0" anchor="ctr"/>
          <a:lstStyle/>
          <a:p>
            <a:pPr algn="ctr" indent="0" marL="0">
              <a:buNone/>
            </a:pPr>
            <a:r>
              <a:rPr lang="en-US" altLang="en-US" sz="1400" dirty="0">
                <a:solidFill>
                  <a:srgbClr val="E3C278"/>
                </a:solidFill>
              </a:rPr>
              <a:t>Omar Khamis Library for SketchUp</a:t>
            </a:r>
            <a:endParaRPr lang="en-US"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A0522D"/>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Summary: Architecture for the Poor — Hassan Fathy</dc:title>
  <dc:subject>PptxGenJS Presentation</dc:subject>
  <dc:creator>Eng. Omar Khamis</dc:creator>
  <cp:lastModifiedBy>Eng. Omar Khamis</cp:lastModifiedBy>
  <cp:revision>1</cp:revision>
  <dcterms:created xsi:type="dcterms:W3CDTF">2026-10-15T12:37:12Z</dcterms:created>
  <dcterms:modified xsi:type="dcterms:W3CDTF">2026-10-15T12:37:12Z</dcterms:modified>
</cp:coreProperties>
</file>