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0f5be9c-6ba8-fc3a-9af3-952afba02720}">
          <p14:sldIdLst>
            <p14:sldId id="256"/>
          </p14:sldIdLst>
        </p14:section>
        <p14:section name="Contents" id="{7654e529-0d6c-b889-516e-485d6e50567b}">
          <p14:sldIdLst>
            <p14:sldId id="257"/>
          </p14:sldIdLst>
        </p14:section>
        <p14:section name="Summary" id="{5a01b640-d8ad-0ca0-e789-935e80f4e40c}">
          <p14:sldIdLst>
            <p14:sldId id="258"/>
            <p14:sldId id="259"/>
            <p14:sldId id="260"/>
            <p14:sldId id="261"/>
            <p14:sldId id="262"/>
            <p14:sldId id="263"/>
            <p14:sldId id="264"/>
            <p14:sldId id="265"/>
            <p14:sldId id="266"/>
            <p14:sldId id="267"/>
            <p14:sldId id="268"/>
            <p14:sldId id="269"/>
            <p14:sldId id="270"/>
            <p14:sldId id="271"/>
            <p14:sldId id="272"/>
          </p14:sldIdLst>
        </p14:section>
        <p14:section name="Closing" id="{c054fa86-fbd6-d157-440d-9c20ccbb1f42}">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BIM Handbook by Rafael Sacks, Chuck Eastman, Ghang Lee and Paul Teicholz (3rd edition, 2018) is the most complete academic and professional reference on Building Information Modelling. It explains BIM from the point of view of every party: owner, designer, contractor, fabricator and facility manager, and ends with case studies of real projects.
The idea in one sentence
BIM is not software — it is a way of working: one digital model holding geometry (3D) and data (materials, quantities, cost, time, maintenance) that everyone works on and uses over the building's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Maturity levels
Level 0: paper or CAD without coordination.
Level 1: 2D/3D CAD with file-exchange standards.
Level 2: a model per discipline exchanged in a common data environment (CDE) — the level most large public projects require.
Level 3: a fully integrated shared model (full openBIM).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Elements are defined by rules and relationships: a window is "hosted" in a wall and moves with it; a slab sits on its level.
Change the storey height and walls, stairs and columns adjust themselves.
Revit families are the practical form: a door with width, height and frame type as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IFC is an open international format (ISO 16739) for exchanging models between tools.
openBIM means a project is not locked into one program.
Not everything transfers perfectly: complex families and custom parameters can be lost — run an exchange test early.
COBie: a spreadsheet format for handing over operation and maintenance data.
Agreements to make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Better early decisions: design options with cost and energy performance before money is spent.
Cost and schedule control: 4D and 5D models.
Digital handover: an as-built model with equipment data for maintenance.
The owner's role is to state requirements in Employer's/Owner's Information Requirements (EIR / OIR)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Conceptual design with masses, area, energy and solar analysis.
Coordinating disciplines: architecture, structure and MEP in linked models.
Sheets and schedules generated from the model (doors, windows, finishes, rooms).
Libraries and templates: the basis of an office's speed and quality.
Practical office tips
Build an office template with wall, floor and ceiling types, line styles and schedules.
Keep an approved family library instead of everyone making their own.
Set the level of detail for each stage so models do not grow heavy for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Quantity take-off from the model (concrete, masonry, tiles, paint).
4D: linking elements to the programme and simulating construction stages.
5D: linking quantities to rates and updating cost with every change.
Site planning: cranes, vehicle routes, laydown areas.
Shop drawings directly from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 steel, façades, ductwork and built-in joinery are made directly from the model (CNC and automatic cutting).
Higher accuracy, less waste, faster installation on site.
Prefabrication and modular units are easier with BIM.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Combine discipline models in a coordination model (Navisworks, Solibri or similar).
Clash types: hard (pipe through beam), clearance (maintenance or insulation space), time (construction sequence).
Build a test matrix: architecture × structure, structure × mechanical, mechanical × electrical...
A weekly coordination meeting, with an owner and due date for every clash.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CDE = one place for files with states: work in progress → shared → published → archived.
The international standard ISO 19650 sets out information management for BIM projects.
Every file has a standard name, revision and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usually contains:
The project's BIM goals (take-off? coordination? 4D? handover to FM?).
Parties and roles (BIM manager, coordinator, modellers).
Software, versions and exchange formats.
LOD per stage and per element.
Coordinates, units and naming.
Model exchange schedule and coordination meetings.
Model quality checking.
Final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Up-front cost: licences, hardware, training.
Culture change: the work moves from "drawing" to "building a model".
IP and liability: who is responsible for the model? Set it in the contract.
A plan to move an office to BIM
A small pilot project.
An office template and family library.
Staged team training.
Record lessons learned and roll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Successful projects set clear BIM goals from the start.
Early contractor involvement reduces clashes and changes.
Prefabrication saved a lot of time on complex projects.
A handover model only helps the owner if it holds the data actually needed for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BIM = model + information + collaboration, not a program.
Agree coordinates, units, naming and LOD on day one.
A clash on screen is far cheaper than a clash on site.
Start with a pilot and build an office template and library.
Hand the owner an as-built model with maintenance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K_TITLE">
    <p:bg>
      <p:bgPr>
        <a:solidFill>
          <a:srgbClr val="2B26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lstStyle>
            <a:lvl1pPr algn="ctr" indent="0" marL="0">
              <a:buNone/>
              <a:defRPr lang="en-US" sz="4000" b="1" dirty="0">
                <a:solidFill>
                  <a:srgbClr val="FFFFFF"/>
                </a:solidFill>
              </a:defRPr>
            </a:lvl1pPr>
          </a:lstStyle>
          <a:p>
            <a:pPr algn="ctr" indent="0" marL="0">
              <a:buNone/>
            </a:pP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lvl1pPr algn="ctr" indent="0" marL="0">
              <a:buNone/>
              <a:defRPr lang="en-US" sz="1800" dirty="0">
                <a:solidFill>
                  <a:srgbClr val="E3C278"/>
                </a:solidFill>
              </a:defRPr>
            </a:lvl1pPr>
          </a:lstStyle>
          <a:p>
            <a:pPr algn="ct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K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000" b="1" dirty="0">
                <a:solidFill>
                  <a:srgbClr val="2B2620"/>
                </a:solidFill>
              </a:defRPr>
            </a:lvl1pPr>
          </a:lstStyle>
          <a:p>
            <a:pPr algn="l" indent="0" marL="0">
              <a:buNone/>
            </a:pPr>
            <a:endParaRPr lang="en-US" sz="3000" dirty="0"/>
          </a:p>
        </p:txBody>
      </p:sp>
      <p:sp>
        <p:nvSpPr>
          <p:cNvPr id="3" name="Text 0"/>
          <p:cNvSpPr/>
          <p:nvPr/>
        </p:nvSpPr>
        <p:spPr>
          <a:xfrm>
            <a:off x="548640" y="6400800"/>
            <a:ext cx="7315200" cy="320040"/>
          </a:xfrm>
          <a:prstGeom prst="rect">
            <a:avLst/>
          </a:prstGeom>
          <a:noFill/>
          <a:ln/>
        </p:spPr>
        <p:txBody>
          <a:bodyPr wrap="square" rtlCol="0" anchor="ctr"/>
          <a:lstStyle/>
          <a:p>
            <a:pPr algn="l" indent="0" marL="0">
              <a:buNone/>
            </a:pPr>
            <a:r>
              <a:rPr lang="en-US" altLang="en-US" sz="1000" dirty="0">
                <a:solidFill>
                  <a:srgbClr val="8A7E6A"/>
                </a:solidFill>
              </a:rPr>
              <a:t>Summary by Eng. Omar Khamis  —  +20 100 543 3170</a:t>
            </a:r>
            <a:endParaRPr lang="en-US" sz="10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algn="ctr" indent="0" marL="0">
              <a:buNone/>
            </a:pPr>
            <a:r>
              <a:rPr lang="en-US" altLang="en-US" sz="4000" b="1" dirty="0">
                <a:solidFill>
                  <a:srgbClr val="FFFFFF"/>
                </a:solidFill>
              </a:rPr>
              <a:t>Summary: BIM Handbook</a:t>
            </a: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algn="ctr" indent="0" marL="0">
              <a:buNone/>
            </a:pPr>
            <a:r>
              <a:rPr lang="en-US" altLang="en-US" sz="1800" dirty="0">
                <a:solidFill>
                  <a:srgbClr val="E3C278"/>
                </a:solidFill>
              </a:rPr>
              <a:t>Summary by Eng. Omar Khamis  •  Omar Khamis Library — 2026</a:t>
            </a:r>
            <a:endParaRPr lang="en-US" sz="1800" dirty="0"/>
          </a:p>
        </p:txBody>
      </p:sp>
      <p:sp>
        <p:nvSpPr>
          <p:cNvPr id="4" name="logo-circle"/>
          <p:cNvSpPr/>
          <p:nvPr/>
        </p:nvSpPr>
        <p:spPr>
          <a:xfrm>
            <a:off x="5592928" y="731520"/>
            <a:ext cx="1005840" cy="1005840"/>
          </a:xfrm>
          <a:prstGeom prst="ellipse">
            <a:avLst/>
          </a:prstGeom>
          <a:solidFill>
            <a:srgbClr val="C9A24A"/>
          </a:solidFill>
          <a:ln/>
        </p:spPr>
      </p:sp>
      <p:sp>
        <p:nvSpPr>
          <p:cNvPr id="5" name="logo"/>
          <p:cNvSpPr txBox="1"/>
          <p:nvPr/>
        </p:nvSpPr>
        <p:spPr>
          <a:xfrm>
            <a:off x="5592928" y="731520"/>
            <a:ext cx="1005840" cy="1005840"/>
          </a:xfrm>
          <a:prstGeom prst="rect">
            <a:avLst/>
          </a:prstGeom>
          <a:noFill/>
          <a:ln/>
        </p:spPr>
        <p:txBody>
          <a:bodyPr wrap="square" rtlCol="0" anchor="ctr"/>
          <a:lstStyle/>
          <a:p>
            <a:pPr algn="ctr" indent="0" marL="0">
              <a:buNone/>
            </a:pPr>
            <a:r>
              <a:rPr lang="en-US" sz="2800" b="1" dirty="0">
                <a:solidFill>
                  <a:srgbClr val="2B2620"/>
                </a:solidFill>
              </a:rPr>
              <a:t>OK</a:t>
            </a:r>
            <a:endParaRPr lang="en-US" sz="2800" dirty="0"/>
          </a:p>
        </p:txBody>
      </p:sp>
      <p:sp>
        <p:nvSpPr>
          <p:cNvPr id="6" name="Text 4"/>
          <p:cNvSpPr txBox="1"/>
          <p:nvPr/>
        </p:nvSpPr>
        <p:spPr>
          <a:xfrm>
            <a:off x="914400" y="5760720"/>
            <a:ext cx="10362895" cy="457200"/>
          </a:xfrm>
          <a:prstGeom prst="rect">
            <a:avLst/>
          </a:prstGeom>
          <a:noFill/>
          <a:ln/>
        </p:spPr>
        <p:txBody>
          <a:bodyPr wrap="square" rtlCol="0" anchor="ctr"/>
          <a:lstStyle/>
          <a:p>
            <a:pPr algn="ctr" indent="0" marL="0">
              <a:buNone/>
            </a:pPr>
            <a:r>
              <a:rPr lang="en-US" altLang="en-US" sz="1200" dirty="0">
                <a:solidFill>
                  <a:srgbClr val="B9AE97"/>
                </a:solidFill>
              </a:rPr>
              <a:t>A learning summary — not a substitute for the original book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What this deck covers</a:t>
            </a:r>
            <a:endParaRPr lang="en-US" sz="3000" dirty="0"/>
          </a:p>
        </p:txBody>
      </p:sp>
      <p:sp>
        <p:nvSpPr>
          <p:cNvPr id="3" name="n1"/>
          <p:cNvSpPr/>
          <p:nvPr/>
        </p:nvSpPr>
        <p:spPr>
          <a:xfrm>
            <a:off x="548640" y="1362456"/>
            <a:ext cx="384048" cy="384048"/>
          </a:xfrm>
          <a:prstGeom prst="ellipse">
            <a:avLst/>
          </a:prstGeom>
          <a:solidFill>
            <a:schemeClr val="accent1"/>
          </a:solidFill>
          <a:ln/>
        </p:spPr>
      </p:sp>
      <p:sp>
        <p:nvSpPr>
          <p:cNvPr id="4" name="Text 2"/>
          <p:cNvSpPr txBox="1"/>
          <p:nvPr/>
        </p:nvSpPr>
        <p:spPr>
          <a:xfrm>
            <a:off x="548640"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51560" y="1325880"/>
            <a:ext cx="4907128" cy="457200"/>
          </a:xfrm>
          <a:prstGeom prst="rect">
            <a:avLst/>
          </a:prstGeom>
          <a:noFill/>
          <a:ln/>
        </p:spPr>
        <p:txBody>
          <a:bodyPr wrap="square" rtlCol="0" anchor="ctr"/>
          <a:lstStyle/>
          <a:p>
            <a:pPr algn="l" indent="0" marL="0">
              <a:buNone/>
            </a:pPr>
            <a:r>
              <a:rPr lang="en-US" altLang="en-US" sz="1500" dirty="0">
                <a:solidFill>
                  <a:schemeClr val="tx1"/>
                </a:solidFill>
              </a:rPr>
              <a:t>Introduction: why the BIM Handbook?</a:t>
            </a:r>
            <a:endParaRPr lang="en-US" sz="1500" dirty="0"/>
          </a:p>
        </p:txBody>
      </p:sp>
      <p:sp>
        <p:nvSpPr>
          <p:cNvPr id="6" name="n2"/>
          <p:cNvSpPr/>
          <p:nvPr/>
        </p:nvSpPr>
        <p:spPr>
          <a:xfrm>
            <a:off x="548640" y="1874520"/>
            <a:ext cx="384048" cy="384048"/>
          </a:xfrm>
          <a:prstGeom prst="ellipse">
            <a:avLst/>
          </a:prstGeom>
          <a:solidFill>
            <a:schemeClr val="accent1"/>
          </a:solidFill>
          <a:ln/>
        </p:spPr>
      </p:sp>
      <p:sp>
        <p:nvSpPr>
          <p:cNvPr id="7" name="Text 5"/>
          <p:cNvSpPr txBox="1"/>
          <p:nvPr/>
        </p:nvSpPr>
        <p:spPr>
          <a:xfrm>
            <a:off x="54864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51560" y="1837944"/>
            <a:ext cx="4907128" cy="457200"/>
          </a:xfrm>
          <a:prstGeom prst="rect">
            <a:avLst/>
          </a:prstGeom>
          <a:noFill/>
          <a:ln/>
        </p:spPr>
        <p:txBody>
          <a:bodyPr wrap="square" rtlCol="0" anchor="ctr"/>
          <a:lstStyle/>
          <a:p>
            <a:pPr algn="l" indent="0" marL="0">
              <a:buNone/>
            </a:pPr>
            <a:r>
              <a:rPr lang="en-US" altLang="en-US" sz="1500" dirty="0">
                <a:solidFill>
                  <a:schemeClr val="tx1"/>
                </a:solidFill>
              </a:rPr>
              <a:t>From drawings to a model</a:t>
            </a:r>
            <a:endParaRPr lang="en-US" sz="1500" dirty="0"/>
          </a:p>
        </p:txBody>
      </p:sp>
      <p:sp>
        <p:nvSpPr>
          <p:cNvPr id="9" name="n3"/>
          <p:cNvSpPr/>
          <p:nvPr/>
        </p:nvSpPr>
        <p:spPr>
          <a:xfrm>
            <a:off x="548640" y="2386584"/>
            <a:ext cx="384048" cy="384048"/>
          </a:xfrm>
          <a:prstGeom prst="ellipse">
            <a:avLst/>
          </a:prstGeom>
          <a:solidFill>
            <a:schemeClr val="accent1"/>
          </a:solidFill>
          <a:ln/>
        </p:spPr>
      </p:sp>
      <p:sp>
        <p:nvSpPr>
          <p:cNvPr id="10" name="Text 8"/>
          <p:cNvSpPr txBox="1"/>
          <p:nvPr/>
        </p:nvSpPr>
        <p:spPr>
          <a:xfrm>
            <a:off x="548640"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51560" y="2350008"/>
            <a:ext cx="4907128" cy="457200"/>
          </a:xfrm>
          <a:prstGeom prst="rect">
            <a:avLst/>
          </a:prstGeom>
          <a:noFill/>
          <a:ln/>
        </p:spPr>
        <p:txBody>
          <a:bodyPr wrap="square" rtlCol="0" anchor="ctr"/>
          <a:lstStyle/>
          <a:p>
            <a:pPr algn="l" indent="0" marL="0">
              <a:buNone/>
            </a:pPr>
            <a:r>
              <a:rPr lang="en-US" altLang="en-US" sz="1500" dirty="0">
                <a:solidFill>
                  <a:schemeClr val="tx1"/>
                </a:solidFill>
              </a:rPr>
              <a:t>Parametric modelling</a:t>
            </a:r>
            <a:endParaRPr lang="en-US" sz="1500" dirty="0"/>
          </a:p>
        </p:txBody>
      </p:sp>
      <p:sp>
        <p:nvSpPr>
          <p:cNvPr id="12" name="n4"/>
          <p:cNvSpPr/>
          <p:nvPr/>
        </p:nvSpPr>
        <p:spPr>
          <a:xfrm>
            <a:off x="548640" y="2898648"/>
            <a:ext cx="384048" cy="384048"/>
          </a:xfrm>
          <a:prstGeom prst="ellipse">
            <a:avLst/>
          </a:prstGeom>
          <a:solidFill>
            <a:schemeClr val="accent1"/>
          </a:solidFill>
          <a:ln/>
        </p:spPr>
      </p:sp>
      <p:sp>
        <p:nvSpPr>
          <p:cNvPr id="13" name="Text 11"/>
          <p:cNvSpPr txBox="1"/>
          <p:nvPr/>
        </p:nvSpPr>
        <p:spPr>
          <a:xfrm>
            <a:off x="548640"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51560" y="2862072"/>
            <a:ext cx="4907128" cy="457200"/>
          </a:xfrm>
          <a:prstGeom prst="rect">
            <a:avLst/>
          </a:prstGeom>
          <a:noFill/>
          <a:ln/>
        </p:spPr>
        <p:txBody>
          <a:bodyPr wrap="square" rtlCol="0" anchor="ctr"/>
          <a:lstStyle/>
          <a:p>
            <a:pPr algn="l" indent="0" marL="0">
              <a:buNone/>
            </a:pPr>
            <a:r>
              <a:rPr lang="en-US" altLang="en-US" sz="1500" dirty="0">
                <a:solidFill>
                  <a:schemeClr val="tx1"/>
                </a:solidFill>
              </a:rPr>
              <a:t>Interoperability (IFC and openBIM)</a:t>
            </a:r>
            <a:endParaRPr lang="en-US" sz="1500" dirty="0"/>
          </a:p>
        </p:txBody>
      </p:sp>
      <p:sp>
        <p:nvSpPr>
          <p:cNvPr id="15" name="n5"/>
          <p:cNvSpPr/>
          <p:nvPr/>
        </p:nvSpPr>
        <p:spPr>
          <a:xfrm>
            <a:off x="548640" y="3410712"/>
            <a:ext cx="384048" cy="384048"/>
          </a:xfrm>
          <a:prstGeom prst="ellipse">
            <a:avLst/>
          </a:prstGeom>
          <a:solidFill>
            <a:schemeClr val="accent1"/>
          </a:solidFill>
          <a:ln/>
        </p:spPr>
      </p:sp>
      <p:sp>
        <p:nvSpPr>
          <p:cNvPr id="16" name="Text 14"/>
          <p:cNvSpPr txBox="1"/>
          <p:nvPr/>
        </p:nvSpPr>
        <p:spPr>
          <a:xfrm>
            <a:off x="548640"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51560" y="3374136"/>
            <a:ext cx="4907128" cy="457200"/>
          </a:xfrm>
          <a:prstGeom prst="rect">
            <a:avLst/>
          </a:prstGeom>
          <a:noFill/>
          <a:ln/>
        </p:spPr>
        <p:txBody>
          <a:bodyPr wrap="square" rtlCol="0" anchor="ctr"/>
          <a:lstStyle/>
          <a:p>
            <a:pPr algn="l" indent="0" marL="0">
              <a:buNone/>
            </a:pPr>
            <a:r>
              <a:rPr lang="en-US" altLang="en-US" sz="1500" dirty="0">
                <a:solidFill>
                  <a:schemeClr val="tx1"/>
                </a:solidFill>
              </a:rPr>
              <a:t>BIM for owners</a:t>
            </a:r>
            <a:endParaRPr lang="en-US" sz="1500" dirty="0"/>
          </a:p>
        </p:txBody>
      </p:sp>
      <p:sp>
        <p:nvSpPr>
          <p:cNvPr id="18" name="n6"/>
          <p:cNvSpPr/>
          <p:nvPr/>
        </p:nvSpPr>
        <p:spPr>
          <a:xfrm>
            <a:off x="548640" y="3922776"/>
            <a:ext cx="384048" cy="384048"/>
          </a:xfrm>
          <a:prstGeom prst="ellipse">
            <a:avLst/>
          </a:prstGeom>
          <a:solidFill>
            <a:schemeClr val="accent1"/>
          </a:solidFill>
          <a:ln/>
        </p:spPr>
      </p:sp>
      <p:sp>
        <p:nvSpPr>
          <p:cNvPr id="19" name="Text 17"/>
          <p:cNvSpPr txBox="1"/>
          <p:nvPr/>
        </p:nvSpPr>
        <p:spPr>
          <a:xfrm>
            <a:off x="548640"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51560" y="3886200"/>
            <a:ext cx="4907128" cy="457200"/>
          </a:xfrm>
          <a:prstGeom prst="rect">
            <a:avLst/>
          </a:prstGeom>
          <a:noFill/>
          <a:ln/>
        </p:spPr>
        <p:txBody>
          <a:bodyPr wrap="square" rtlCol="0" anchor="ctr"/>
          <a:lstStyle/>
          <a:p>
            <a:pPr algn="l" indent="0" marL="0">
              <a:buNone/>
            </a:pPr>
            <a:r>
              <a:rPr lang="en-US" altLang="en-US" sz="1500" dirty="0">
                <a:solidFill>
                  <a:schemeClr val="tx1"/>
                </a:solidFill>
              </a:rPr>
              <a:t>BIM for designers</a:t>
            </a:r>
            <a:endParaRPr lang="en-US" sz="1500" dirty="0"/>
          </a:p>
        </p:txBody>
      </p:sp>
      <p:sp>
        <p:nvSpPr>
          <p:cNvPr id="21" name="n7"/>
          <p:cNvSpPr/>
          <p:nvPr/>
        </p:nvSpPr>
        <p:spPr>
          <a:xfrm>
            <a:off x="548640" y="4434840"/>
            <a:ext cx="384048" cy="384048"/>
          </a:xfrm>
          <a:prstGeom prst="ellipse">
            <a:avLst/>
          </a:prstGeom>
          <a:solidFill>
            <a:schemeClr val="accent1"/>
          </a:solidFill>
          <a:ln/>
        </p:spPr>
      </p:sp>
      <p:sp>
        <p:nvSpPr>
          <p:cNvPr id="22" name="Text 20"/>
          <p:cNvSpPr txBox="1"/>
          <p:nvPr/>
        </p:nvSpPr>
        <p:spPr>
          <a:xfrm>
            <a:off x="548640" y="4434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1051560" y="4398264"/>
            <a:ext cx="4907128" cy="457200"/>
          </a:xfrm>
          <a:prstGeom prst="rect">
            <a:avLst/>
          </a:prstGeom>
          <a:noFill/>
          <a:ln/>
        </p:spPr>
        <p:txBody>
          <a:bodyPr wrap="square" rtlCol="0" anchor="ctr"/>
          <a:lstStyle/>
          <a:p>
            <a:pPr algn="l" indent="0" marL="0">
              <a:buNone/>
            </a:pPr>
            <a:r>
              <a:rPr lang="en-US" altLang="en-US" sz="1500" dirty="0">
                <a:solidFill>
                  <a:schemeClr val="tx1"/>
                </a:solidFill>
              </a:rPr>
              <a:t>BIM for contractors</a:t>
            </a:r>
            <a:endParaRPr lang="en-US" sz="1500" dirty="0"/>
          </a:p>
        </p:txBody>
      </p:sp>
      <p:sp>
        <p:nvSpPr>
          <p:cNvPr id="24" name="n8"/>
          <p:cNvSpPr/>
          <p:nvPr/>
        </p:nvSpPr>
        <p:spPr>
          <a:xfrm>
            <a:off x="548640" y="4946904"/>
            <a:ext cx="384048" cy="384048"/>
          </a:xfrm>
          <a:prstGeom prst="ellipse">
            <a:avLst/>
          </a:prstGeom>
          <a:solidFill>
            <a:schemeClr val="accent1"/>
          </a:solidFill>
          <a:ln/>
        </p:spPr>
      </p:sp>
      <p:sp>
        <p:nvSpPr>
          <p:cNvPr id="25" name="Text 23"/>
          <p:cNvSpPr txBox="1"/>
          <p:nvPr/>
        </p:nvSpPr>
        <p:spPr>
          <a:xfrm>
            <a:off x="548640" y="4946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1051560" y="4910328"/>
            <a:ext cx="4907128" cy="457200"/>
          </a:xfrm>
          <a:prstGeom prst="rect">
            <a:avLst/>
          </a:prstGeom>
          <a:noFill/>
          <a:ln/>
        </p:spPr>
        <p:txBody>
          <a:bodyPr wrap="square" rtlCol="0" anchor="ctr"/>
          <a:lstStyle/>
          <a:p>
            <a:pPr algn="l" indent="0" marL="0">
              <a:buNone/>
            </a:pPr>
            <a:r>
              <a:rPr lang="en-US" altLang="en-US" sz="1500" dirty="0">
                <a:solidFill>
                  <a:schemeClr val="tx1"/>
                </a:solidFill>
              </a:rPr>
              <a:t>BIM for fabricators and suppliers</a:t>
            </a:r>
            <a:endParaRPr lang="en-US" sz="1500" dirty="0"/>
          </a:p>
        </p:txBody>
      </p:sp>
      <p:sp>
        <p:nvSpPr>
          <p:cNvPr id="27" name="n9"/>
          <p:cNvSpPr/>
          <p:nvPr/>
        </p:nvSpPr>
        <p:spPr>
          <a:xfrm>
            <a:off x="6187288" y="1362456"/>
            <a:ext cx="384048" cy="384048"/>
          </a:xfrm>
          <a:prstGeom prst="ellipse">
            <a:avLst/>
          </a:prstGeom>
          <a:solidFill>
            <a:schemeClr val="accent1"/>
          </a:solidFill>
          <a:ln/>
        </p:spPr>
      </p:sp>
      <p:sp>
        <p:nvSpPr>
          <p:cNvPr id="28" name="Text 26"/>
          <p:cNvSpPr txBox="1"/>
          <p:nvPr/>
        </p:nvSpPr>
        <p:spPr>
          <a:xfrm>
            <a:off x="6187288"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9</a:t>
            </a:r>
            <a:endParaRPr lang="en-US" sz="1300" dirty="0"/>
          </a:p>
        </p:txBody>
      </p:sp>
      <p:sp>
        <p:nvSpPr>
          <p:cNvPr id="29" name="Text 27"/>
          <p:cNvSpPr txBox="1"/>
          <p:nvPr/>
        </p:nvSpPr>
        <p:spPr>
          <a:xfrm>
            <a:off x="6690208" y="1325880"/>
            <a:ext cx="4907128" cy="457200"/>
          </a:xfrm>
          <a:prstGeom prst="rect">
            <a:avLst/>
          </a:prstGeom>
          <a:noFill/>
          <a:ln/>
        </p:spPr>
        <p:txBody>
          <a:bodyPr wrap="square" rtlCol="0" anchor="ctr"/>
          <a:lstStyle/>
          <a:p>
            <a:pPr algn="l" indent="0" marL="0">
              <a:buNone/>
            </a:pPr>
            <a:r>
              <a:rPr lang="en-US" altLang="en-US" sz="1500" dirty="0">
                <a:solidFill>
                  <a:schemeClr val="tx1"/>
                </a:solidFill>
              </a:rPr>
              <a:t>Level of Development (LOD)</a:t>
            </a:r>
            <a:endParaRPr lang="en-US" sz="1500" dirty="0"/>
          </a:p>
        </p:txBody>
      </p:sp>
      <p:sp>
        <p:nvSpPr>
          <p:cNvPr id="30" name="n10"/>
          <p:cNvSpPr/>
          <p:nvPr/>
        </p:nvSpPr>
        <p:spPr>
          <a:xfrm>
            <a:off x="6187288" y="1874520"/>
            <a:ext cx="384048" cy="384048"/>
          </a:xfrm>
          <a:prstGeom prst="ellipse">
            <a:avLst/>
          </a:prstGeom>
          <a:solidFill>
            <a:schemeClr val="accent1"/>
          </a:solidFill>
          <a:ln/>
        </p:spPr>
      </p:sp>
      <p:sp>
        <p:nvSpPr>
          <p:cNvPr id="31" name="Text 29"/>
          <p:cNvSpPr txBox="1"/>
          <p:nvPr/>
        </p:nvSpPr>
        <p:spPr>
          <a:xfrm>
            <a:off x="6187288"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10</a:t>
            </a:r>
            <a:endParaRPr lang="en-US" sz="1300" dirty="0"/>
          </a:p>
        </p:txBody>
      </p:sp>
      <p:sp>
        <p:nvSpPr>
          <p:cNvPr id="32" name="Text 30"/>
          <p:cNvSpPr txBox="1"/>
          <p:nvPr/>
        </p:nvSpPr>
        <p:spPr>
          <a:xfrm>
            <a:off x="6690208" y="1837944"/>
            <a:ext cx="4907128" cy="457200"/>
          </a:xfrm>
          <a:prstGeom prst="rect">
            <a:avLst/>
          </a:prstGeom>
          <a:noFill/>
          <a:ln/>
        </p:spPr>
        <p:txBody>
          <a:bodyPr wrap="square" rtlCol="0" anchor="ctr"/>
          <a:lstStyle/>
          <a:p>
            <a:pPr algn="l" indent="0" marL="0">
              <a:buNone/>
            </a:pPr>
            <a:r>
              <a:rPr lang="en-US" altLang="en-US" sz="1500" dirty="0">
                <a:solidFill>
                  <a:schemeClr val="tx1"/>
                </a:solidFill>
              </a:rPr>
              <a:t>Clash detection and coordination</a:t>
            </a:r>
            <a:endParaRPr lang="en-US" sz="1500" dirty="0"/>
          </a:p>
        </p:txBody>
      </p:sp>
      <p:sp>
        <p:nvSpPr>
          <p:cNvPr id="33" name="n11"/>
          <p:cNvSpPr/>
          <p:nvPr/>
        </p:nvSpPr>
        <p:spPr>
          <a:xfrm>
            <a:off x="6187288" y="2386584"/>
            <a:ext cx="384048" cy="384048"/>
          </a:xfrm>
          <a:prstGeom prst="ellipse">
            <a:avLst/>
          </a:prstGeom>
          <a:solidFill>
            <a:schemeClr val="accent1"/>
          </a:solidFill>
          <a:ln/>
        </p:spPr>
      </p:sp>
      <p:sp>
        <p:nvSpPr>
          <p:cNvPr id="34" name="Text 32"/>
          <p:cNvSpPr txBox="1"/>
          <p:nvPr/>
        </p:nvSpPr>
        <p:spPr>
          <a:xfrm>
            <a:off x="6187288"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11</a:t>
            </a:r>
            <a:endParaRPr lang="en-US" sz="1300" dirty="0"/>
          </a:p>
        </p:txBody>
      </p:sp>
      <p:sp>
        <p:nvSpPr>
          <p:cNvPr id="35" name="Text 33"/>
          <p:cNvSpPr txBox="1"/>
          <p:nvPr/>
        </p:nvSpPr>
        <p:spPr>
          <a:xfrm>
            <a:off x="6690208" y="2350008"/>
            <a:ext cx="4907128" cy="457200"/>
          </a:xfrm>
          <a:prstGeom prst="rect">
            <a:avLst/>
          </a:prstGeom>
          <a:noFill/>
          <a:ln/>
        </p:spPr>
        <p:txBody>
          <a:bodyPr wrap="square" rtlCol="0" anchor="ctr"/>
          <a:lstStyle/>
          <a:p>
            <a:pPr algn="l" indent="0" marL="0">
              <a:buNone/>
            </a:pPr>
            <a:r>
              <a:rPr lang="en-US" altLang="en-US" sz="1500" dirty="0">
                <a:solidFill>
                  <a:schemeClr val="tx1"/>
                </a:solidFill>
              </a:rPr>
              <a:t>Common data environment (CDE) and workflow</a:t>
            </a:r>
            <a:endParaRPr lang="en-US" sz="1500" dirty="0"/>
          </a:p>
        </p:txBody>
      </p:sp>
      <p:sp>
        <p:nvSpPr>
          <p:cNvPr id="36" name="n12"/>
          <p:cNvSpPr/>
          <p:nvPr/>
        </p:nvSpPr>
        <p:spPr>
          <a:xfrm>
            <a:off x="6187288" y="2898648"/>
            <a:ext cx="384048" cy="384048"/>
          </a:xfrm>
          <a:prstGeom prst="ellipse">
            <a:avLst/>
          </a:prstGeom>
          <a:solidFill>
            <a:schemeClr val="accent1"/>
          </a:solidFill>
          <a:ln/>
        </p:spPr>
      </p:sp>
      <p:sp>
        <p:nvSpPr>
          <p:cNvPr id="37" name="Text 35"/>
          <p:cNvSpPr txBox="1"/>
          <p:nvPr/>
        </p:nvSpPr>
        <p:spPr>
          <a:xfrm>
            <a:off x="6187288"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12</a:t>
            </a:r>
            <a:endParaRPr lang="en-US" sz="1300" dirty="0"/>
          </a:p>
        </p:txBody>
      </p:sp>
      <p:sp>
        <p:nvSpPr>
          <p:cNvPr id="38" name="Text 36"/>
          <p:cNvSpPr txBox="1"/>
          <p:nvPr/>
        </p:nvSpPr>
        <p:spPr>
          <a:xfrm>
            <a:off x="6690208" y="2862072"/>
            <a:ext cx="4907128" cy="457200"/>
          </a:xfrm>
          <a:prstGeom prst="rect">
            <a:avLst/>
          </a:prstGeom>
          <a:noFill/>
          <a:ln/>
        </p:spPr>
        <p:txBody>
          <a:bodyPr wrap="square" rtlCol="0" anchor="ctr"/>
          <a:lstStyle/>
          <a:p>
            <a:pPr algn="l" indent="0" marL="0">
              <a:buNone/>
            </a:pPr>
            <a:r>
              <a:rPr lang="en-US" altLang="en-US" sz="1500" dirty="0">
                <a:solidFill>
                  <a:schemeClr val="tx1"/>
                </a:solidFill>
              </a:rPr>
              <a:t>The BIM Execution Plan (BEP)</a:t>
            </a:r>
            <a:endParaRPr lang="en-US" sz="1500" dirty="0"/>
          </a:p>
        </p:txBody>
      </p:sp>
      <p:sp>
        <p:nvSpPr>
          <p:cNvPr id="39" name="n13"/>
          <p:cNvSpPr/>
          <p:nvPr/>
        </p:nvSpPr>
        <p:spPr>
          <a:xfrm>
            <a:off x="6187288" y="3410712"/>
            <a:ext cx="384048" cy="384048"/>
          </a:xfrm>
          <a:prstGeom prst="ellipse">
            <a:avLst/>
          </a:prstGeom>
          <a:solidFill>
            <a:schemeClr val="accent1"/>
          </a:solidFill>
          <a:ln/>
        </p:spPr>
      </p:sp>
      <p:sp>
        <p:nvSpPr>
          <p:cNvPr id="40" name="Text 38"/>
          <p:cNvSpPr txBox="1"/>
          <p:nvPr/>
        </p:nvSpPr>
        <p:spPr>
          <a:xfrm>
            <a:off x="6187288"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13</a:t>
            </a:r>
            <a:endParaRPr lang="en-US" sz="1300" dirty="0"/>
          </a:p>
        </p:txBody>
      </p:sp>
      <p:sp>
        <p:nvSpPr>
          <p:cNvPr id="41" name="Text 39"/>
          <p:cNvSpPr txBox="1"/>
          <p:nvPr/>
        </p:nvSpPr>
        <p:spPr>
          <a:xfrm>
            <a:off x="6690208" y="3374136"/>
            <a:ext cx="4907128" cy="457200"/>
          </a:xfrm>
          <a:prstGeom prst="rect">
            <a:avLst/>
          </a:prstGeom>
          <a:noFill/>
          <a:ln/>
        </p:spPr>
        <p:txBody>
          <a:bodyPr wrap="square" rtlCol="0" anchor="ctr"/>
          <a:lstStyle/>
          <a:p>
            <a:pPr algn="l" indent="0" marL="0">
              <a:buNone/>
            </a:pPr>
            <a:r>
              <a:rPr lang="en-US" altLang="en-US" sz="1500" dirty="0">
                <a:solidFill>
                  <a:schemeClr val="tx1"/>
                </a:solidFill>
              </a:rPr>
              <a:t>Challenges and adoption in an office</a:t>
            </a:r>
            <a:endParaRPr lang="en-US" sz="1500" dirty="0"/>
          </a:p>
        </p:txBody>
      </p:sp>
      <p:sp>
        <p:nvSpPr>
          <p:cNvPr id="42" name="n14"/>
          <p:cNvSpPr/>
          <p:nvPr/>
        </p:nvSpPr>
        <p:spPr>
          <a:xfrm>
            <a:off x="6187288" y="3922776"/>
            <a:ext cx="384048" cy="384048"/>
          </a:xfrm>
          <a:prstGeom prst="ellipse">
            <a:avLst/>
          </a:prstGeom>
          <a:solidFill>
            <a:schemeClr val="accent1"/>
          </a:solidFill>
          <a:ln/>
        </p:spPr>
      </p:sp>
      <p:sp>
        <p:nvSpPr>
          <p:cNvPr id="43" name="Text 41"/>
          <p:cNvSpPr txBox="1"/>
          <p:nvPr/>
        </p:nvSpPr>
        <p:spPr>
          <a:xfrm>
            <a:off x="6187288"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14</a:t>
            </a:r>
            <a:endParaRPr lang="en-US" sz="1300" dirty="0"/>
          </a:p>
        </p:txBody>
      </p:sp>
      <p:sp>
        <p:nvSpPr>
          <p:cNvPr id="44" name="Text 42"/>
          <p:cNvSpPr txBox="1"/>
          <p:nvPr/>
        </p:nvSpPr>
        <p:spPr>
          <a:xfrm>
            <a:off x="6690208" y="3886200"/>
            <a:ext cx="4907128" cy="457200"/>
          </a:xfrm>
          <a:prstGeom prst="rect">
            <a:avLst/>
          </a:prstGeom>
          <a:noFill/>
          <a:ln/>
        </p:spPr>
        <p:txBody>
          <a:bodyPr wrap="square" rtlCol="0" anchor="ctr"/>
          <a:lstStyle/>
          <a:p>
            <a:pPr algn="l" indent="0" marL="0">
              <a:buNone/>
            </a:pPr>
            <a:r>
              <a:rPr lang="en-US" altLang="en-US" sz="1500" dirty="0">
                <a:solidFill>
                  <a:schemeClr val="tx1"/>
                </a:solidFill>
              </a:rPr>
              <a:t>Case studies (general lessons)</a:t>
            </a:r>
            <a:endParaRPr lang="en-US" sz="1500" dirty="0"/>
          </a:p>
        </p:txBody>
      </p:sp>
      <p:sp>
        <p:nvSpPr>
          <p:cNvPr id="45" name="n15"/>
          <p:cNvSpPr/>
          <p:nvPr/>
        </p:nvSpPr>
        <p:spPr>
          <a:xfrm>
            <a:off x="6187288" y="4434840"/>
            <a:ext cx="384048" cy="384048"/>
          </a:xfrm>
          <a:prstGeom prst="ellipse">
            <a:avLst/>
          </a:prstGeom>
          <a:solidFill>
            <a:schemeClr val="accent1"/>
          </a:solidFill>
          <a:ln/>
        </p:spPr>
      </p:sp>
      <p:sp>
        <p:nvSpPr>
          <p:cNvPr id="46" name="Text 44"/>
          <p:cNvSpPr txBox="1"/>
          <p:nvPr/>
        </p:nvSpPr>
        <p:spPr>
          <a:xfrm>
            <a:off x="6187288" y="4434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15</a:t>
            </a:r>
            <a:endParaRPr lang="en-US" sz="1300" dirty="0"/>
          </a:p>
        </p:txBody>
      </p:sp>
      <p:sp>
        <p:nvSpPr>
          <p:cNvPr id="47" name="Text 45"/>
          <p:cNvSpPr txBox="1"/>
          <p:nvPr/>
        </p:nvSpPr>
        <p:spPr>
          <a:xfrm>
            <a:off x="6690208" y="4398264"/>
            <a:ext cx="4907128" cy="457200"/>
          </a:xfrm>
          <a:prstGeom prst="rect">
            <a:avLst/>
          </a:prstGeom>
          <a:noFill/>
          <a:ln/>
        </p:spPr>
        <p:txBody>
          <a:bodyPr wrap="square" rtlCol="0" anchor="ctr"/>
          <a:lstStyle/>
          <a:p>
            <a:pPr algn="l" indent="0" marL="0">
              <a:buNone/>
            </a:pPr>
            <a:r>
              <a:rPr lang="en-US" altLang="en-US" sz="1500" dirty="0">
                <a:solidFill>
                  <a:schemeClr val="tx1"/>
                </a:solidFill>
              </a:rPr>
              <a:t>Eng. Omar Khamis's takeaways</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Introduction: why the BIM Handbook?</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dirty="0">
                <a:solidFill>
                  <a:srgbClr val="2B2620"/>
                </a:solidFill>
              </a:rPr>
              <a:t>The BIM Handbook by Rafael Sacks, Chuck Eastman, Ghang Lee and Paul Teicholz (3rd edition, …</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dirty="0">
                <a:solidFill>
                  <a:srgbClr val="2B2620"/>
                </a:solidFill>
              </a:rPr>
              <a:t>BIM is not software — it is </a:t>
            </a:r>
            <a:pPr algn="l" indent="0" marL="0">
              <a:buNone/>
            </a:pPr>
            <a:r>
              <a:rPr lang="en-US" altLang="en-US" sz="1400" b="1" dirty="0">
                <a:solidFill>
                  <a:srgbClr val="2B2620"/>
                </a:solidFill>
              </a:rPr>
              <a:t>a way of working</a:t>
            </a:r>
            <a:pPr algn="l" indent="0" marL="0">
              <a:buNone/>
            </a:pPr>
            <a:r>
              <a:rPr lang="en-US" altLang="en-US" sz="1400" dirty="0">
                <a:solidFill>
                  <a:srgbClr val="2B2620"/>
                </a:solidFill>
              </a:rPr>
              <a:t>: one digital model holding geometry (3D) and data (materials, quantities, cost, time, …</a:t>
            </a:r>
            <a:endParaRPr lang="en-US" sz="1400" dirty="0"/>
          </a:p>
        </p:txBody>
      </p:sp>
      <p:sp>
        <p:nvSpPr>
          <p:cNvPr id="11" name="Text 9"/>
          <p:cNvSpPr txBox="1"/>
          <p:nvPr/>
        </p:nvSpPr>
        <p:spPr>
          <a:xfrm>
            <a:off x="548640" y="5806440"/>
            <a:ext cx="11094415" cy="457200"/>
          </a:xfrm>
          <a:prstGeom prst="rect">
            <a:avLst/>
          </a:prstGeom>
          <a:solidFill>
            <a:srgbClr val="FBF6EA"/>
          </a:solidFill>
          <a:ln/>
        </p:spPr>
        <p:txBody>
          <a:bodyPr wrap="square" rtlCol="0" anchor="ctr"/>
          <a:lstStyle/>
          <a:p>
            <a:pPr algn="l" indent="0" marL="0">
              <a:buNone/>
            </a:pPr>
            <a:r>
              <a:rPr lang="en-US" altLang="en-US" sz="1200" i="1" dirty="0">
                <a:solidFill>
                  <a:srgbClr val="8A5A10"/>
                </a:solidFill>
              </a:rPr>
              <a:t>This summary is written by Eng. Omar Khamis in his own words and linked to day-to-day work in Revit and in offices in Egypt and Saudi Arabia.</a:t>
            </a:r>
            <a:endParaRPr lang="en-US" sz="12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From drawings to a model</a:t>
            </a:r>
            <a:endParaRPr lang="en-US" sz="3000" dirty="0"/>
          </a:p>
        </p:txBody>
      </p:sp>
      <p:sp>
        <p:nvSpPr>
          <p:cNvPr id="3" name="Text 1"/>
          <p:cNvSpPr txBox="1"/>
          <p:nvPr/>
        </p:nvSpPr>
        <p:spPr>
          <a:xfrm>
            <a:off x="548640" y="1280160"/>
            <a:ext cx="11094415" cy="822960"/>
          </a:xfrm>
          <a:prstGeom prst="rect">
            <a:avLst/>
          </a:prstGeom>
          <a:noFill/>
          <a:ln/>
        </p:spPr>
        <p:txBody>
          <a:bodyPr wrap="square" rtlCol="0" anchor="t"/>
          <a:lstStyle/>
          <a:p>
            <a:pPr algn="l" marL="342900" indent="-342900">
              <a:spcAft>
                <a:spcPts val="800"/>
              </a:spcAft>
              <a:buSzPct val="100000"/>
              <a:buChar char="•"/>
            </a:pPr>
            <a:r>
              <a:rPr lang="en-US" altLang="en-US" sz="1400" b="1" dirty="0">
                <a:solidFill>
                  <a:srgbClr val="2B2620"/>
                </a:solidFill>
              </a:rPr>
              <a:t>Level 0</a:t>
            </a:r>
            <a:pPr algn="l" marL="342900" indent="-342900">
              <a:spcAft>
                <a:spcPts val="800"/>
              </a:spcAft>
              <a:buSzPct val="100000"/>
              <a:buChar char="•"/>
            </a:pPr>
            <a:r>
              <a:rPr lang="en-US" altLang="en-US" sz="1400" dirty="0">
                <a:solidFill>
                  <a:srgbClr val="2B2620"/>
                </a:solidFill>
              </a:rPr>
              <a:t>: paper or CAD without coordination.</a:t>
            </a:r>
            <a:endParaRPr lang="en-US" sz="1400" dirty="0"/>
          </a:p>
          <a:p>
            <a:pPr algn="l" marL="342900" indent="-342900">
              <a:spcAft>
                <a:spcPts val="800"/>
              </a:spcAft>
              <a:buSzPct val="100000"/>
              <a:buChar char="•"/>
            </a:pPr>
            <a:r>
              <a:rPr lang="en-US" altLang="en-US" sz="1400" b="1" dirty="0">
                <a:solidFill>
                  <a:srgbClr val="2B2620"/>
                </a:solidFill>
              </a:rPr>
              <a:t>Level 1</a:t>
            </a:r>
            <a:pPr algn="l" marL="342900" indent="-342900">
              <a:spcAft>
                <a:spcPts val="800"/>
              </a:spcAft>
              <a:buSzPct val="100000"/>
              <a:buChar char="•"/>
            </a:pPr>
            <a:r>
              <a:rPr lang="en-US" altLang="en-US" sz="1400" dirty="0">
                <a:solidFill>
                  <a:srgbClr val="2B2620"/>
                </a:solidFill>
              </a:rPr>
              <a:t>: 2D/3D CAD with file-exchange standards.</a:t>
            </a:r>
            <a:endParaRPr lang="en-US" sz="14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algn="l" indent="0" marL="0">
                        <a:buNone/>
                      </a:pPr>
                      <a:r>
                        <a:rPr lang="en-US" altLang="en-US" sz="1300" b="1" dirty="0">
                          <a:solidFill>
                            <a:srgbClr val="FFFFFF"/>
                          </a:solidFill>
                        </a:rPr>
                        <a:t>Traditional drawing (CAD)</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BIM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Lines with no meaning to the software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Smart elements (wall, door, column)</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Every sheet on its own</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All sheets from one model</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Changing the plan does not change the section</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Every change appears on all sheets and schedules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Manual take-off</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Automatic quantities from the model</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Clashes found on site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Clashes found on screen</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Parametric modelling</a:t>
            </a:r>
            <a:endParaRPr lang="en-US" sz="3000" dirty="0"/>
          </a:p>
        </p:txBody>
      </p:sp>
      <p:sp>
        <p:nvSpPr>
          <p:cNvPr id="3" name="figure-frame"/>
          <p:cNvSpPr/>
          <p:nvPr/>
        </p:nvSpPr>
        <p:spPr>
          <a:xfrm>
            <a:off x="6065215" y="1325880"/>
            <a:ext cx="5669280" cy="2560320"/>
          </a:xfrm>
          <a:prstGeom prst="roundRect">
            <a:avLst>
              <a:gd name="adj" fmla="val 3571"/>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2377440"/>
          </a:xfrm>
          <a:prstGeom prst="rect">
            <a:avLst/>
          </a:prstGeom>
        </p:spPr>
      </p:pic>
      <p:sp>
        <p:nvSpPr>
          <p:cNvPr id="5" name="Text 2"/>
          <p:cNvSpPr txBox="1"/>
          <p:nvPr/>
        </p:nvSpPr>
        <p:spPr>
          <a:xfrm>
            <a:off x="6156655" y="3931920"/>
            <a:ext cx="5486400" cy="365760"/>
          </a:xfrm>
          <a:prstGeom prst="rect">
            <a:avLst/>
          </a:prstGeom>
          <a:noFill/>
          <a:ln/>
        </p:spPr>
        <p:txBody>
          <a:bodyPr wrap="square" rtlCol="0" anchor="ctr"/>
          <a:lstStyle/>
          <a:p>
            <a:pPr algn="ctr" indent="0" marL="0">
              <a:buNone/>
            </a:pPr>
            <a:r>
              <a:rPr lang="en-US" altLang="en-US" sz="1100" i="1" dirty="0">
                <a:solidFill>
                  <a:srgbClr val="6B6152"/>
                </a:solidFill>
              </a:rPr>
              <a:t>A hosted parametric element and family parameters</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dirty="0">
                <a:solidFill>
                  <a:srgbClr val="2B2620"/>
                </a:solidFill>
              </a:rPr>
              <a:t>Elements are defined by </a:t>
            </a:r>
            <a:pPr algn="l" marL="342900" indent="-342900">
              <a:spcAft>
                <a:spcPts val="800"/>
              </a:spcAft>
              <a:buSzPct val="100000"/>
              <a:buChar char="•"/>
            </a:pPr>
            <a:r>
              <a:rPr lang="en-US" altLang="en-US" sz="1500" b="1" dirty="0">
                <a:solidFill>
                  <a:srgbClr val="2B2620"/>
                </a:solidFill>
              </a:rPr>
              <a:t>rules and relationships</a:t>
            </a:r>
            <a:pPr algn="l" marL="342900" indent="-342900">
              <a:spcAft>
                <a:spcPts val="800"/>
              </a:spcAft>
              <a:buSzPct val="100000"/>
              <a:buChar char="•"/>
            </a:pPr>
            <a:r>
              <a:rPr lang="en-US" altLang="en-US" sz="1500" dirty="0">
                <a:solidFill>
                  <a:srgbClr val="2B2620"/>
                </a:solidFill>
              </a:rPr>
              <a:t>: a window is "hosted" in a wall and moves with it; a slab sits on its level.</a:t>
            </a:r>
            <a:endParaRPr lang="en-US" sz="1500" dirty="0"/>
          </a:p>
          <a:p>
            <a:pPr algn="l" marL="342900" indent="-342900">
              <a:spcAft>
                <a:spcPts val="800"/>
              </a:spcAft>
              <a:buSzPct val="100000"/>
              <a:buChar char="•"/>
            </a:pPr>
            <a:r>
              <a:rPr lang="en-US" altLang="en-US" sz="1500" dirty="0">
                <a:solidFill>
                  <a:srgbClr val="2B2620"/>
                </a:solidFill>
              </a:rPr>
              <a:t>Change the storey height and walls, stairs and columns adjust themselves.</a:t>
            </a:r>
            <a:endParaRPr lang="en-US" sz="1500" dirty="0"/>
          </a:p>
          <a:p>
            <a:pPr algn="l" marL="342900" indent="-342900">
              <a:spcAft>
                <a:spcPts val="800"/>
              </a:spcAft>
              <a:buSzPct val="100000"/>
              <a:buChar char="•"/>
            </a:pPr>
            <a:r>
              <a:rPr lang="en-US" altLang="en-US" sz="1500" dirty="0">
                <a:solidFill>
                  <a:srgbClr val="2B2620"/>
                </a:solidFill>
              </a:rPr>
              <a:t>Revit </a:t>
            </a:r>
            <a:pPr algn="l" marL="342900" indent="-342900">
              <a:spcAft>
                <a:spcPts val="800"/>
              </a:spcAft>
              <a:buSzPct val="100000"/>
              <a:buChar char="•"/>
            </a:pPr>
            <a:r>
              <a:rPr lang="en-US" altLang="en-US" sz="1500" b="1" dirty="0">
                <a:solidFill>
                  <a:srgbClr val="2B2620"/>
                </a:solidFill>
              </a:rPr>
              <a:t>families</a:t>
            </a:r>
            <a:pPr algn="l" marL="342900" indent="-342900">
              <a:spcAft>
                <a:spcPts val="800"/>
              </a:spcAft>
              <a:buSzPct val="100000"/>
              <a:buChar char="•"/>
            </a:pPr>
            <a:r>
              <a:rPr lang="en-US" altLang="en-US" sz="1500" dirty="0">
                <a:solidFill>
                  <a:srgbClr val="2B2620"/>
                </a:solidFill>
              </a:rPr>
              <a:t> are the practical form: a door with width, height and frame type as parameters.</a:t>
            </a:r>
            <a:endParaRPr lang="en-US" sz="1500" dirty="0"/>
          </a:p>
        </p:txBody>
      </p:sp>
      <p:sp>
        <p:nvSpPr>
          <p:cNvPr id="7" name="Text 4"/>
          <p:cNvSpPr txBox="1"/>
          <p:nvPr/>
        </p:nvSpPr>
        <p:spPr>
          <a:xfrm>
            <a:off x="548640" y="5806440"/>
            <a:ext cx="11094415" cy="457200"/>
          </a:xfrm>
          <a:prstGeom prst="rect">
            <a:avLst/>
          </a:prstGeom>
          <a:solidFill>
            <a:srgbClr val="FBF6EA"/>
          </a:solidFill>
          <a:ln/>
        </p:spPr>
        <p:txBody>
          <a:bodyPr wrap="square" rtlCol="0" anchor="ctr"/>
          <a:lstStyle/>
          <a:p>
            <a:pPr algn="l" indent="0" marL="0">
              <a:buNone/>
            </a:pPr>
            <a:r>
              <a:rPr lang="en-US" altLang="en-US" sz="1200" i="1" dirty="0">
                <a:solidFill>
                  <a:srgbClr val="8A5A10"/>
                </a:solidFill>
              </a:rPr>
              <a:t>The same idea as the parametric blocks of Omar Khamis Library: change a parameter and the shape is rebuilt.</a:t>
            </a:r>
            <a:endParaRPr lang="en-US" sz="12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Interoperability (IFC and openBIM)</a:t>
            </a:r>
            <a:endParaRPr lang="en-US" sz="3000" dirty="0"/>
          </a:p>
        </p:txBody>
      </p:sp>
      <p:sp>
        <p:nvSpPr>
          <p:cNvPr id="3" name="Text 1"/>
          <p:cNvSpPr txBox="1"/>
          <p:nvPr/>
        </p:nvSpPr>
        <p:spPr>
          <a:xfrm>
            <a:off x="548640" y="1280160"/>
            <a:ext cx="11094415" cy="822960"/>
          </a:xfrm>
          <a:prstGeom prst="rect">
            <a:avLst/>
          </a:prstGeom>
          <a:noFill/>
          <a:ln/>
        </p:spPr>
        <p:txBody>
          <a:bodyPr wrap="square" rtlCol="0" anchor="t"/>
          <a:lstStyle/>
          <a:p>
            <a:pPr algn="l" marL="342900" indent="-342900">
              <a:spcAft>
                <a:spcPts val="800"/>
              </a:spcAft>
              <a:buSzPct val="100000"/>
              <a:buChar char="•"/>
            </a:pPr>
            <a:r>
              <a:rPr lang="en-US" altLang="en-US" sz="1400" b="1" dirty="0">
                <a:solidFill>
                  <a:srgbClr val="2B2620"/>
                </a:solidFill>
              </a:rPr>
              <a:t>IFC</a:t>
            </a:r>
            <a:pPr algn="l" marL="342900" indent="-342900">
              <a:spcAft>
                <a:spcPts val="800"/>
              </a:spcAft>
              <a:buSzPct val="100000"/>
              <a:buChar char="•"/>
            </a:pPr>
            <a:r>
              <a:rPr lang="en-US" altLang="en-US" sz="1400" dirty="0">
                <a:solidFill>
                  <a:srgbClr val="2B2620"/>
                </a:solidFill>
              </a:rPr>
              <a:t> is an open international format (ISO 16739) for exchanging models between tools.</a:t>
            </a:r>
            <a:endParaRPr lang="en-US" sz="1400" dirty="0"/>
          </a:p>
          <a:p>
            <a:pPr algn="l" marL="342900" indent="-342900">
              <a:spcAft>
                <a:spcPts val="800"/>
              </a:spcAft>
              <a:buSzPct val="100000"/>
              <a:buChar char="•"/>
            </a:pPr>
            <a:r>
              <a:rPr lang="en-US" altLang="en-US" sz="1400" b="1" dirty="0">
                <a:solidFill>
                  <a:srgbClr val="2B2620"/>
                </a:solidFill>
              </a:rPr>
              <a:t>openBIM</a:t>
            </a:r>
            <a:pPr algn="l" marL="342900" indent="-342900">
              <a:spcAft>
                <a:spcPts val="800"/>
              </a:spcAft>
              <a:buSzPct val="100000"/>
              <a:buChar char="•"/>
            </a:pPr>
            <a:r>
              <a:rPr lang="en-US" altLang="en-US" sz="1400" dirty="0">
                <a:solidFill>
                  <a:srgbClr val="2B2620"/>
                </a:solidFill>
              </a:rPr>
              <a:t> means a project is not locked into one program.</a:t>
            </a:r>
            <a:endParaRPr lang="en-US" sz="14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algn="l" indent="0" marL="0">
                        <a:buNone/>
                      </a:pPr>
                      <a:r>
                        <a:rPr lang="en-US" altLang="en-US" sz="1300" b="1" dirty="0">
                          <a:solidFill>
                            <a:srgbClr val="FFFFFF"/>
                          </a:solidFill>
                        </a:rPr>
                        <a:t>Item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Why it matters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Origin and coordinates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Models overlay correctly</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Units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mm vs m — a mismatch breaks everything</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Level and grid names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Coordination between disciplines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Classification (Uniclass / OmniClass)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Quantities, cost and specifications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File naming</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The common data environment (CDE)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BIM for owners</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b="1" dirty="0">
                <a:solidFill>
                  <a:srgbClr val="2B2620"/>
                </a:solidFill>
              </a:rPr>
              <a:t>Better early decisions</a:t>
            </a:r>
            <a:pPr algn="l" indent="0" marL="0">
              <a:buNone/>
            </a:pPr>
            <a:r>
              <a:rPr lang="en-US" altLang="en-US" sz="1400" dirty="0">
                <a:solidFill>
                  <a:srgbClr val="2B2620"/>
                </a:solidFill>
              </a:rPr>
              <a:t>: design options with cost and energy performance before money is spent.</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b="1" dirty="0">
                <a:solidFill>
                  <a:srgbClr val="2B2620"/>
                </a:solidFill>
              </a:rPr>
              <a:t>Cost and schedule control</a:t>
            </a:r>
            <a:pPr algn="l" indent="0" marL="0">
              <a:buNone/>
            </a:pPr>
            <a:r>
              <a:rPr lang="en-US" altLang="en-US" sz="1400" dirty="0">
                <a:solidFill>
                  <a:srgbClr val="2B2620"/>
                </a:solidFill>
              </a:rPr>
              <a:t>: 4D and 5D models.</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b="1" dirty="0">
                <a:solidFill>
                  <a:srgbClr val="2B2620"/>
                </a:solidFill>
              </a:rPr>
              <a:t>Digital handover</a:t>
            </a:r>
            <a:pPr algn="l" indent="0" marL="0">
              <a:buNone/>
            </a:pPr>
            <a:r>
              <a:rPr lang="en-US" altLang="en-US" sz="1400" dirty="0">
                <a:solidFill>
                  <a:srgbClr val="2B2620"/>
                </a:solidFill>
              </a:rPr>
              <a:t>: an as-built model with equipment data for maintenance.</a:t>
            </a:r>
            <a:endParaRPr lang="en-US" sz="1400" dirty="0"/>
          </a:p>
        </p:txBody>
      </p:sp>
      <p:sp>
        <p:nvSpPr>
          <p:cNvPr id="15" name="card3"/>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6415888" y="3566160"/>
            <a:ext cx="457200" cy="457200"/>
          </a:xfrm>
          <a:prstGeom prst="ellipse">
            <a:avLst/>
          </a:prstGeom>
          <a:solidFill>
            <a:schemeClr val="accent2"/>
          </a:solidFill>
          <a:ln/>
        </p:spPr>
      </p:sp>
      <p:sp>
        <p:nvSpPr>
          <p:cNvPr id="17" name="Text 15"/>
          <p:cNvSpPr txBox="1"/>
          <p:nvPr/>
        </p:nvSpPr>
        <p:spPr>
          <a:xfrm>
            <a:off x="641588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6415888" y="4114800"/>
            <a:ext cx="5044288" cy="914400"/>
          </a:xfrm>
          <a:prstGeom prst="rect">
            <a:avLst/>
          </a:prstGeom>
          <a:noFill/>
          <a:ln/>
        </p:spPr>
        <p:txBody>
          <a:bodyPr wrap="square" rtlCol="0" anchor="t"/>
          <a:lstStyle/>
          <a:p>
            <a:pPr algn="l" indent="0" marL="0">
              <a:buNone/>
            </a:pPr>
            <a:r>
              <a:rPr lang="en-US" altLang="en-US" sz="1400" dirty="0">
                <a:solidFill>
                  <a:srgbClr val="2B2620"/>
                </a:solidFill>
              </a:rPr>
              <a:t>The owner's role is to state requirements in </a:t>
            </a:r>
            <a:pPr algn="l" indent="0" marL="0">
              <a:buNone/>
            </a:pPr>
            <a:r>
              <a:rPr lang="en-US" altLang="en-US" sz="1400" b="1" dirty="0">
                <a:solidFill>
                  <a:srgbClr val="2B2620"/>
                </a:solidFill>
              </a:rPr>
              <a:t>Employer's/Owner's Information Requirements (EIR / OIR)</a:t>
            </a:r>
            <a:pPr algn="l" indent="0" marL="0">
              <a:buNone/>
            </a:pPr>
            <a:r>
              <a:rPr lang="en-US" altLang="en-US" sz="1400" dirty="0">
                <a:solidFill>
                  <a:srgbClr val="2B2620"/>
                </a:solidFill>
              </a:rPr>
              <a:t> from day one.</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BIM for designers</a:t>
            </a:r>
            <a:endParaRPr lang="en-US" sz="3000" dirty="0"/>
          </a:p>
        </p:txBody>
      </p:sp>
      <p:sp>
        <p:nvSpPr>
          <p:cNvPr id="3" name="card0"/>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3149498" cy="914400"/>
          </a:xfrm>
          <a:prstGeom prst="rect">
            <a:avLst/>
          </a:prstGeom>
          <a:noFill/>
          <a:ln/>
        </p:spPr>
        <p:txBody>
          <a:bodyPr wrap="square" rtlCol="0" anchor="t"/>
          <a:lstStyle/>
          <a:p>
            <a:pPr algn="l" indent="0" marL="0">
              <a:buNone/>
            </a:pPr>
            <a:r>
              <a:rPr lang="en-US" altLang="en-US" sz="1400" b="1" dirty="0">
                <a:solidFill>
                  <a:srgbClr val="2B2620"/>
                </a:solidFill>
              </a:rPr>
              <a:t>Conceptual design</a:t>
            </a:r>
            <a:pPr algn="l" indent="0" marL="0">
              <a:buNone/>
            </a:pPr>
            <a:r>
              <a:rPr lang="en-US" altLang="en-US" sz="1400" dirty="0">
                <a:solidFill>
                  <a:srgbClr val="2B2620"/>
                </a:solidFill>
              </a:rPr>
              <a:t> with masses, area, energy and solar analysis.</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4521098" y="1554480"/>
            <a:ext cx="457200" cy="457200"/>
          </a:xfrm>
          <a:prstGeom prst="ellipse">
            <a:avLst/>
          </a:prstGeom>
          <a:solidFill>
            <a:schemeClr val="accent2"/>
          </a:solidFill>
          <a:ln/>
        </p:spPr>
      </p:sp>
      <p:sp>
        <p:nvSpPr>
          <p:cNvPr id="9" name="Text 7"/>
          <p:cNvSpPr txBox="1"/>
          <p:nvPr/>
        </p:nvSpPr>
        <p:spPr>
          <a:xfrm>
            <a:off x="452109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algn="l" indent="0" marL="0">
              <a:buNone/>
            </a:pPr>
            <a:r>
              <a:rPr lang="en-US" altLang="en-US" sz="1400" b="1" dirty="0">
                <a:solidFill>
                  <a:srgbClr val="2B2620"/>
                </a:solidFill>
              </a:rPr>
              <a:t>Coordinating disciplines</a:t>
            </a:r>
            <a:pPr algn="l" indent="0" marL="0">
              <a:buNone/>
            </a:pPr>
            <a:r>
              <a:rPr lang="en-US" altLang="en-US" sz="1400" dirty="0">
                <a:solidFill>
                  <a:srgbClr val="2B2620"/>
                </a:solidFill>
              </a:rPr>
              <a:t>: architecture, structure and MEP in linked models.</a:t>
            </a:r>
            <a:endParaRPr lang="en-US" sz="1400" dirty="0"/>
          </a:p>
        </p:txBody>
      </p:sp>
      <p:sp>
        <p:nvSpPr>
          <p:cNvPr id="11" name="card2"/>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8310677" y="1554480"/>
            <a:ext cx="457200" cy="457200"/>
          </a:xfrm>
          <a:prstGeom prst="ellipse">
            <a:avLst/>
          </a:prstGeom>
          <a:solidFill>
            <a:schemeClr val="accent2"/>
          </a:solidFill>
          <a:ln/>
        </p:spPr>
      </p:sp>
      <p:sp>
        <p:nvSpPr>
          <p:cNvPr id="13" name="Text 11"/>
          <p:cNvSpPr txBox="1"/>
          <p:nvPr/>
        </p:nvSpPr>
        <p:spPr>
          <a:xfrm>
            <a:off x="831067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8310677" y="2103120"/>
            <a:ext cx="3149498" cy="914400"/>
          </a:xfrm>
          <a:prstGeom prst="rect">
            <a:avLst/>
          </a:prstGeom>
          <a:noFill/>
          <a:ln/>
        </p:spPr>
        <p:txBody>
          <a:bodyPr wrap="square" rtlCol="0" anchor="t"/>
          <a:lstStyle/>
          <a:p>
            <a:pPr algn="l" indent="0" marL="0">
              <a:buNone/>
            </a:pPr>
            <a:r>
              <a:rPr lang="en-US" altLang="en-US" sz="1400" b="1" dirty="0">
                <a:solidFill>
                  <a:srgbClr val="2B2620"/>
                </a:solidFill>
              </a:rPr>
              <a:t>Sheets and schedules</a:t>
            </a:r>
            <a:pPr algn="l" indent="0" marL="0">
              <a:buNone/>
            </a:pPr>
            <a:r>
              <a:rPr lang="en-US" altLang="en-US" sz="1400" dirty="0">
                <a:solidFill>
                  <a:srgbClr val="2B2620"/>
                </a:solidFill>
              </a:rPr>
              <a:t> generated from the model (doors, windows, finishes, rooms).</a:t>
            </a:r>
            <a:endParaRPr lang="en-US" sz="1400" dirty="0"/>
          </a:p>
        </p:txBody>
      </p:sp>
      <p:sp>
        <p:nvSpPr>
          <p:cNvPr id="15" name="card3"/>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731520" y="3566160"/>
            <a:ext cx="457200" cy="457200"/>
          </a:xfrm>
          <a:prstGeom prst="ellipse">
            <a:avLst/>
          </a:prstGeom>
          <a:solidFill>
            <a:schemeClr val="accent2"/>
          </a:solidFill>
          <a:ln/>
        </p:spPr>
      </p:sp>
      <p:sp>
        <p:nvSpPr>
          <p:cNvPr id="17" name="Text 15"/>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3149498" cy="914400"/>
          </a:xfrm>
          <a:prstGeom prst="rect">
            <a:avLst/>
          </a:prstGeom>
          <a:noFill/>
          <a:ln/>
        </p:spPr>
        <p:txBody>
          <a:bodyPr wrap="square" rtlCol="0" anchor="t"/>
          <a:lstStyle/>
          <a:p>
            <a:pPr algn="l" indent="0" marL="0">
              <a:buNone/>
            </a:pPr>
            <a:r>
              <a:rPr lang="en-US" altLang="en-US" sz="1400" b="1" dirty="0">
                <a:solidFill>
                  <a:srgbClr val="2B2620"/>
                </a:solidFill>
              </a:rPr>
              <a:t>Libraries and templates</a:t>
            </a:r>
            <a:pPr algn="l" indent="0" marL="0">
              <a:buNone/>
            </a:pPr>
            <a:r>
              <a:rPr lang="en-US" altLang="en-US" sz="1400" dirty="0">
                <a:solidFill>
                  <a:srgbClr val="2B2620"/>
                </a:solidFill>
              </a:rPr>
              <a:t>: the basis of an office's speed and quality.</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4521098" y="3566160"/>
            <a:ext cx="457200" cy="457200"/>
          </a:xfrm>
          <a:prstGeom prst="ellipse">
            <a:avLst/>
          </a:prstGeom>
          <a:solidFill>
            <a:schemeClr val="accent2"/>
          </a:solidFill>
          <a:ln/>
        </p:spPr>
      </p:sp>
      <p:sp>
        <p:nvSpPr>
          <p:cNvPr id="21" name="Text 19"/>
          <p:cNvSpPr txBox="1"/>
          <p:nvPr/>
        </p:nvSpPr>
        <p:spPr>
          <a:xfrm>
            <a:off x="452109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algn="l" indent="0" marL="0">
              <a:buNone/>
            </a:pPr>
            <a:r>
              <a:rPr lang="en-US" altLang="en-US" sz="1400" dirty="0">
                <a:solidFill>
                  <a:srgbClr val="2B2620"/>
                </a:solidFill>
              </a:rPr>
              <a:t>Build an </a:t>
            </a:r>
            <a:pPr algn="l" indent="0" marL="0">
              <a:buNone/>
            </a:pPr>
            <a:r>
              <a:rPr lang="en-US" altLang="en-US" sz="1400" b="1" dirty="0">
                <a:solidFill>
                  <a:srgbClr val="2B2620"/>
                </a:solidFill>
              </a:rPr>
              <a:t>office template</a:t>
            </a:r>
            <a:pPr algn="l" indent="0" marL="0">
              <a:buNone/>
            </a:pPr>
            <a:r>
              <a:rPr lang="en-US" altLang="en-US" sz="1400" dirty="0">
                <a:solidFill>
                  <a:srgbClr val="2B2620"/>
                </a:solidFill>
              </a:rPr>
              <a:t> with wall, floor and ceiling types, line styles and schedules.</a:t>
            </a:r>
            <a:endParaRPr lang="en-US" sz="1400" dirty="0"/>
          </a:p>
        </p:txBody>
      </p:sp>
      <p:sp>
        <p:nvSpPr>
          <p:cNvPr id="23" name="card5"/>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24" name="card-dot5"/>
          <p:cNvSpPr/>
          <p:nvPr/>
        </p:nvSpPr>
        <p:spPr>
          <a:xfrm>
            <a:off x="8310677" y="3566160"/>
            <a:ext cx="457200" cy="457200"/>
          </a:xfrm>
          <a:prstGeom prst="ellipse">
            <a:avLst/>
          </a:prstGeom>
          <a:solidFill>
            <a:schemeClr val="accent2"/>
          </a:solidFill>
          <a:ln/>
        </p:spPr>
      </p:sp>
      <p:sp>
        <p:nvSpPr>
          <p:cNvPr id="25" name="Text 23"/>
          <p:cNvSpPr txBox="1"/>
          <p:nvPr/>
        </p:nvSpPr>
        <p:spPr>
          <a:xfrm>
            <a:off x="831067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6" name="Text 24"/>
          <p:cNvSpPr txBox="1"/>
          <p:nvPr/>
        </p:nvSpPr>
        <p:spPr>
          <a:xfrm>
            <a:off x="8310677" y="4114800"/>
            <a:ext cx="3149498" cy="914400"/>
          </a:xfrm>
          <a:prstGeom prst="rect">
            <a:avLst/>
          </a:prstGeom>
          <a:noFill/>
          <a:ln/>
        </p:spPr>
        <p:txBody>
          <a:bodyPr wrap="square" rtlCol="0" anchor="t"/>
          <a:lstStyle/>
          <a:p>
            <a:pPr algn="l" indent="0" marL="0">
              <a:buNone/>
            </a:pPr>
            <a:r>
              <a:rPr lang="en-US" altLang="en-US" sz="1400" dirty="0">
                <a:solidFill>
                  <a:srgbClr val="2B2620"/>
                </a:solidFill>
              </a:rPr>
              <a:t>Keep an approved </a:t>
            </a:r>
            <a:pPr algn="l" indent="0" marL="0">
              <a:buNone/>
            </a:pPr>
            <a:r>
              <a:rPr lang="en-US" altLang="en-US" sz="1400" b="1" dirty="0">
                <a:solidFill>
                  <a:srgbClr val="2B2620"/>
                </a:solidFill>
              </a:rPr>
              <a:t>family library</a:t>
            </a:r>
            <a:pPr algn="l" indent="0" marL="0">
              <a:buNone/>
            </a:pPr>
            <a:r>
              <a:rPr lang="en-US" altLang="en-US" sz="1400" dirty="0">
                <a:solidFill>
                  <a:srgbClr val="2B2620"/>
                </a:solidFill>
              </a:rPr>
              <a:t> instead of everyone making their own.</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BIM for contractors</a:t>
            </a:r>
            <a:endParaRPr lang="en-US" sz="3000" dirty="0"/>
          </a:p>
        </p:txBody>
      </p:sp>
      <p:sp>
        <p:nvSpPr>
          <p:cNvPr id="3" name="figure-frame"/>
          <p:cNvSpPr/>
          <p:nvPr/>
        </p:nvSpPr>
        <p:spPr>
          <a:xfrm>
            <a:off x="6065215" y="1325880"/>
            <a:ext cx="5669280" cy="2068830"/>
          </a:xfrm>
          <a:prstGeom prst="roundRect">
            <a:avLst>
              <a:gd name="adj" fmla="val 4420"/>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1885950"/>
          </a:xfrm>
          <a:prstGeom prst="rect">
            <a:avLst/>
          </a:prstGeom>
        </p:spPr>
      </p:pic>
      <p:sp>
        <p:nvSpPr>
          <p:cNvPr id="5" name="Text 2"/>
          <p:cNvSpPr txBox="1"/>
          <p:nvPr/>
        </p:nvSpPr>
        <p:spPr>
          <a:xfrm>
            <a:off x="6156655" y="3440430"/>
            <a:ext cx="5486400" cy="365760"/>
          </a:xfrm>
          <a:prstGeom prst="rect">
            <a:avLst/>
          </a:prstGeom>
          <a:noFill/>
          <a:ln/>
        </p:spPr>
        <p:txBody>
          <a:bodyPr wrap="square" rtlCol="0" anchor="ctr"/>
          <a:lstStyle/>
          <a:p>
            <a:pPr algn="ctr" indent="0" marL="0">
              <a:buNone/>
            </a:pPr>
            <a:r>
              <a:rPr lang="en-US" altLang="en-US" sz="1100" i="1" dirty="0">
                <a:solidFill>
                  <a:srgbClr val="6B6152"/>
                </a:solidFill>
              </a:rPr>
              <a:t>BIM dimensions from 3D to 6D</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b="1" dirty="0">
                <a:solidFill>
                  <a:srgbClr val="2B2620"/>
                </a:solidFill>
              </a:rPr>
              <a:t>Quantity take-off</a:t>
            </a:r>
            <a:pPr algn="l" marL="342900" indent="-342900">
              <a:spcAft>
                <a:spcPts val="800"/>
              </a:spcAft>
              <a:buSzPct val="100000"/>
              <a:buChar char="•"/>
            </a:pPr>
            <a:r>
              <a:rPr lang="en-US" altLang="en-US" sz="1500" dirty="0">
                <a:solidFill>
                  <a:srgbClr val="2B2620"/>
                </a:solidFill>
              </a:rPr>
              <a:t> from the model (concrete, masonry, tiles, paint).</a:t>
            </a:r>
            <a:endParaRPr lang="en-US" sz="1500" dirty="0"/>
          </a:p>
          <a:p>
            <a:pPr algn="l" marL="342900" indent="-342900">
              <a:spcAft>
                <a:spcPts val="800"/>
              </a:spcAft>
              <a:buSzPct val="100000"/>
              <a:buChar char="•"/>
            </a:pPr>
            <a:r>
              <a:rPr lang="en-US" altLang="en-US" sz="1500" b="1" dirty="0">
                <a:solidFill>
                  <a:srgbClr val="2B2620"/>
                </a:solidFill>
              </a:rPr>
              <a:t>4D</a:t>
            </a:r>
            <a:pPr algn="l" marL="342900" indent="-342900">
              <a:spcAft>
                <a:spcPts val="800"/>
              </a:spcAft>
              <a:buSzPct val="100000"/>
              <a:buChar char="•"/>
            </a:pPr>
            <a:r>
              <a:rPr lang="en-US" altLang="en-US" sz="1500" dirty="0">
                <a:solidFill>
                  <a:srgbClr val="2B2620"/>
                </a:solidFill>
              </a:rPr>
              <a:t>: linking elements to the programme and simulating construction stages.</a:t>
            </a:r>
            <a:endParaRPr lang="en-US" sz="1500" dirty="0"/>
          </a:p>
          <a:p>
            <a:pPr algn="l" marL="342900" indent="-342900">
              <a:spcAft>
                <a:spcPts val="800"/>
              </a:spcAft>
              <a:buSzPct val="100000"/>
              <a:buChar char="•"/>
            </a:pPr>
            <a:r>
              <a:rPr lang="en-US" altLang="en-US" sz="1500" b="1" dirty="0">
                <a:solidFill>
                  <a:srgbClr val="2B2620"/>
                </a:solidFill>
              </a:rPr>
              <a:t>5D</a:t>
            </a:r>
            <a:pPr algn="l" marL="342900" indent="-342900">
              <a:spcAft>
                <a:spcPts val="800"/>
              </a:spcAft>
              <a:buSzPct val="100000"/>
              <a:buChar char="•"/>
            </a:pPr>
            <a:r>
              <a:rPr lang="en-US" altLang="en-US" sz="1500" dirty="0">
                <a:solidFill>
                  <a:srgbClr val="2B2620"/>
                </a:solidFill>
              </a:rPr>
              <a:t>: linking quantities to rates and updating cost with every change.</a:t>
            </a:r>
            <a:endParaRPr lang="en-US" sz="1500" dirty="0"/>
          </a:p>
          <a:p>
            <a:pPr algn="l" marL="342900" indent="-342900">
              <a:spcAft>
                <a:spcPts val="800"/>
              </a:spcAft>
              <a:buSzPct val="100000"/>
              <a:buChar char="•"/>
            </a:pPr>
            <a:r>
              <a:rPr lang="en-US" altLang="en-US" sz="1500" b="1" dirty="0">
                <a:solidFill>
                  <a:srgbClr val="2B2620"/>
                </a:solidFill>
              </a:rPr>
              <a:t>Site planning</a:t>
            </a:r>
            <a:pPr algn="l" marL="342900" indent="-342900">
              <a:spcAft>
                <a:spcPts val="800"/>
              </a:spcAft>
              <a:buSzPct val="100000"/>
              <a:buChar char="•"/>
            </a:pPr>
            <a:r>
              <a:rPr lang="en-US" altLang="en-US" sz="1500" dirty="0">
                <a:solidFill>
                  <a:srgbClr val="2B2620"/>
                </a:solidFill>
              </a:rPr>
              <a:t>: cranes, vehicle routes, laydown areas.</a:t>
            </a:r>
            <a:endParaRPr lang="en-US" sz="1500" dirty="0"/>
          </a:p>
          <a:p>
            <a:pPr algn="l" marL="342900" indent="-342900">
              <a:spcAft>
                <a:spcPts val="800"/>
              </a:spcAft>
              <a:buSzPct val="100000"/>
              <a:buChar char="•"/>
            </a:pPr>
            <a:r>
              <a:rPr lang="en-US" altLang="en-US" sz="1500" b="1" dirty="0">
                <a:solidFill>
                  <a:srgbClr val="2B2620"/>
                </a:solidFill>
              </a:rPr>
              <a:t>Shop drawings</a:t>
            </a:r>
            <a:pPr algn="l" marL="342900" indent="-342900">
              <a:spcAft>
                <a:spcPts val="800"/>
              </a:spcAft>
              <a:buSzPct val="100000"/>
              <a:buChar char="•"/>
            </a:pPr>
            <a:r>
              <a:rPr lang="en-US" altLang="en-US" sz="1500" dirty="0">
                <a:solidFill>
                  <a:srgbClr val="2B2620"/>
                </a:solidFill>
              </a:rPr>
              <a:t> directly from the model.</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BIM for fabricators and suppliers</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dirty="0">
                <a:solidFill>
                  <a:srgbClr val="2B2620"/>
                </a:solidFill>
              </a:rPr>
              <a:t>Structural steel, façades, ductwork and built-in joinery are made </a:t>
            </a:r>
            <a:pPr algn="l" indent="0" marL="0">
              <a:buNone/>
            </a:pPr>
            <a:r>
              <a:rPr lang="en-US" altLang="en-US" sz="1400" b="1" dirty="0">
                <a:solidFill>
                  <a:srgbClr val="2B2620"/>
                </a:solidFill>
              </a:rPr>
              <a:t>directly from the model</a:t>
            </a:r>
            <a:pPr algn="l" indent="0" marL="0">
              <a:buNone/>
            </a:pPr>
            <a:r>
              <a:rPr lang="en-US" altLang="en-US" sz="1400" dirty="0">
                <a:solidFill>
                  <a:srgbClr val="2B2620"/>
                </a:solidFill>
              </a:rPr>
              <a:t> (CNC and automatic cutting).</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dirty="0">
                <a:solidFill>
                  <a:srgbClr val="2B2620"/>
                </a:solidFill>
              </a:rPr>
              <a:t>Higher accuracy, less waste, faster installation on site.</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b="1" dirty="0">
                <a:solidFill>
                  <a:srgbClr val="2B2620"/>
                </a:solidFill>
              </a:rPr>
              <a:t>Prefabrication</a:t>
            </a:r>
            <a:pPr algn="l" indent="0" marL="0">
              <a:buNone/>
            </a:pPr>
            <a:r>
              <a:rPr lang="en-US" altLang="en-US" sz="1400" dirty="0">
                <a:solidFill>
                  <a:srgbClr val="2B2620"/>
                </a:solidFill>
              </a:rPr>
              <a:t> and modular units are easier with BIM.</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Level of Development (LOD)</a:t>
            </a:r>
            <a:endParaRPr lang="en-US" sz="30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384048">
                <a:tc>
                  <a:txBody>
                    <a:bodyPr/>
                    <a:lstStyle/>
                    <a:p>
                      <a:pPr algn="l" indent="0" marL="0">
                        <a:buNone/>
                      </a:pPr>
                      <a:r>
                        <a:rPr lang="en-US" altLang="en-US" sz="1300" b="1" dirty="0">
                          <a:solidFill>
                            <a:srgbClr val="FFFFFF"/>
                          </a:solidFill>
                        </a:rPr>
                        <a:t>LOD</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Meaning</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Use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100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Mass or symbol</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Early area and cost studies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200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Generic element, approximate size and shape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Concept / schematic design</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300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Precise size, location and shape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Final design and tender drawings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350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 connections to other elements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Coordination between disciplines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400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Fabrication and installation detail</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Shop drawings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500</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As-built, field-verified</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Operation and maintenance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Clash detection and coordination</a:t>
            </a:r>
            <a:endParaRPr lang="en-US" sz="3000" dirty="0"/>
          </a:p>
        </p:txBody>
      </p:sp>
      <p:sp>
        <p:nvSpPr>
          <p:cNvPr id="3" name="figure-frame"/>
          <p:cNvSpPr/>
          <p:nvPr/>
        </p:nvSpPr>
        <p:spPr>
          <a:xfrm>
            <a:off x="6065215" y="1325880"/>
            <a:ext cx="5669280" cy="2730137"/>
          </a:xfrm>
          <a:prstGeom prst="roundRect">
            <a:avLst>
              <a:gd name="adj" fmla="val 3349"/>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2547257"/>
          </a:xfrm>
          <a:prstGeom prst="rect">
            <a:avLst/>
          </a:prstGeom>
        </p:spPr>
      </p:pic>
      <p:sp>
        <p:nvSpPr>
          <p:cNvPr id="5" name="Text 2"/>
          <p:cNvSpPr txBox="1"/>
          <p:nvPr/>
        </p:nvSpPr>
        <p:spPr>
          <a:xfrm>
            <a:off x="6156655" y="4101737"/>
            <a:ext cx="5486400" cy="365760"/>
          </a:xfrm>
          <a:prstGeom prst="rect">
            <a:avLst/>
          </a:prstGeom>
          <a:noFill/>
          <a:ln/>
        </p:spPr>
        <p:txBody>
          <a:bodyPr wrap="square" rtlCol="0" anchor="ctr"/>
          <a:lstStyle/>
          <a:p>
            <a:pPr algn="ctr" indent="0" marL="0">
              <a:buNone/>
            </a:pPr>
            <a:r>
              <a:rPr lang="en-US" altLang="en-US" sz="1100" i="1" dirty="0">
                <a:solidFill>
                  <a:srgbClr val="6B6152"/>
                </a:solidFill>
              </a:rPr>
              <a:t>A hard clash between a duct and a beam, and the coordination report</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dirty="0">
                <a:solidFill>
                  <a:srgbClr val="2B2620"/>
                </a:solidFill>
              </a:rPr>
              <a:t>Combine discipline models in a </a:t>
            </a:r>
            <a:pPr algn="l" marL="342900" indent="-342900">
              <a:spcAft>
                <a:spcPts val="800"/>
              </a:spcAft>
              <a:buSzPct val="100000"/>
              <a:buChar char="•"/>
            </a:pPr>
            <a:r>
              <a:rPr lang="en-US" altLang="en-US" sz="1500" b="1" dirty="0">
                <a:solidFill>
                  <a:srgbClr val="2B2620"/>
                </a:solidFill>
              </a:rPr>
              <a:t>coordination model</a:t>
            </a:r>
            <a:pPr algn="l" marL="342900" indent="-342900">
              <a:spcAft>
                <a:spcPts val="800"/>
              </a:spcAft>
              <a:buSzPct val="100000"/>
              <a:buChar char="•"/>
            </a:pPr>
            <a:r>
              <a:rPr lang="en-US" altLang="en-US" sz="1500" dirty="0">
                <a:solidFill>
                  <a:srgbClr val="2B2620"/>
                </a:solidFill>
              </a:rPr>
              <a:t> (Navisworks, Solibri or similar).</a:t>
            </a:r>
            <a:endParaRPr lang="en-US" sz="1500" dirty="0"/>
          </a:p>
          <a:p>
            <a:pPr algn="l" marL="342900" indent="-342900">
              <a:spcAft>
                <a:spcPts val="800"/>
              </a:spcAft>
              <a:buSzPct val="100000"/>
              <a:buChar char="•"/>
            </a:pPr>
            <a:r>
              <a:rPr lang="en-US" altLang="en-US" sz="1500" dirty="0">
                <a:solidFill>
                  <a:srgbClr val="2B2620"/>
                </a:solidFill>
              </a:rPr>
              <a:t>Clash types: </a:t>
            </a:r>
            <a:pPr algn="l" marL="342900" indent="-342900">
              <a:spcAft>
                <a:spcPts val="800"/>
              </a:spcAft>
              <a:buSzPct val="100000"/>
              <a:buChar char="•"/>
            </a:pPr>
            <a:r>
              <a:rPr lang="en-US" altLang="en-US" sz="1500" b="1" dirty="0">
                <a:solidFill>
                  <a:srgbClr val="2B2620"/>
                </a:solidFill>
              </a:rPr>
              <a:t>hard</a:t>
            </a:r>
            <a:pPr algn="l" marL="342900" indent="-342900">
              <a:spcAft>
                <a:spcPts val="800"/>
              </a:spcAft>
              <a:buSzPct val="100000"/>
              <a:buChar char="•"/>
            </a:pPr>
            <a:r>
              <a:rPr lang="en-US" altLang="en-US" sz="1500" dirty="0">
                <a:solidFill>
                  <a:srgbClr val="2B2620"/>
                </a:solidFill>
              </a:rPr>
              <a:t> (pipe through beam), </a:t>
            </a:r>
            <a:pPr algn="l" marL="342900" indent="-342900">
              <a:spcAft>
                <a:spcPts val="800"/>
              </a:spcAft>
              <a:buSzPct val="100000"/>
              <a:buChar char="•"/>
            </a:pPr>
            <a:r>
              <a:rPr lang="en-US" altLang="en-US" sz="1500" b="1" dirty="0">
                <a:solidFill>
                  <a:srgbClr val="2B2620"/>
                </a:solidFill>
              </a:rPr>
              <a:t>clearance</a:t>
            </a:r>
            <a:pPr algn="l" marL="342900" indent="-342900">
              <a:spcAft>
                <a:spcPts val="800"/>
              </a:spcAft>
              <a:buSzPct val="100000"/>
              <a:buChar char="•"/>
            </a:pPr>
            <a:r>
              <a:rPr lang="en-US" altLang="en-US" sz="1500" dirty="0">
                <a:solidFill>
                  <a:srgbClr val="2B2620"/>
                </a:solidFill>
              </a:rPr>
              <a:t> (maintenance or insulation space), </a:t>
            </a:r>
            <a:pPr algn="l" marL="342900" indent="-342900">
              <a:spcAft>
                <a:spcPts val="800"/>
              </a:spcAft>
              <a:buSzPct val="100000"/>
              <a:buChar char="•"/>
            </a:pPr>
            <a:r>
              <a:rPr lang="en-US" altLang="en-US" sz="1500" b="1" dirty="0">
                <a:solidFill>
                  <a:srgbClr val="2B2620"/>
                </a:solidFill>
              </a:rPr>
              <a:t>time</a:t>
            </a:r>
            <a:pPr algn="l" marL="342900" indent="-342900">
              <a:spcAft>
                <a:spcPts val="800"/>
              </a:spcAft>
              <a:buSzPct val="100000"/>
              <a:buChar char="•"/>
            </a:pPr>
            <a:r>
              <a:rPr lang="en-US" altLang="en-US" sz="1500" dirty="0">
                <a:solidFill>
                  <a:srgbClr val="2B2620"/>
                </a:solidFill>
              </a:rPr>
              <a:t> (construction sequence).</a:t>
            </a:r>
            <a:endParaRPr lang="en-US" sz="1500" dirty="0"/>
          </a:p>
          <a:p>
            <a:pPr algn="l" marL="342900" indent="-342900">
              <a:spcAft>
                <a:spcPts val="800"/>
              </a:spcAft>
              <a:buSzPct val="100000"/>
              <a:buChar char="•"/>
            </a:pPr>
            <a:r>
              <a:rPr lang="en-US" altLang="en-US" sz="1500" dirty="0">
                <a:solidFill>
                  <a:srgbClr val="2B2620"/>
                </a:solidFill>
              </a:rPr>
              <a:t>Build a </a:t>
            </a:r>
            <a:pPr algn="l" marL="342900" indent="-342900">
              <a:spcAft>
                <a:spcPts val="800"/>
              </a:spcAft>
              <a:buSzPct val="100000"/>
              <a:buChar char="•"/>
            </a:pPr>
            <a:r>
              <a:rPr lang="en-US" altLang="en-US" sz="1500" b="1" dirty="0">
                <a:solidFill>
                  <a:srgbClr val="2B2620"/>
                </a:solidFill>
              </a:rPr>
              <a:t>test matrix</a:t>
            </a:r>
            <a:pPr algn="l" marL="342900" indent="-342900">
              <a:spcAft>
                <a:spcPts val="800"/>
              </a:spcAft>
              <a:buSzPct val="100000"/>
              <a:buChar char="•"/>
            </a:pPr>
            <a:r>
              <a:rPr lang="en-US" altLang="en-US" sz="1500" dirty="0">
                <a:solidFill>
                  <a:srgbClr val="2B2620"/>
                </a:solidFill>
              </a:rPr>
              <a:t>: architecture × structure, structure × mechanical, mechanical × electrical...</a:t>
            </a:r>
            <a:endParaRPr lang="en-US" sz="1500" dirty="0"/>
          </a:p>
          <a:p>
            <a:pPr algn="l" marL="342900" indent="-342900">
              <a:spcAft>
                <a:spcPts val="800"/>
              </a:spcAft>
              <a:buSzPct val="100000"/>
              <a:buChar char="•"/>
            </a:pPr>
            <a:r>
              <a:rPr lang="en-US" altLang="en-US" sz="1500" dirty="0">
                <a:solidFill>
                  <a:srgbClr val="2B2620"/>
                </a:solidFill>
              </a:rPr>
              <a:t>A weekly </a:t>
            </a:r>
            <a:pPr algn="l" marL="342900" indent="-342900">
              <a:spcAft>
                <a:spcPts val="800"/>
              </a:spcAft>
              <a:buSzPct val="100000"/>
              <a:buChar char="•"/>
            </a:pPr>
            <a:r>
              <a:rPr lang="en-US" altLang="en-US" sz="1500" b="1" dirty="0">
                <a:solidFill>
                  <a:srgbClr val="2B2620"/>
                </a:solidFill>
              </a:rPr>
              <a:t>coordination meeting</a:t>
            </a:r>
            <a:pPr algn="l" marL="342900" indent="-342900">
              <a:spcAft>
                <a:spcPts val="800"/>
              </a:spcAft>
              <a:buSzPct val="100000"/>
              <a:buChar char="•"/>
            </a:pPr>
            <a:r>
              <a:rPr lang="en-US" altLang="en-US" sz="1500" dirty="0">
                <a:solidFill>
                  <a:srgbClr val="2B2620"/>
                </a:solidFill>
              </a:rPr>
              <a:t>, with an owner and due date for every clash.</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Common data environment (CDE) and workflow</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dirty="0">
                <a:solidFill>
                  <a:srgbClr val="2B2620"/>
                </a:solidFill>
              </a:rPr>
              <a:t>CDE = one place for files with states: </a:t>
            </a:r>
            <a:pPr algn="l" indent="0" marL="0">
              <a:buNone/>
            </a:pPr>
            <a:r>
              <a:rPr lang="en-US" altLang="en-US" sz="1400" b="1" dirty="0">
                <a:solidFill>
                  <a:srgbClr val="2B2620"/>
                </a:solidFill>
              </a:rPr>
              <a:t>work in progress → shared → published → archived</a:t>
            </a:r>
            <a:pPr algn="l" indent="0" marL="0">
              <a:buNone/>
            </a:pPr>
            <a:r>
              <a:rPr lang="en-US" altLang="en-US" sz="1400" dirty="0">
                <a:solidFill>
                  <a:srgbClr val="2B2620"/>
                </a:solidFill>
              </a:rPr>
              <a:t>.</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dirty="0">
                <a:solidFill>
                  <a:srgbClr val="2B2620"/>
                </a:solidFill>
              </a:rPr>
              <a:t>The international standard </a:t>
            </a:r>
            <a:pPr algn="l" indent="0" marL="0">
              <a:buNone/>
            </a:pPr>
            <a:r>
              <a:rPr lang="en-US" altLang="en-US" sz="1400" b="1" dirty="0">
                <a:solidFill>
                  <a:srgbClr val="2B2620"/>
                </a:solidFill>
              </a:rPr>
              <a:t>ISO 19650</a:t>
            </a:r>
            <a:pPr algn="l" indent="0" marL="0">
              <a:buNone/>
            </a:pPr>
            <a:r>
              <a:rPr lang="en-US" altLang="en-US" sz="1400" dirty="0">
                <a:solidFill>
                  <a:srgbClr val="2B2620"/>
                </a:solidFill>
              </a:rPr>
              <a:t> sets out information management for BIM projects.</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dirty="0">
                <a:solidFill>
                  <a:srgbClr val="2B2620"/>
                </a:solidFill>
              </a:rPr>
              <a:t>Every file has a </a:t>
            </a:r>
            <a:pPr algn="l" indent="0" marL="0">
              <a:buNone/>
            </a:pPr>
            <a:r>
              <a:rPr lang="en-US" altLang="en-US" sz="1400" b="1" dirty="0">
                <a:solidFill>
                  <a:srgbClr val="2B2620"/>
                </a:solidFill>
              </a:rPr>
              <a:t>standard name</a:t>
            </a:r>
            <a:pPr algn="l" indent="0" marL="0">
              <a:buNone/>
            </a:pPr>
            <a:r>
              <a:rPr lang="en-US" altLang="en-US" sz="1400" dirty="0">
                <a:solidFill>
                  <a:srgbClr val="2B2620"/>
                </a:solidFill>
              </a:rPr>
              <a:t>, </a:t>
            </a:r>
            <a:pPr algn="l" indent="0" marL="0">
              <a:buNone/>
            </a:pPr>
            <a:r>
              <a:rPr lang="en-US" altLang="en-US" sz="1400" b="1" dirty="0">
                <a:solidFill>
                  <a:srgbClr val="2B2620"/>
                </a:solidFill>
              </a:rPr>
              <a:t>revision</a:t>
            </a:r>
            <a:pPr algn="l" indent="0" marL="0">
              <a:buNone/>
            </a:pPr>
            <a:r>
              <a:rPr lang="en-US" altLang="en-US" sz="1400" dirty="0">
                <a:solidFill>
                  <a:srgbClr val="2B2620"/>
                </a:solidFill>
              </a:rPr>
              <a:t> and </a:t>
            </a:r>
            <a:pPr algn="l" indent="0" marL="0">
              <a:buNone/>
            </a:pPr>
            <a:r>
              <a:rPr lang="en-US" altLang="en-US" sz="1400" b="1" dirty="0">
                <a:solidFill>
                  <a:srgbClr val="2B2620"/>
                </a:solidFill>
              </a:rPr>
              <a:t>status</a:t>
            </a:r>
            <a:pPr algn="l" indent="0" marL="0">
              <a:buNone/>
            </a:pPr>
            <a:r>
              <a:rPr lang="en-US" altLang="en-US" sz="1400" dirty="0">
                <a:solidFill>
                  <a:srgbClr val="2B2620"/>
                </a:solidFill>
              </a:rPr>
              <a:t>.</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The BIM Execution Plan (BEP)</a:t>
            </a:r>
            <a:endParaRPr lang="en-US" sz="3000" dirty="0"/>
          </a:p>
        </p:txBody>
      </p:sp>
      <p:sp>
        <p:nvSpPr>
          <p:cNvPr id="3" name="card0"/>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3149498" cy="914400"/>
          </a:xfrm>
          <a:prstGeom prst="rect">
            <a:avLst/>
          </a:prstGeom>
          <a:noFill/>
          <a:ln/>
        </p:spPr>
        <p:txBody>
          <a:bodyPr wrap="square" rtlCol="0" anchor="t"/>
          <a:lstStyle/>
          <a:p>
            <a:pPr algn="l" indent="0" marL="0">
              <a:buNone/>
            </a:pPr>
            <a:r>
              <a:rPr lang="en-US" altLang="en-US" sz="1400" dirty="0">
                <a:solidFill>
                  <a:srgbClr val="2B2620"/>
                </a:solidFill>
              </a:rPr>
              <a:t>It usually contains:</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4521098" y="1554480"/>
            <a:ext cx="457200" cy="457200"/>
          </a:xfrm>
          <a:prstGeom prst="ellipse">
            <a:avLst/>
          </a:prstGeom>
          <a:solidFill>
            <a:schemeClr val="accent2"/>
          </a:solidFill>
          <a:ln/>
        </p:spPr>
      </p:sp>
      <p:sp>
        <p:nvSpPr>
          <p:cNvPr id="9" name="Text 7"/>
          <p:cNvSpPr txBox="1"/>
          <p:nvPr/>
        </p:nvSpPr>
        <p:spPr>
          <a:xfrm>
            <a:off x="452109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algn="l" indent="0" marL="0">
              <a:buNone/>
            </a:pPr>
            <a:r>
              <a:rPr lang="en-US" altLang="en-US" sz="1400" dirty="0">
                <a:solidFill>
                  <a:srgbClr val="2B2620"/>
                </a:solidFill>
              </a:rPr>
              <a:t>The project's BIM goals (take-off? coordination? 4D? handover to FM?).</a:t>
            </a:r>
            <a:endParaRPr lang="en-US" sz="1400" dirty="0"/>
          </a:p>
        </p:txBody>
      </p:sp>
      <p:sp>
        <p:nvSpPr>
          <p:cNvPr id="11" name="card2"/>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8310677" y="1554480"/>
            <a:ext cx="457200" cy="457200"/>
          </a:xfrm>
          <a:prstGeom prst="ellipse">
            <a:avLst/>
          </a:prstGeom>
          <a:solidFill>
            <a:schemeClr val="accent2"/>
          </a:solidFill>
          <a:ln/>
        </p:spPr>
      </p:sp>
      <p:sp>
        <p:nvSpPr>
          <p:cNvPr id="13" name="Text 11"/>
          <p:cNvSpPr txBox="1"/>
          <p:nvPr/>
        </p:nvSpPr>
        <p:spPr>
          <a:xfrm>
            <a:off x="831067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8310677" y="2103120"/>
            <a:ext cx="3149498" cy="914400"/>
          </a:xfrm>
          <a:prstGeom prst="rect">
            <a:avLst/>
          </a:prstGeom>
          <a:noFill/>
          <a:ln/>
        </p:spPr>
        <p:txBody>
          <a:bodyPr wrap="square" rtlCol="0" anchor="t"/>
          <a:lstStyle/>
          <a:p>
            <a:pPr algn="l" indent="0" marL="0">
              <a:buNone/>
            </a:pPr>
            <a:r>
              <a:rPr lang="en-US" altLang="en-US" sz="1400" dirty="0">
                <a:solidFill>
                  <a:srgbClr val="2B2620"/>
                </a:solidFill>
              </a:rPr>
              <a:t>Parties and roles (BIM manager, coordinator, modellers).</a:t>
            </a:r>
            <a:endParaRPr lang="en-US" sz="1400" dirty="0"/>
          </a:p>
        </p:txBody>
      </p:sp>
      <p:sp>
        <p:nvSpPr>
          <p:cNvPr id="15" name="card3"/>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731520" y="3566160"/>
            <a:ext cx="457200" cy="457200"/>
          </a:xfrm>
          <a:prstGeom prst="ellipse">
            <a:avLst/>
          </a:prstGeom>
          <a:solidFill>
            <a:schemeClr val="accent2"/>
          </a:solidFill>
          <a:ln/>
        </p:spPr>
      </p:sp>
      <p:sp>
        <p:nvSpPr>
          <p:cNvPr id="17" name="Text 15"/>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3149498" cy="914400"/>
          </a:xfrm>
          <a:prstGeom prst="rect">
            <a:avLst/>
          </a:prstGeom>
          <a:noFill/>
          <a:ln/>
        </p:spPr>
        <p:txBody>
          <a:bodyPr wrap="square" rtlCol="0" anchor="t"/>
          <a:lstStyle/>
          <a:p>
            <a:pPr algn="l" indent="0" marL="0">
              <a:buNone/>
            </a:pPr>
            <a:r>
              <a:rPr lang="en-US" altLang="en-US" sz="1400" dirty="0">
                <a:solidFill>
                  <a:srgbClr val="2B2620"/>
                </a:solidFill>
              </a:rPr>
              <a:t>Software, versions and exchange formats.</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4521098" y="3566160"/>
            <a:ext cx="457200" cy="457200"/>
          </a:xfrm>
          <a:prstGeom prst="ellipse">
            <a:avLst/>
          </a:prstGeom>
          <a:solidFill>
            <a:schemeClr val="accent2"/>
          </a:solidFill>
          <a:ln/>
        </p:spPr>
      </p:sp>
      <p:sp>
        <p:nvSpPr>
          <p:cNvPr id="21" name="Text 19"/>
          <p:cNvSpPr txBox="1"/>
          <p:nvPr/>
        </p:nvSpPr>
        <p:spPr>
          <a:xfrm>
            <a:off x="452109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algn="l" indent="0" marL="0">
              <a:buNone/>
            </a:pPr>
            <a:r>
              <a:rPr lang="en-US" altLang="en-US" sz="1400" dirty="0">
                <a:solidFill>
                  <a:srgbClr val="2B2620"/>
                </a:solidFill>
              </a:rPr>
              <a:t>LOD per stage and per element.</a:t>
            </a:r>
            <a:endParaRPr lang="en-US" sz="1400" dirty="0"/>
          </a:p>
        </p:txBody>
      </p:sp>
      <p:sp>
        <p:nvSpPr>
          <p:cNvPr id="23" name="card5"/>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24" name="card-dot5"/>
          <p:cNvSpPr/>
          <p:nvPr/>
        </p:nvSpPr>
        <p:spPr>
          <a:xfrm>
            <a:off x="8310677" y="3566160"/>
            <a:ext cx="457200" cy="457200"/>
          </a:xfrm>
          <a:prstGeom prst="ellipse">
            <a:avLst/>
          </a:prstGeom>
          <a:solidFill>
            <a:schemeClr val="accent2"/>
          </a:solidFill>
          <a:ln/>
        </p:spPr>
      </p:sp>
      <p:sp>
        <p:nvSpPr>
          <p:cNvPr id="25" name="Text 23"/>
          <p:cNvSpPr txBox="1"/>
          <p:nvPr/>
        </p:nvSpPr>
        <p:spPr>
          <a:xfrm>
            <a:off x="831067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6" name="Text 24"/>
          <p:cNvSpPr txBox="1"/>
          <p:nvPr/>
        </p:nvSpPr>
        <p:spPr>
          <a:xfrm>
            <a:off x="8310677" y="4114800"/>
            <a:ext cx="3149498" cy="914400"/>
          </a:xfrm>
          <a:prstGeom prst="rect">
            <a:avLst/>
          </a:prstGeom>
          <a:noFill/>
          <a:ln/>
        </p:spPr>
        <p:txBody>
          <a:bodyPr wrap="square" rtlCol="0" anchor="t"/>
          <a:lstStyle/>
          <a:p>
            <a:pPr algn="l" indent="0" marL="0">
              <a:buNone/>
            </a:pPr>
            <a:r>
              <a:rPr lang="en-US" altLang="en-US" sz="1400" dirty="0">
                <a:solidFill>
                  <a:srgbClr val="2B2620"/>
                </a:solidFill>
              </a:rPr>
              <a:t>Coordinates, units and naming.</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Challenges and adoption in an office</a:t>
            </a:r>
            <a:endParaRPr lang="en-US" sz="3000" dirty="0"/>
          </a:p>
        </p:txBody>
      </p:sp>
      <p:sp>
        <p:nvSpPr>
          <p:cNvPr id="3" name="card0"/>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3149498" cy="914400"/>
          </a:xfrm>
          <a:prstGeom prst="rect">
            <a:avLst/>
          </a:prstGeom>
          <a:noFill/>
          <a:ln/>
        </p:spPr>
        <p:txBody>
          <a:bodyPr wrap="square" rtlCol="0" anchor="t"/>
          <a:lstStyle/>
          <a:p>
            <a:pPr algn="l" indent="0" marL="0">
              <a:buNone/>
            </a:pPr>
            <a:r>
              <a:rPr lang="en-US" altLang="en-US" sz="1400" b="1" dirty="0">
                <a:solidFill>
                  <a:srgbClr val="2B2620"/>
                </a:solidFill>
              </a:rPr>
              <a:t>Up-front cost</a:t>
            </a:r>
            <a:pPr algn="l" indent="0" marL="0">
              <a:buNone/>
            </a:pPr>
            <a:r>
              <a:rPr lang="en-US" altLang="en-US" sz="1400" dirty="0">
                <a:solidFill>
                  <a:srgbClr val="2B2620"/>
                </a:solidFill>
              </a:rPr>
              <a:t>: licences, hardware, training.</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4521098" y="1554480"/>
            <a:ext cx="457200" cy="457200"/>
          </a:xfrm>
          <a:prstGeom prst="ellipse">
            <a:avLst/>
          </a:prstGeom>
          <a:solidFill>
            <a:schemeClr val="accent2"/>
          </a:solidFill>
          <a:ln/>
        </p:spPr>
      </p:sp>
      <p:sp>
        <p:nvSpPr>
          <p:cNvPr id="9" name="Text 7"/>
          <p:cNvSpPr txBox="1"/>
          <p:nvPr/>
        </p:nvSpPr>
        <p:spPr>
          <a:xfrm>
            <a:off x="452109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algn="l" indent="0" marL="0">
              <a:buNone/>
            </a:pPr>
            <a:r>
              <a:rPr lang="en-US" altLang="en-US" sz="1400" b="1" dirty="0">
                <a:solidFill>
                  <a:srgbClr val="2B2620"/>
                </a:solidFill>
              </a:rPr>
              <a:t>Culture change</a:t>
            </a:r>
            <a:pPr algn="l" indent="0" marL="0">
              <a:buNone/>
            </a:pPr>
            <a:r>
              <a:rPr lang="en-US" altLang="en-US" sz="1400" dirty="0">
                <a:solidFill>
                  <a:srgbClr val="2B2620"/>
                </a:solidFill>
              </a:rPr>
              <a:t>: the work moves from "drawing" to "building a model".</a:t>
            </a:r>
            <a:endParaRPr lang="en-US" sz="1400" dirty="0"/>
          </a:p>
        </p:txBody>
      </p:sp>
      <p:sp>
        <p:nvSpPr>
          <p:cNvPr id="11" name="card2"/>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8310677" y="1554480"/>
            <a:ext cx="457200" cy="457200"/>
          </a:xfrm>
          <a:prstGeom prst="ellipse">
            <a:avLst/>
          </a:prstGeom>
          <a:solidFill>
            <a:schemeClr val="accent2"/>
          </a:solidFill>
          <a:ln/>
        </p:spPr>
      </p:sp>
      <p:sp>
        <p:nvSpPr>
          <p:cNvPr id="13" name="Text 11"/>
          <p:cNvSpPr txBox="1"/>
          <p:nvPr/>
        </p:nvSpPr>
        <p:spPr>
          <a:xfrm>
            <a:off x="831067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8310677" y="2103120"/>
            <a:ext cx="3149498" cy="914400"/>
          </a:xfrm>
          <a:prstGeom prst="rect">
            <a:avLst/>
          </a:prstGeom>
          <a:noFill/>
          <a:ln/>
        </p:spPr>
        <p:txBody>
          <a:bodyPr wrap="square" rtlCol="0" anchor="t"/>
          <a:lstStyle/>
          <a:p>
            <a:pPr algn="l" indent="0" marL="0">
              <a:buNone/>
            </a:pPr>
            <a:r>
              <a:rPr lang="en-US" altLang="en-US" sz="1400" b="1" dirty="0">
                <a:solidFill>
                  <a:srgbClr val="2B2620"/>
                </a:solidFill>
              </a:rPr>
              <a:t>IP and liability</a:t>
            </a:r>
            <a:pPr algn="l" indent="0" marL="0">
              <a:buNone/>
            </a:pPr>
            <a:r>
              <a:rPr lang="en-US" altLang="en-US" sz="1400" dirty="0">
                <a:solidFill>
                  <a:srgbClr val="2B2620"/>
                </a:solidFill>
              </a:rPr>
              <a:t>: who is responsible for the model? Set it in the contract.</a:t>
            </a:r>
            <a:endParaRPr lang="en-US" sz="1400" dirty="0"/>
          </a:p>
        </p:txBody>
      </p:sp>
      <p:sp>
        <p:nvSpPr>
          <p:cNvPr id="15" name="card3"/>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731520" y="3566160"/>
            <a:ext cx="457200" cy="457200"/>
          </a:xfrm>
          <a:prstGeom prst="ellipse">
            <a:avLst/>
          </a:prstGeom>
          <a:solidFill>
            <a:schemeClr val="accent2"/>
          </a:solidFill>
          <a:ln/>
        </p:spPr>
      </p:sp>
      <p:sp>
        <p:nvSpPr>
          <p:cNvPr id="17" name="Text 15"/>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3149498" cy="914400"/>
          </a:xfrm>
          <a:prstGeom prst="rect">
            <a:avLst/>
          </a:prstGeom>
          <a:noFill/>
          <a:ln/>
        </p:spPr>
        <p:txBody>
          <a:bodyPr wrap="square" rtlCol="0" anchor="t"/>
          <a:lstStyle/>
          <a:p>
            <a:pPr algn="l" indent="0" marL="0">
              <a:buNone/>
            </a:pPr>
            <a:r>
              <a:rPr lang="en-US" altLang="en-US" sz="1400" dirty="0">
                <a:solidFill>
                  <a:srgbClr val="2B2620"/>
                </a:solidFill>
              </a:rPr>
              <a:t>A small pilot project.</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4521098" y="3566160"/>
            <a:ext cx="457200" cy="457200"/>
          </a:xfrm>
          <a:prstGeom prst="ellipse">
            <a:avLst/>
          </a:prstGeom>
          <a:solidFill>
            <a:schemeClr val="accent2"/>
          </a:solidFill>
          <a:ln/>
        </p:spPr>
      </p:sp>
      <p:sp>
        <p:nvSpPr>
          <p:cNvPr id="21" name="Text 19"/>
          <p:cNvSpPr txBox="1"/>
          <p:nvPr/>
        </p:nvSpPr>
        <p:spPr>
          <a:xfrm>
            <a:off x="452109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algn="l" indent="0" marL="0">
              <a:buNone/>
            </a:pPr>
            <a:r>
              <a:rPr lang="en-US" altLang="en-US" sz="1400" dirty="0">
                <a:solidFill>
                  <a:srgbClr val="2B2620"/>
                </a:solidFill>
              </a:rPr>
              <a:t>An office template and family library.</a:t>
            </a:r>
            <a:endParaRPr lang="en-US" sz="1400" dirty="0"/>
          </a:p>
        </p:txBody>
      </p:sp>
      <p:sp>
        <p:nvSpPr>
          <p:cNvPr id="23" name="card5"/>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24" name="card-dot5"/>
          <p:cNvSpPr/>
          <p:nvPr/>
        </p:nvSpPr>
        <p:spPr>
          <a:xfrm>
            <a:off x="8310677" y="3566160"/>
            <a:ext cx="457200" cy="457200"/>
          </a:xfrm>
          <a:prstGeom prst="ellipse">
            <a:avLst/>
          </a:prstGeom>
          <a:solidFill>
            <a:schemeClr val="accent2"/>
          </a:solidFill>
          <a:ln/>
        </p:spPr>
      </p:sp>
      <p:sp>
        <p:nvSpPr>
          <p:cNvPr id="25" name="Text 23"/>
          <p:cNvSpPr txBox="1"/>
          <p:nvPr/>
        </p:nvSpPr>
        <p:spPr>
          <a:xfrm>
            <a:off x="831067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6" name="Text 24"/>
          <p:cNvSpPr txBox="1"/>
          <p:nvPr/>
        </p:nvSpPr>
        <p:spPr>
          <a:xfrm>
            <a:off x="8310677" y="4114800"/>
            <a:ext cx="3149498" cy="914400"/>
          </a:xfrm>
          <a:prstGeom prst="rect">
            <a:avLst/>
          </a:prstGeom>
          <a:noFill/>
          <a:ln/>
        </p:spPr>
        <p:txBody>
          <a:bodyPr wrap="square" rtlCol="0" anchor="t"/>
          <a:lstStyle/>
          <a:p>
            <a:pPr algn="l" indent="0" marL="0">
              <a:buNone/>
            </a:pPr>
            <a:r>
              <a:rPr lang="en-US" altLang="en-US" sz="1400" dirty="0">
                <a:solidFill>
                  <a:srgbClr val="2B2620"/>
                </a:solidFill>
              </a:rPr>
              <a:t>Staged team training.</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Case studies (general lessons)</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dirty="0">
                <a:solidFill>
                  <a:srgbClr val="2B2620"/>
                </a:solidFill>
              </a:rPr>
              <a:t>Successful projects set </a:t>
            </a:r>
            <a:pPr algn="l" indent="0" marL="0">
              <a:buNone/>
            </a:pPr>
            <a:r>
              <a:rPr lang="en-US" altLang="en-US" sz="1400" b="1" dirty="0">
                <a:solidFill>
                  <a:srgbClr val="2B2620"/>
                </a:solidFill>
              </a:rPr>
              <a:t>clear BIM goals</a:t>
            </a:r>
            <a:pPr algn="l" indent="0" marL="0">
              <a:buNone/>
            </a:pPr>
            <a:r>
              <a:rPr lang="en-US" altLang="en-US" sz="1400" dirty="0">
                <a:solidFill>
                  <a:srgbClr val="2B2620"/>
                </a:solidFill>
              </a:rPr>
              <a:t> from the start.</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b="1" dirty="0">
                <a:solidFill>
                  <a:srgbClr val="2B2620"/>
                </a:solidFill>
              </a:rPr>
              <a:t>Early contractor involvement</a:t>
            </a:r>
            <a:pPr algn="l" indent="0" marL="0">
              <a:buNone/>
            </a:pPr>
            <a:r>
              <a:rPr lang="en-US" altLang="en-US" sz="1400" dirty="0">
                <a:solidFill>
                  <a:srgbClr val="2B2620"/>
                </a:solidFill>
              </a:rPr>
              <a:t> reduces clashes and changes.</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b="1" dirty="0">
                <a:solidFill>
                  <a:srgbClr val="2B2620"/>
                </a:solidFill>
              </a:rPr>
              <a:t>Prefabrication</a:t>
            </a:r>
            <a:pPr algn="l" indent="0" marL="0">
              <a:buNone/>
            </a:pPr>
            <a:r>
              <a:rPr lang="en-US" altLang="en-US" sz="1400" dirty="0">
                <a:solidFill>
                  <a:srgbClr val="2B2620"/>
                </a:solidFill>
              </a:rPr>
              <a:t> saved a lot of time on complex projects.</a:t>
            </a:r>
            <a:endParaRPr lang="en-US" sz="1400" dirty="0"/>
          </a:p>
        </p:txBody>
      </p:sp>
      <p:sp>
        <p:nvSpPr>
          <p:cNvPr id="15" name="card3"/>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6415888" y="3566160"/>
            <a:ext cx="457200" cy="457200"/>
          </a:xfrm>
          <a:prstGeom prst="ellipse">
            <a:avLst/>
          </a:prstGeom>
          <a:solidFill>
            <a:schemeClr val="accent2"/>
          </a:solidFill>
          <a:ln/>
        </p:spPr>
      </p:sp>
      <p:sp>
        <p:nvSpPr>
          <p:cNvPr id="17" name="Text 15"/>
          <p:cNvSpPr txBox="1"/>
          <p:nvPr/>
        </p:nvSpPr>
        <p:spPr>
          <a:xfrm>
            <a:off x="641588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6415888" y="4114800"/>
            <a:ext cx="5044288" cy="914400"/>
          </a:xfrm>
          <a:prstGeom prst="rect">
            <a:avLst/>
          </a:prstGeom>
          <a:noFill/>
          <a:ln/>
        </p:spPr>
        <p:txBody>
          <a:bodyPr wrap="square" rtlCol="0" anchor="t"/>
          <a:lstStyle/>
          <a:p>
            <a:pPr algn="l" indent="0" marL="0">
              <a:buNone/>
            </a:pPr>
            <a:r>
              <a:rPr lang="en-US" altLang="en-US" sz="1400" dirty="0">
                <a:solidFill>
                  <a:srgbClr val="2B2620"/>
                </a:solidFill>
              </a:rPr>
              <a:t>A </a:t>
            </a:r>
            <a:pPr algn="l" indent="0" marL="0">
              <a:buNone/>
            </a:pPr>
            <a:r>
              <a:rPr lang="en-US" altLang="en-US" sz="1400" b="1" dirty="0">
                <a:solidFill>
                  <a:srgbClr val="2B2620"/>
                </a:solidFill>
              </a:rPr>
              <a:t>handover model</a:t>
            </a:r>
            <a:pPr algn="l" indent="0" marL="0">
              <a:buNone/>
            </a:pPr>
            <a:r>
              <a:rPr lang="en-US" altLang="en-US" sz="1400" dirty="0">
                <a:solidFill>
                  <a:srgbClr val="2B2620"/>
                </a:solidFill>
              </a:rPr>
              <a:t> only helps the owner if it holds the data actually needed for maintenance.</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Eng. Omar Khamis's takeaways</a:t>
            </a:r>
            <a:endParaRPr lang="en-US" sz="3000" dirty="0"/>
          </a:p>
        </p:txBody>
      </p:sp>
      <p:sp>
        <p:nvSpPr>
          <p:cNvPr id="3" name="card0"/>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3149498" cy="914400"/>
          </a:xfrm>
          <a:prstGeom prst="rect">
            <a:avLst/>
          </a:prstGeom>
          <a:noFill/>
          <a:ln/>
        </p:spPr>
        <p:txBody>
          <a:bodyPr wrap="square" rtlCol="0" anchor="t"/>
          <a:lstStyle/>
          <a:p>
            <a:pPr algn="l" indent="0" marL="0">
              <a:buNone/>
            </a:pPr>
            <a:r>
              <a:rPr lang="en-US" altLang="en-US" sz="1400" dirty="0">
                <a:solidFill>
                  <a:srgbClr val="2B2620"/>
                </a:solidFill>
              </a:rPr>
              <a:t>BIM = </a:t>
            </a:r>
            <a:pPr algn="l" indent="0" marL="0">
              <a:buNone/>
            </a:pPr>
            <a:r>
              <a:rPr lang="en-US" altLang="en-US" sz="1400" b="1" dirty="0">
                <a:solidFill>
                  <a:srgbClr val="2B2620"/>
                </a:solidFill>
              </a:rPr>
              <a:t>model + information + collaboration</a:t>
            </a:r>
            <a:pPr algn="l" indent="0" marL="0">
              <a:buNone/>
            </a:pPr>
            <a:r>
              <a:rPr lang="en-US" altLang="en-US" sz="1400" dirty="0">
                <a:solidFill>
                  <a:srgbClr val="2B2620"/>
                </a:solidFill>
              </a:rPr>
              <a:t>, not a program.</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4521098" y="1554480"/>
            <a:ext cx="457200" cy="457200"/>
          </a:xfrm>
          <a:prstGeom prst="ellipse">
            <a:avLst/>
          </a:prstGeom>
          <a:solidFill>
            <a:schemeClr val="accent2"/>
          </a:solidFill>
          <a:ln/>
        </p:spPr>
      </p:sp>
      <p:sp>
        <p:nvSpPr>
          <p:cNvPr id="9" name="Text 7"/>
          <p:cNvSpPr txBox="1"/>
          <p:nvPr/>
        </p:nvSpPr>
        <p:spPr>
          <a:xfrm>
            <a:off x="452109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algn="l" indent="0" marL="0">
              <a:buNone/>
            </a:pPr>
            <a:r>
              <a:rPr lang="en-US" altLang="en-US" sz="1400" dirty="0">
                <a:solidFill>
                  <a:srgbClr val="2B2620"/>
                </a:solidFill>
              </a:rPr>
              <a:t>Agree </a:t>
            </a:r>
            <a:pPr algn="l" indent="0" marL="0">
              <a:buNone/>
            </a:pPr>
            <a:r>
              <a:rPr lang="en-US" altLang="en-US" sz="1400" b="1" dirty="0">
                <a:solidFill>
                  <a:srgbClr val="2B2620"/>
                </a:solidFill>
              </a:rPr>
              <a:t>coordinates, units, naming and LOD</a:t>
            </a:r>
            <a:pPr algn="l" indent="0" marL="0">
              <a:buNone/>
            </a:pPr>
            <a:r>
              <a:rPr lang="en-US" altLang="en-US" sz="1400" dirty="0">
                <a:solidFill>
                  <a:srgbClr val="2B2620"/>
                </a:solidFill>
              </a:rPr>
              <a:t> on day one.</a:t>
            </a:r>
            <a:endParaRPr lang="en-US" sz="1400" dirty="0"/>
          </a:p>
        </p:txBody>
      </p:sp>
      <p:sp>
        <p:nvSpPr>
          <p:cNvPr id="11" name="card2"/>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8310677" y="1554480"/>
            <a:ext cx="457200" cy="457200"/>
          </a:xfrm>
          <a:prstGeom prst="ellipse">
            <a:avLst/>
          </a:prstGeom>
          <a:solidFill>
            <a:schemeClr val="accent2"/>
          </a:solidFill>
          <a:ln/>
        </p:spPr>
      </p:sp>
      <p:sp>
        <p:nvSpPr>
          <p:cNvPr id="13" name="Text 11"/>
          <p:cNvSpPr txBox="1"/>
          <p:nvPr/>
        </p:nvSpPr>
        <p:spPr>
          <a:xfrm>
            <a:off x="831067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8310677" y="2103120"/>
            <a:ext cx="3149498" cy="914400"/>
          </a:xfrm>
          <a:prstGeom prst="rect">
            <a:avLst/>
          </a:prstGeom>
          <a:noFill/>
          <a:ln/>
        </p:spPr>
        <p:txBody>
          <a:bodyPr wrap="square" rtlCol="0" anchor="t"/>
          <a:lstStyle/>
          <a:p>
            <a:pPr algn="l" indent="0" marL="0">
              <a:buNone/>
            </a:pPr>
            <a:r>
              <a:rPr lang="en-US" altLang="en-US" sz="1400" dirty="0">
                <a:solidFill>
                  <a:srgbClr val="2B2620"/>
                </a:solidFill>
              </a:rPr>
              <a:t>A clash on screen is far cheaper than a clash on site.</a:t>
            </a:r>
            <a:endParaRPr lang="en-US" sz="1400" dirty="0"/>
          </a:p>
        </p:txBody>
      </p:sp>
      <p:sp>
        <p:nvSpPr>
          <p:cNvPr id="15" name="card3"/>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731520" y="3566160"/>
            <a:ext cx="457200" cy="457200"/>
          </a:xfrm>
          <a:prstGeom prst="ellipse">
            <a:avLst/>
          </a:prstGeom>
          <a:solidFill>
            <a:schemeClr val="accent2"/>
          </a:solidFill>
          <a:ln/>
        </p:spPr>
      </p:sp>
      <p:sp>
        <p:nvSpPr>
          <p:cNvPr id="17" name="Text 15"/>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3149498" cy="914400"/>
          </a:xfrm>
          <a:prstGeom prst="rect">
            <a:avLst/>
          </a:prstGeom>
          <a:noFill/>
          <a:ln/>
        </p:spPr>
        <p:txBody>
          <a:bodyPr wrap="square" rtlCol="0" anchor="t"/>
          <a:lstStyle/>
          <a:p>
            <a:pPr algn="l" indent="0" marL="0">
              <a:buNone/>
            </a:pPr>
            <a:r>
              <a:rPr lang="en-US" altLang="en-US" sz="1400" dirty="0">
                <a:solidFill>
                  <a:srgbClr val="2B2620"/>
                </a:solidFill>
              </a:rPr>
              <a:t>Start with a pilot and build an office </a:t>
            </a:r>
            <a:pPr algn="l" indent="0" marL="0">
              <a:buNone/>
            </a:pPr>
            <a:r>
              <a:rPr lang="en-US" altLang="en-US" sz="1400" b="1" dirty="0">
                <a:solidFill>
                  <a:srgbClr val="2B2620"/>
                </a:solidFill>
              </a:rPr>
              <a:t>template and library</a:t>
            </a:r>
            <a:pPr algn="l" indent="0" marL="0">
              <a:buNone/>
            </a:pPr>
            <a:r>
              <a:rPr lang="en-US" altLang="en-US" sz="1400" dirty="0">
                <a:solidFill>
                  <a:srgbClr val="2B2620"/>
                </a:solidFill>
              </a:rPr>
              <a:t>.</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4521098" y="3566160"/>
            <a:ext cx="457200" cy="457200"/>
          </a:xfrm>
          <a:prstGeom prst="ellipse">
            <a:avLst/>
          </a:prstGeom>
          <a:solidFill>
            <a:schemeClr val="accent2"/>
          </a:solidFill>
          <a:ln/>
        </p:spPr>
      </p:sp>
      <p:sp>
        <p:nvSpPr>
          <p:cNvPr id="21" name="Text 19"/>
          <p:cNvSpPr txBox="1"/>
          <p:nvPr/>
        </p:nvSpPr>
        <p:spPr>
          <a:xfrm>
            <a:off x="452109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algn="l" indent="0" marL="0">
              <a:buNone/>
            </a:pPr>
            <a:r>
              <a:rPr lang="en-US" altLang="en-US" sz="1400" dirty="0">
                <a:solidFill>
                  <a:srgbClr val="2B2620"/>
                </a:solidFill>
              </a:rPr>
              <a:t>Hand the owner an </a:t>
            </a:r>
            <a:pPr algn="l" indent="0" marL="0">
              <a:buNone/>
            </a:pPr>
            <a:r>
              <a:rPr lang="en-US" altLang="en-US" sz="1400" b="1" dirty="0">
                <a:solidFill>
                  <a:srgbClr val="2B2620"/>
                </a:solidFill>
              </a:rPr>
              <a:t>as-built</a:t>
            </a:r>
            <a:pPr algn="l" indent="0" marL="0">
              <a:buNone/>
            </a:pPr>
            <a:r>
              <a:rPr lang="en-US" altLang="en-US" sz="1400" dirty="0">
                <a:solidFill>
                  <a:srgbClr val="2B2620"/>
                </a:solidFill>
              </a:rPr>
              <a:t> model with maintenance data.</a:t>
            </a:r>
            <a:endParaRPr lang="en-US" sz="1400" dirty="0"/>
          </a:p>
        </p:txBody>
      </p:sp>
      <p:sp>
        <p:nvSpPr>
          <p:cNvPr id="23" name="Text 21"/>
          <p:cNvSpPr txBox="1"/>
          <p:nvPr/>
        </p:nvSpPr>
        <p:spPr>
          <a:xfrm>
            <a:off x="548640" y="5806440"/>
            <a:ext cx="11094415" cy="457200"/>
          </a:xfrm>
          <a:prstGeom prst="rect">
            <a:avLst/>
          </a:prstGeom>
          <a:solidFill>
            <a:srgbClr val="FBF6EA"/>
          </a:solidFill>
          <a:ln/>
        </p:spPr>
        <p:txBody>
          <a:bodyPr wrap="square" rtlCol="0" anchor="ctr"/>
          <a:lstStyle/>
          <a:p>
            <a:pPr algn="l" indent="0" marL="0">
              <a:buNone/>
            </a:pPr>
            <a:r>
              <a:rPr lang="en-US" altLang="en-US" sz="1200" i="1" dirty="0">
                <a:solidFill>
                  <a:srgbClr val="8A5A10"/>
                </a:solidFill>
              </a:rPr>
              <a:t>Summary by Eng. Omar Khamis — Omar Khamis Library for SketchUp.</a:t>
            </a:r>
            <a:endParaRPr lang="en-US" sz="12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algn="ctr" indent="0" marL="0">
              <a:buNone/>
            </a:pPr>
            <a:r>
              <a:rPr lang="en-US" altLang="en-US" sz="4000" b="1" dirty="0">
                <a:solidFill>
                  <a:srgbClr val="FFFFFF"/>
                </a:solidFill>
              </a:rPr>
              <a:t>Thank you</a:t>
            </a: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algn="ctr" indent="0" marL="0">
              <a:buNone/>
            </a:pPr>
            <a:r>
              <a:rPr lang="en-US" altLang="en-US" sz="1800" dirty="0">
                <a:solidFill>
                  <a:srgbClr val="E3C278"/>
                </a:solidFill>
              </a:rPr>
              <a:t>Summary by Eng. Omar Khamis  •  +20 100 543 3170</a:t>
            </a:r>
            <a:endParaRPr lang="en-US" sz="1800" dirty="0"/>
          </a:p>
        </p:txBody>
      </p:sp>
      <p:sp>
        <p:nvSpPr>
          <p:cNvPr id="4" name="Text 2"/>
          <p:cNvSpPr txBox="1"/>
          <p:nvPr/>
        </p:nvSpPr>
        <p:spPr>
          <a:xfrm>
            <a:off x="914400" y="5577840"/>
            <a:ext cx="10362895" cy="548640"/>
          </a:xfrm>
          <a:prstGeom prst="rect">
            <a:avLst/>
          </a:prstGeom>
          <a:noFill/>
          <a:ln/>
        </p:spPr>
        <p:txBody>
          <a:bodyPr wrap="square" rtlCol="0" anchor="ctr"/>
          <a:lstStyle/>
          <a:p>
            <a:pPr algn="ctr" indent="0" marL="0">
              <a:buNone/>
            </a:pPr>
            <a:r>
              <a:rPr lang="en-US" altLang="en-US" sz="1400" dirty="0">
                <a:solidFill>
                  <a:srgbClr val="E3C278"/>
                </a:solidFill>
              </a:rPr>
              <a:t>Omar Khamis Library for SketchUp</a:t>
            </a:r>
            <a:endParaRPr lang="en-US" sz="1400" dirty="0"/>
          </a:p>
        </p:txBody>
      </p:sp>
    </p:spTree>
  </p:cSld>
  <p:clrMapOvr>
    <a:masterClrMapping/>
  </p:clrMapOvr>
</p:sld>
</file>

<file path=ppt/theme/theme1.xml><?xml version="1.0" encoding="utf-8"?>
<a:theme xmlns:a="http://schemas.openxmlformats.org/drawingml/2006/main" name="Omar Khamis Library">
  <a:themeElements>
    <a:clrScheme name="Omar Khamis Library">
      <a:dk1>
        <a:srgbClr val="2B2620"/>
      </a:dk1>
      <a:lt1>
        <a:srgbClr val="FFFFFF"/>
      </a:lt1>
      <a:dk2>
        <a:srgbClr val="4A3F2E"/>
      </a:dk2>
      <a:lt2>
        <a:srgbClr val="F3ECDD"/>
      </a:lt2>
      <a:accent1>
        <a:srgbClr val="C9A24A"/>
      </a:accent1>
      <a:accent2>
        <a:srgbClr val="2E7D5B"/>
      </a:accent2>
      <a:accent3>
        <a:srgbClr val="1D5FA8"/>
      </a:accent3>
      <a:accent4>
        <a:srgbClr val="2E7D5B"/>
      </a:accent4>
      <a:accent5>
        <a:srgbClr val="A0522D"/>
      </a:accent5>
      <a:accent6>
        <a:srgbClr val="7A3E65"/>
      </a:accent6>
      <a:hlink>
        <a:srgbClr val="1D5FA8"/>
      </a:hlink>
      <a:folHlink>
        <a:srgbClr val="8A5A10"/>
      </a:folHlink>
    </a:clrScheme>
    <a:fontScheme name="Omar Khamis Libra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Omar Khamis Library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Summary: BIM Handbook</dc:title>
  <dc:subject>PptxGenJS Presentation</dc:subject>
  <dc:creator>Eng. Omar Khamis</dc:creator>
  <cp:lastModifiedBy>Eng. Omar Khamis</cp:lastModifiedBy>
  <cp:revision>1</cp:revision>
  <dcterms:created xsi:type="dcterms:W3CDTF">2026-10-15T12:37:10Z</dcterms:created>
  <dcterms:modified xsi:type="dcterms:W3CDTF">2026-10-15T12:37:10Z</dcterms:modified>
</cp:coreProperties>
</file>