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b39287ae-d941-a417-2dac-4f7b23714f23}">
          <p14:sldIdLst>
            <p14:sldId id="256"/>
          </p14:sldIdLst>
        </p14:section>
        <p14:section name="المحتوى" id="{0e73187c-6ae6-d39d-e737-0bb78672ce7d}">
          <p14:sldIdLst>
            <p14:sldId id="257"/>
          </p14:sldIdLst>
        </p14:section>
        <p14:section name="الملخص" id="{a3f39d91-3c96-b3e0-767c-7ca826e21ded}">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الختام" id="{db54dc31-1095-f6e0-f1be-a471636d6ac9}">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كتاب «بيانات المعماري» لإرنست نويفرت ظهر أول مرة بالألماني سنة 1936 باسم Bauentwurfslehre، وبقى من ساعتها أشهر مرجع للأبعاد في العالم. الطبعة الإنجليزية الخامسة (2019) بيحررها فريق تحت إشراف يوهانس كيستر، ومحدّثة بالمعايير الأوروبية الحديثة.
الكتاب مش «رواية» بتتقري من الأول للآخر. هو أطلس لوحات: كل صفحة تقريباً رسومات بأبعاد، وكل نوع مبنى ليه مجموعة لوحات بتوريك الفراغات المطلوبة ومقاساتها والعلاقات بينها.
إزاي تستخدم الكتاب صح
ابدأ بالفصل الخاص بنوع المشروع (سكني، مكتب، مدرسة...) واعرف برنامج المساحات المعتاد.
ارجع لفصول الأساسيات (الإنسان والحركة) لما تحتاج تبرر عرض ممر أو مسافة بين أثاث.
خد الأرقام كـنقطة بداية، وبعدين طابقها مع الكود المحلي (المصري أو السعودي) واشتراطات الجهة المالكة.
تقسيم الكتاب بشكل عام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فكرة نويفرت الأساسية إن جسم الإنسان وحركته هما اللي بيحددوا أبعاد كل حاجة حواليه: من ارتفاع الدرجة لحد عرض الممر وارتفاع السقف.
أبعاد الجسم التقريبية (شخص بالغ متوسط)
مساحات الحركة
شخص ماشي محتاج عرض حوالي 60–65 سم، ولو شايل شنط حوالي 75–80 سم.
اتنين ماشيين جنب بعض أو بيعدّوا على بعض: 110–125 سم.
كرسي متحرك: عرض 75–80 سم، ودائرة لف قطرها 150 سم.
مناطق الوصول المريح
الرفوف اللي بتستخدم كتير تكون بين 70 و170 سم.
تحت 40 سم وفوق 190 سم: للتخزين اللي مش بيستخدم كتير.
أسطح الشغل واقف: أقل من ارتفاع الكوع بحوالي 10–15 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التنسيق البعدي (Modular Coordination) معناه إن مقاسات العناصر تكون مضاعفات لوحدة أساسية، فالقطع تركب مع بعض من غير قص كتير.
الوحدة الأساسية الشائعة عالمياً M = 10 سم، ومضاعفاتها 3M و6M و12M.
البلاطات 30 و60 و120، ألواح الجبس 120 سم عرض، والطوب 25×12×6 تقريباً، كلها متصممة عشان تتناسب مع شبكة.
لما المسقط يكون على شبكة منتظمة (مثلاً 60 أو 120 سم)، الهالك بيقل في البلاط والأسقف المعلقة والقواطيع.
نسب ومقاييس
نويفرت بيتكلم عن النسب الجمالية (زي النسبة الذهبية 1:1.618) وإزاي المعماريين استخدموها تاريخياً. بس الأهم عملياً هو الاتساق: نفس الشبكة ونفس الإيقاع في الواجهة والمسقط.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مقاييس الرسم المعتادة: الموقع العام 1:500 أو 1:200، المساقط 1:100 أو 1:50، التفاصيل 1:20 و1:10 و1:5.
كل مقياس ليه مستوى تفاصيل: في 1:100 الحائط خطين وبس، في 1:20 بتظهر طبقات البياض والعزل.
التوقيع (Dimensioning): خطوط أبعاد خارجية متدرجة (فتحات، محاور، كلي)، والمناسيب بالنسبة لمنسوب صفر المشروع.
مستويات الرسومات في المشروع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معادلة الدرجة
القاعدة المعروفة عند نويفرت: 2 × القائمة + النائمة ≈ 63 سم (طول خطوة الإنسان العادية)، والمقبول بين 59 و65.
اشتراطات عامة
أقل خلوص رأسي فوق السلم حوالي 210 سم.
بسطة بعد حوالي 16–18 درجة في الطلعة الواحدة.
عرض البسطة لا يقل عن عرض السلم.
الدرابزين حوالي 90 سم من حافة الدرجة، ويزيد في الأماكن العامة والأدوار العالية.
المنحدرات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الأبواب
اتجاه فتح الباب: يفتح ناحية الحائط مش ناحية الغرفة، وما يخبطش في باب تاني أو في الأثاث.
أبواب الهروب في المباني العامة بتفتح في اتجاه الهروب.
الشبابيك
جلسة الشباك في غرف المعيشة والنوم 80–100 سم، المطبخ فوق الرخامة 105–110 سم، الحمام 150–170 سم.
مساحة الشبابيك للإضاءة الطبيعية تقريباً 1/8 لـ 1/10 من مساحة الأرضية، ونصها على الأقل يتفتح للتهوية (والكود المحلي هو الحكم).
عمق الغرفة اللي بتتنور كويس من شباك واحد حوالي 2–2.5 مرة ارتفاع أعلى الشباك.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مساحات تقريبية شائعة
علاقات الفراغات
فصل المنطقة العامة (استقبال، معيشة، سفرة، مطبخ، حمام ضيوف) عن الخاصة (نوم وحمامات).
المطبخ قريب من السفرة ومن المدخل الخدمي.
حمام لكل غرفة نوم رئيسية، وحمام مشترك لباقي الغرف.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مثلث العمل
الأضلاع الثلاثة (الحوض، البوتاجاز، الثلاجة) مجموعها 4.0–7.9 م.
كل ضلع 1.2–2.7 م.
الحوض في النص، والبوتاجاز بعيد عن الشباك والثلاجة.
الارتفاعات والأعماق
أشكال المطبخ
I (صف واحد): للمساحات الضيقة، طول 2.4–3.6 م.
II (صفين متوازيين): كفاءة عالية، الممر 1.2 م.
L: الأكثر شيوعاً، مثلث عمل مريح.
U: أكبر مساحة تخزين، يحتاج عرض 2.4 م على الأقل.
جزيرة: يحتاج 1.0–1.2 م حوالين الجزيرة.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ميل أرضية الحمام 1–2% ناحية الصفاية، وتكون أوطى من الطرقة 1–2 سم.
حمام ذوي الهمم: دائرة لف 150 سم ومسكات على ارتفاع 70–75 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السفرة
لكل فرد 60 سم عرض و40 سم عمق قدامه.
مسافة ورا الكرسي للقعدة والقيام 75–90 سم، وللمرور ورا الكراسي 90–120 سم.
المعيشة
الكنبة: مقعد 40–45 سم، عمق 85–100 سم.
ترابيزة الوسط على بعد 40–45 سم من الكنبة.
مسافة المشاهدة للتلفزيون حوالي 1.5–2.5 مرة قطر 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مساحة الموظف في المكتب المفتوح حوالي 8–12 م² شامل الحركة، والمكتب المغلق للمدير 15–25 م².
سطح المكتب 72–75 سم، ومسافة ورا الكرسي 80–100 سم.
قاعة اجتماعات: حوالي 2–2.5 م² لكل شخص.
الإضاءة على سطح المكتب حوالي 500 لوكس.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الفصل الدراسي حوالي 1.8–2.2 م² لكل طالب حسب المرحلة.
عمق الفصل يُفضّل ميتعداش 7–8 م عشان الإضاءة الطبيعية من جنب واحد.
الممرات في المدارس أعرض (غالباً 1.8–2.4 م أو حسب الكود) بسبب كثافة الحركة.
معامل وورش بمساحات أكبر للفرد وتهوية خاصة.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غرف المرضى: مساحة للسرير ومرور حوله لا يقل عن 90 سم على الجوانب للتمريض.
الممرات اللي بتعدّي فيها الأسرّة 2.4 م تقريباً (حسب الكود الصحي).
أبواب غرف المرضى عرض يسمح بمرور السرير (حوالي 110–130 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الفنادق
غرفة فندقية قياسية حوالي 24–32 م² شامل الحمام.
عرض الغرفة 3.6–4.2 م عشان السرير والمرور والدولاب.
المطاعم
مساحة صالة الطعام حوالي 1.2–1.8 م² لكل كرسي حسب المستوى.
المطبخ التجاري حوالي 30–40% من مساحة الصالة.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ارتفاع صافي الجراج 2.10–2.30 م على الأقل تحت الكمرات.
مكان ذوي الهمم عرض 3.50 م وقريب من المصعد أو المدخل.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الإضاءة الطبيعية
التوجيه: الشمال (في نصف الكرة الشمالي) بيدي إضاءة ثابتة من غير وهج، والجنوب محتاج كاسرات شمس.
في مصر والسعودية: قلل الفتحات الغربية، واعمل كاسرات أفقية للجنوب ورأسية للشرق والغرب.
الإضاءة الصناعية
التهوية والصوت
التهوية الطبيعية العرضية (شباكين على حوائط متقابلة) أكفأ بكتير من شباك واحد.
الفصل الصوتي بين الوحدات السكنية بيعتمد على كتلة الحائط/البلاطة ووجود فواصل وعوازل.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الممرات في الحدائق 1.2–2.0 م، وممر عربية 3.0–3.5 م.
الدرج الخارجي بقوائم أقل (12–15 سم) ونوائم أعرض.
حمام سباحة سكني شائع 8×4 م أو 10×5 م، والعمق من 1.2 لـ 1.8 م أو أكتر للغطس.
مسافة الأشجار الكبيرة من المباني 4–6 م على الأقل عشان الجذور.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نويفرت مرجع أبعاد وفراغات — استخدمه في أول التصميم وفي مراجعة المساقط.
أي رقم في الكتاب إرشادي ولازم يطابق الكود المحلي والاشتراطات.
اشتغل على الحركة والمرور حوالين الأثاث مش على الأثاث بس.
خلّي المسقط على شبكة منتظمة عشان التنفيذ يبقى أسهل وأرخص.
احفظ الأرقام الأساسية: الدرجة 17×29، الباب 90×210، الممر 110–120، الكرسي 45، الترابيزة 75، الرخامة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r" indent="0" marL="0">
              <a:buNone/>
              <a:defRPr lang="en-US" sz="3000" b="1" dirty="0">
                <a:solidFill>
                  <a:srgbClr val="2B2620"/>
                </a:solidFill>
              </a:defRPr>
            </a:lvl1pPr>
          </a:lstStyle>
          <a:p>
            <a:pPr algn="r" indent="0" marL="0">
              <a:buNone/>
            </a:pPr>
            <a:endParaRPr lang="en-US" sz="3000" dirty="0"/>
          </a:p>
        </p:txBody>
      </p:sp>
      <p:sp>
        <p:nvSpPr>
          <p:cNvPr id="3" name="Text 0"/>
          <p:cNvSpPr/>
          <p:nvPr/>
        </p:nvSpPr>
        <p:spPr>
          <a:xfrm>
            <a:off x="4327855" y="6400800"/>
            <a:ext cx="7315200" cy="320040"/>
          </a:xfrm>
          <a:prstGeom prst="rect">
            <a:avLst/>
          </a:prstGeom>
          <a:noFill/>
          <a:ln/>
        </p:spPr>
        <p:txBody>
          <a:bodyPr wrap="square" rtlCol="0" anchor="ctr"/>
          <a:lstStyle/>
          <a:p>
            <a:pPr algn="r" indent="0" marL="0">
              <a:buNone/>
            </a:pPr>
            <a:r>
              <a:rPr lang="ar-EG" altLang="en-US" sz="1000" dirty="0">
                <a:solidFill>
                  <a:srgbClr val="8A7E6A"/>
                </a:solidFill>
              </a:rPr>
              <a:t>مختصر وتلخيص م. عمر خميس  —  +20 100 543 3170</a:t>
            </a:r>
            <a:endParaRPr lang="ar-EG" sz="10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ملخص: بيانات المعماري — نويفرت</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مكتبة م. عمر خميس — 2026</a:t>
            </a:r>
            <a:endParaRPr lang="ar-EG"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rtl="1" algn="ctr" indent="0" marL="0">
              <a:buNone/>
            </a:pPr>
            <a:r>
              <a:rPr lang="ar-EG" altLang="en-US" sz="1200" dirty="0">
                <a:solidFill>
                  <a:srgbClr val="B9AE97"/>
                </a:solidFill>
              </a:rPr>
              <a:t>ملخص للتعلم — لا يغني عن الكتاب الأصلي</a:t>
            </a:r>
            <a:endParaRPr lang="ar-EG"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محتوى العرض</a:t>
            </a:r>
            <a:endParaRPr lang="ar-EG" sz="3000" dirty="0"/>
          </a:p>
        </p:txBody>
      </p:sp>
      <p:sp>
        <p:nvSpPr>
          <p:cNvPr id="3" name="n1"/>
          <p:cNvSpPr/>
          <p:nvPr/>
        </p:nvSpPr>
        <p:spPr>
          <a:xfrm>
            <a:off x="11094415" y="1362456"/>
            <a:ext cx="384048" cy="384048"/>
          </a:xfrm>
          <a:prstGeom prst="ellipse">
            <a:avLst/>
          </a:prstGeom>
          <a:solidFill>
            <a:schemeClr val="accent1"/>
          </a:solidFill>
          <a:ln/>
        </p:spPr>
      </p:sp>
      <p:sp>
        <p:nvSpPr>
          <p:cNvPr id="4" name="Text 2"/>
          <p:cNvSpPr txBox="1"/>
          <p:nvPr/>
        </p:nvSpPr>
        <p:spPr>
          <a:xfrm>
            <a:off x="11094415"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6187288"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مقدمة: ليه نويفرت؟</a:t>
            </a:r>
            <a:endParaRPr lang="ar-EG" sz="1500" dirty="0"/>
          </a:p>
        </p:txBody>
      </p:sp>
      <p:sp>
        <p:nvSpPr>
          <p:cNvPr id="6" name="n2"/>
          <p:cNvSpPr/>
          <p:nvPr/>
        </p:nvSpPr>
        <p:spPr>
          <a:xfrm>
            <a:off x="11094415" y="1874520"/>
            <a:ext cx="384048" cy="384048"/>
          </a:xfrm>
          <a:prstGeom prst="ellipse">
            <a:avLst/>
          </a:prstGeom>
          <a:solidFill>
            <a:schemeClr val="accent1"/>
          </a:solidFill>
          <a:ln/>
        </p:spPr>
      </p:sp>
      <p:sp>
        <p:nvSpPr>
          <p:cNvPr id="7" name="Text 5"/>
          <p:cNvSpPr txBox="1"/>
          <p:nvPr/>
        </p:nvSpPr>
        <p:spPr>
          <a:xfrm>
            <a:off x="11094415"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6187288"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الإنسان كمقياس للتصميم</a:t>
            </a:r>
            <a:endParaRPr lang="ar-EG" sz="1500" dirty="0"/>
          </a:p>
        </p:txBody>
      </p:sp>
      <p:sp>
        <p:nvSpPr>
          <p:cNvPr id="9" name="n3"/>
          <p:cNvSpPr/>
          <p:nvPr/>
        </p:nvSpPr>
        <p:spPr>
          <a:xfrm>
            <a:off x="11094415" y="2386584"/>
            <a:ext cx="384048" cy="384048"/>
          </a:xfrm>
          <a:prstGeom prst="ellipse">
            <a:avLst/>
          </a:prstGeom>
          <a:solidFill>
            <a:schemeClr val="accent1"/>
          </a:solidFill>
          <a:ln/>
        </p:spPr>
      </p:sp>
      <p:sp>
        <p:nvSpPr>
          <p:cNvPr id="10" name="Text 8"/>
          <p:cNvSpPr txBox="1"/>
          <p:nvPr/>
        </p:nvSpPr>
        <p:spPr>
          <a:xfrm>
            <a:off x="11094415"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6187288"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الوحدات والتنسيق البعدي</a:t>
            </a:r>
            <a:endParaRPr lang="ar-EG" sz="1500" dirty="0"/>
          </a:p>
        </p:txBody>
      </p:sp>
      <p:sp>
        <p:nvSpPr>
          <p:cNvPr id="12" name="n4"/>
          <p:cNvSpPr/>
          <p:nvPr/>
        </p:nvSpPr>
        <p:spPr>
          <a:xfrm>
            <a:off x="11094415" y="2898648"/>
            <a:ext cx="384048" cy="384048"/>
          </a:xfrm>
          <a:prstGeom prst="ellipse">
            <a:avLst/>
          </a:prstGeom>
          <a:solidFill>
            <a:schemeClr val="accent1"/>
          </a:solidFill>
          <a:ln/>
        </p:spPr>
      </p:sp>
      <p:sp>
        <p:nvSpPr>
          <p:cNvPr id="13" name="Text 11"/>
          <p:cNvSpPr txBox="1"/>
          <p:nvPr/>
        </p:nvSpPr>
        <p:spPr>
          <a:xfrm>
            <a:off x="11094415"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6187288"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الرسم المعماري والمقاييس</a:t>
            </a:r>
            <a:endParaRPr lang="ar-EG" sz="1500" dirty="0"/>
          </a:p>
        </p:txBody>
      </p:sp>
      <p:sp>
        <p:nvSpPr>
          <p:cNvPr id="15" name="n5"/>
          <p:cNvSpPr/>
          <p:nvPr/>
        </p:nvSpPr>
        <p:spPr>
          <a:xfrm>
            <a:off x="11094415" y="3410712"/>
            <a:ext cx="384048" cy="384048"/>
          </a:xfrm>
          <a:prstGeom prst="ellipse">
            <a:avLst/>
          </a:prstGeom>
          <a:solidFill>
            <a:schemeClr val="accent1"/>
          </a:solidFill>
          <a:ln/>
        </p:spPr>
      </p:sp>
      <p:sp>
        <p:nvSpPr>
          <p:cNvPr id="16" name="Text 14"/>
          <p:cNvSpPr txBox="1"/>
          <p:nvPr/>
        </p:nvSpPr>
        <p:spPr>
          <a:xfrm>
            <a:off x="11094415"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6187288"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السلالم والمنحدرات</a:t>
            </a:r>
            <a:endParaRPr lang="ar-EG" sz="1500" dirty="0"/>
          </a:p>
        </p:txBody>
      </p:sp>
      <p:sp>
        <p:nvSpPr>
          <p:cNvPr id="18" name="n6"/>
          <p:cNvSpPr/>
          <p:nvPr/>
        </p:nvSpPr>
        <p:spPr>
          <a:xfrm>
            <a:off x="11094415" y="3922776"/>
            <a:ext cx="384048" cy="384048"/>
          </a:xfrm>
          <a:prstGeom prst="ellipse">
            <a:avLst/>
          </a:prstGeom>
          <a:solidFill>
            <a:schemeClr val="accent1"/>
          </a:solidFill>
          <a:ln/>
        </p:spPr>
      </p:sp>
      <p:sp>
        <p:nvSpPr>
          <p:cNvPr id="19" name="Text 17"/>
          <p:cNvSpPr txBox="1"/>
          <p:nvPr/>
        </p:nvSpPr>
        <p:spPr>
          <a:xfrm>
            <a:off x="11094415"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6187288"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الأبواب والشبابيك</a:t>
            </a:r>
            <a:endParaRPr lang="ar-EG" sz="1500" dirty="0"/>
          </a:p>
        </p:txBody>
      </p:sp>
      <p:sp>
        <p:nvSpPr>
          <p:cNvPr id="21" name="n7"/>
          <p:cNvSpPr/>
          <p:nvPr/>
        </p:nvSpPr>
        <p:spPr>
          <a:xfrm>
            <a:off x="11094415" y="4434840"/>
            <a:ext cx="384048" cy="384048"/>
          </a:xfrm>
          <a:prstGeom prst="ellipse">
            <a:avLst/>
          </a:prstGeom>
          <a:solidFill>
            <a:schemeClr val="accent1"/>
          </a:solidFill>
          <a:ln/>
        </p:spPr>
      </p:sp>
      <p:sp>
        <p:nvSpPr>
          <p:cNvPr id="22" name="Text 20"/>
          <p:cNvSpPr txBox="1"/>
          <p:nvPr/>
        </p:nvSpPr>
        <p:spPr>
          <a:xfrm>
            <a:off x="11094415"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6187288" y="439826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المسكن: الغرف والمساحات</a:t>
            </a:r>
            <a:endParaRPr lang="ar-EG" sz="1500" dirty="0"/>
          </a:p>
        </p:txBody>
      </p:sp>
      <p:sp>
        <p:nvSpPr>
          <p:cNvPr id="24" name="n8"/>
          <p:cNvSpPr/>
          <p:nvPr/>
        </p:nvSpPr>
        <p:spPr>
          <a:xfrm>
            <a:off x="11094415" y="4946904"/>
            <a:ext cx="384048" cy="384048"/>
          </a:xfrm>
          <a:prstGeom prst="ellipse">
            <a:avLst/>
          </a:prstGeom>
          <a:solidFill>
            <a:schemeClr val="accent1"/>
          </a:solidFill>
          <a:ln/>
        </p:spPr>
      </p:sp>
      <p:sp>
        <p:nvSpPr>
          <p:cNvPr id="25" name="Text 23"/>
          <p:cNvSpPr txBox="1"/>
          <p:nvPr/>
        </p:nvSpPr>
        <p:spPr>
          <a:xfrm>
            <a:off x="11094415"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6187288" y="491032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المطبخ</a:t>
            </a:r>
            <a:endParaRPr lang="ar-EG" sz="1500" dirty="0"/>
          </a:p>
        </p:txBody>
      </p:sp>
      <p:sp>
        <p:nvSpPr>
          <p:cNvPr id="27" name="n9"/>
          <p:cNvSpPr/>
          <p:nvPr/>
        </p:nvSpPr>
        <p:spPr>
          <a:xfrm>
            <a:off x="11094415" y="5458968"/>
            <a:ext cx="384048" cy="384048"/>
          </a:xfrm>
          <a:prstGeom prst="ellipse">
            <a:avLst/>
          </a:prstGeom>
          <a:solidFill>
            <a:schemeClr val="accent1"/>
          </a:solidFill>
          <a:ln/>
        </p:spPr>
      </p:sp>
      <p:sp>
        <p:nvSpPr>
          <p:cNvPr id="28" name="Text 26"/>
          <p:cNvSpPr txBox="1"/>
          <p:nvPr/>
        </p:nvSpPr>
        <p:spPr>
          <a:xfrm>
            <a:off x="11094415" y="5458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6187288" y="542239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الحمامات</a:t>
            </a:r>
            <a:endParaRPr lang="ar-EG" sz="1500" dirty="0"/>
          </a:p>
        </p:txBody>
      </p:sp>
      <p:sp>
        <p:nvSpPr>
          <p:cNvPr id="30" name="n10"/>
          <p:cNvSpPr/>
          <p:nvPr/>
        </p:nvSpPr>
        <p:spPr>
          <a:xfrm>
            <a:off x="5455768" y="1362456"/>
            <a:ext cx="384048" cy="384048"/>
          </a:xfrm>
          <a:prstGeom prst="ellipse">
            <a:avLst/>
          </a:prstGeom>
          <a:solidFill>
            <a:schemeClr val="accent1"/>
          </a:solidFill>
          <a:ln/>
        </p:spPr>
      </p:sp>
      <p:sp>
        <p:nvSpPr>
          <p:cNvPr id="31" name="Text 29"/>
          <p:cNvSpPr txBox="1"/>
          <p:nvPr/>
        </p:nvSpPr>
        <p:spPr>
          <a:xfrm>
            <a:off x="545576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548640"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أماكن الجلوس والأكل</a:t>
            </a:r>
            <a:endParaRPr lang="ar-EG" sz="1500" dirty="0"/>
          </a:p>
        </p:txBody>
      </p:sp>
      <p:sp>
        <p:nvSpPr>
          <p:cNvPr id="33" name="n11"/>
          <p:cNvSpPr/>
          <p:nvPr/>
        </p:nvSpPr>
        <p:spPr>
          <a:xfrm>
            <a:off x="5455768" y="1874520"/>
            <a:ext cx="384048" cy="384048"/>
          </a:xfrm>
          <a:prstGeom prst="ellipse">
            <a:avLst/>
          </a:prstGeom>
          <a:solidFill>
            <a:schemeClr val="accent1"/>
          </a:solidFill>
          <a:ln/>
        </p:spPr>
      </p:sp>
      <p:sp>
        <p:nvSpPr>
          <p:cNvPr id="34" name="Text 32"/>
          <p:cNvSpPr txBox="1"/>
          <p:nvPr/>
        </p:nvSpPr>
        <p:spPr>
          <a:xfrm>
            <a:off x="545576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548640"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المكاتب</a:t>
            </a:r>
            <a:endParaRPr lang="ar-EG" sz="1500" dirty="0"/>
          </a:p>
        </p:txBody>
      </p:sp>
      <p:sp>
        <p:nvSpPr>
          <p:cNvPr id="36" name="n12"/>
          <p:cNvSpPr/>
          <p:nvPr/>
        </p:nvSpPr>
        <p:spPr>
          <a:xfrm>
            <a:off x="5455768" y="2386584"/>
            <a:ext cx="384048" cy="384048"/>
          </a:xfrm>
          <a:prstGeom prst="ellipse">
            <a:avLst/>
          </a:prstGeom>
          <a:solidFill>
            <a:schemeClr val="accent1"/>
          </a:solidFill>
          <a:ln/>
        </p:spPr>
      </p:sp>
      <p:sp>
        <p:nvSpPr>
          <p:cNvPr id="37" name="Text 35"/>
          <p:cNvSpPr txBox="1"/>
          <p:nvPr/>
        </p:nvSpPr>
        <p:spPr>
          <a:xfrm>
            <a:off x="545576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548640"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المدارس والمباني التعليمية</a:t>
            </a:r>
            <a:endParaRPr lang="ar-EG" sz="1500" dirty="0"/>
          </a:p>
        </p:txBody>
      </p:sp>
      <p:sp>
        <p:nvSpPr>
          <p:cNvPr id="39" name="n13"/>
          <p:cNvSpPr/>
          <p:nvPr/>
        </p:nvSpPr>
        <p:spPr>
          <a:xfrm>
            <a:off x="5455768" y="2898648"/>
            <a:ext cx="384048" cy="384048"/>
          </a:xfrm>
          <a:prstGeom prst="ellipse">
            <a:avLst/>
          </a:prstGeom>
          <a:solidFill>
            <a:schemeClr val="accent1"/>
          </a:solidFill>
          <a:ln/>
        </p:spPr>
      </p:sp>
      <p:sp>
        <p:nvSpPr>
          <p:cNvPr id="40" name="Text 38"/>
          <p:cNvSpPr txBox="1"/>
          <p:nvPr/>
        </p:nvSpPr>
        <p:spPr>
          <a:xfrm>
            <a:off x="545576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548640"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المباني الصحية (نظرة عامة)</a:t>
            </a:r>
            <a:endParaRPr lang="ar-EG" sz="1500" dirty="0"/>
          </a:p>
        </p:txBody>
      </p:sp>
      <p:sp>
        <p:nvSpPr>
          <p:cNvPr id="42" name="n14"/>
          <p:cNvSpPr/>
          <p:nvPr/>
        </p:nvSpPr>
        <p:spPr>
          <a:xfrm>
            <a:off x="5455768" y="3410712"/>
            <a:ext cx="384048" cy="384048"/>
          </a:xfrm>
          <a:prstGeom prst="ellipse">
            <a:avLst/>
          </a:prstGeom>
          <a:solidFill>
            <a:schemeClr val="accent1"/>
          </a:solidFill>
          <a:ln/>
        </p:spPr>
      </p:sp>
      <p:sp>
        <p:nvSpPr>
          <p:cNvPr id="43" name="Text 41"/>
          <p:cNvSpPr txBox="1"/>
          <p:nvPr/>
        </p:nvSpPr>
        <p:spPr>
          <a:xfrm>
            <a:off x="545576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14</a:t>
            </a:r>
            <a:endParaRPr lang="en-US" sz="1300" dirty="0"/>
          </a:p>
        </p:txBody>
      </p:sp>
      <p:sp>
        <p:nvSpPr>
          <p:cNvPr id="44" name="Text 42"/>
          <p:cNvSpPr txBox="1"/>
          <p:nvPr/>
        </p:nvSpPr>
        <p:spPr>
          <a:xfrm>
            <a:off x="548640"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الفنادق والمطاعم</a:t>
            </a:r>
            <a:endParaRPr lang="ar-EG" sz="1500" dirty="0"/>
          </a:p>
        </p:txBody>
      </p:sp>
      <p:sp>
        <p:nvSpPr>
          <p:cNvPr id="45" name="n15"/>
          <p:cNvSpPr/>
          <p:nvPr/>
        </p:nvSpPr>
        <p:spPr>
          <a:xfrm>
            <a:off x="5455768" y="3922776"/>
            <a:ext cx="384048" cy="384048"/>
          </a:xfrm>
          <a:prstGeom prst="ellipse">
            <a:avLst/>
          </a:prstGeom>
          <a:solidFill>
            <a:schemeClr val="accent1"/>
          </a:solidFill>
          <a:ln/>
        </p:spPr>
      </p:sp>
      <p:sp>
        <p:nvSpPr>
          <p:cNvPr id="46" name="Text 44"/>
          <p:cNvSpPr txBox="1"/>
          <p:nvPr/>
        </p:nvSpPr>
        <p:spPr>
          <a:xfrm>
            <a:off x="545576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47" name="Text 45"/>
          <p:cNvSpPr txBox="1"/>
          <p:nvPr/>
        </p:nvSpPr>
        <p:spPr>
          <a:xfrm>
            <a:off x="548640"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الجراجات ومواقف السيارات</a:t>
            </a:r>
            <a:endParaRPr lang="ar-EG" sz="1500" dirty="0"/>
          </a:p>
        </p:txBody>
      </p:sp>
      <p:sp>
        <p:nvSpPr>
          <p:cNvPr id="48" name="n16"/>
          <p:cNvSpPr/>
          <p:nvPr/>
        </p:nvSpPr>
        <p:spPr>
          <a:xfrm>
            <a:off x="5455768" y="4434840"/>
            <a:ext cx="384048" cy="384048"/>
          </a:xfrm>
          <a:prstGeom prst="ellipse">
            <a:avLst/>
          </a:prstGeom>
          <a:solidFill>
            <a:schemeClr val="accent1"/>
          </a:solidFill>
          <a:ln/>
        </p:spPr>
      </p:sp>
      <p:sp>
        <p:nvSpPr>
          <p:cNvPr id="49" name="Text 47"/>
          <p:cNvSpPr txBox="1"/>
          <p:nvPr/>
        </p:nvSpPr>
        <p:spPr>
          <a:xfrm>
            <a:off x="5455768"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16</a:t>
            </a:r>
            <a:endParaRPr lang="en-US" sz="1300" dirty="0"/>
          </a:p>
        </p:txBody>
      </p:sp>
      <p:sp>
        <p:nvSpPr>
          <p:cNvPr id="50" name="Text 48"/>
          <p:cNvSpPr txBox="1"/>
          <p:nvPr/>
        </p:nvSpPr>
        <p:spPr>
          <a:xfrm>
            <a:off x="548640" y="439826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الإضاءة والتهوية والصوت</a:t>
            </a:r>
            <a:endParaRPr lang="ar-EG" sz="1500" dirty="0"/>
          </a:p>
        </p:txBody>
      </p:sp>
      <p:sp>
        <p:nvSpPr>
          <p:cNvPr id="51" name="n17"/>
          <p:cNvSpPr/>
          <p:nvPr/>
        </p:nvSpPr>
        <p:spPr>
          <a:xfrm>
            <a:off x="5455768" y="4946904"/>
            <a:ext cx="384048" cy="384048"/>
          </a:xfrm>
          <a:prstGeom prst="ellipse">
            <a:avLst/>
          </a:prstGeom>
          <a:solidFill>
            <a:schemeClr val="accent1"/>
          </a:solidFill>
          <a:ln/>
        </p:spPr>
      </p:sp>
      <p:sp>
        <p:nvSpPr>
          <p:cNvPr id="52" name="Text 50"/>
          <p:cNvSpPr txBox="1"/>
          <p:nvPr/>
        </p:nvSpPr>
        <p:spPr>
          <a:xfrm>
            <a:off x="5455768"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17</a:t>
            </a:r>
            <a:endParaRPr lang="en-US" sz="1300" dirty="0"/>
          </a:p>
        </p:txBody>
      </p:sp>
      <p:sp>
        <p:nvSpPr>
          <p:cNvPr id="53" name="Text 51"/>
          <p:cNvSpPr txBox="1"/>
          <p:nvPr/>
        </p:nvSpPr>
        <p:spPr>
          <a:xfrm>
            <a:off x="548640" y="491032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الفراغات الخارجية</a:t>
            </a:r>
            <a:endParaRPr lang="ar-EG" sz="1500" dirty="0"/>
          </a:p>
        </p:txBody>
      </p:sp>
      <p:sp>
        <p:nvSpPr>
          <p:cNvPr id="54" name="n18"/>
          <p:cNvSpPr/>
          <p:nvPr/>
        </p:nvSpPr>
        <p:spPr>
          <a:xfrm>
            <a:off x="5455768" y="5458968"/>
            <a:ext cx="384048" cy="384048"/>
          </a:xfrm>
          <a:prstGeom prst="ellipse">
            <a:avLst/>
          </a:prstGeom>
          <a:solidFill>
            <a:schemeClr val="accent1"/>
          </a:solidFill>
          <a:ln/>
        </p:spPr>
      </p:sp>
      <p:sp>
        <p:nvSpPr>
          <p:cNvPr id="55" name="Text 53"/>
          <p:cNvSpPr txBox="1"/>
          <p:nvPr/>
        </p:nvSpPr>
        <p:spPr>
          <a:xfrm>
            <a:off x="5455768" y="5458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18</a:t>
            </a:r>
            <a:endParaRPr lang="en-US" sz="1300" dirty="0"/>
          </a:p>
        </p:txBody>
      </p:sp>
      <p:sp>
        <p:nvSpPr>
          <p:cNvPr id="56" name="Text 54"/>
          <p:cNvSpPr txBox="1"/>
          <p:nvPr/>
        </p:nvSpPr>
        <p:spPr>
          <a:xfrm>
            <a:off x="548640" y="5422392"/>
            <a:ext cx="4907128" cy="457200"/>
          </a:xfrm>
          <a:prstGeom prst="rect">
            <a:avLst/>
          </a:prstGeom>
          <a:noFill/>
          <a:ln/>
        </p:spPr>
        <p:txBody>
          <a:bodyPr wrap="square" rtlCol="0" anchor="ctr"/>
          <a:lstStyle/>
          <a:p>
            <a:pPr rtl="1" algn="r" indent="0" marL="0">
              <a:buNone/>
            </a:pPr>
            <a:r>
              <a:rPr lang="ar-EG" altLang="en-US" sz="1500" dirty="0">
                <a:solidFill>
                  <a:schemeClr val="tx1"/>
                </a:solidFill>
              </a:rPr>
              <a:t>خلاصة م. عمر خميس</a:t>
            </a:r>
            <a:endParaRPr lang="ar-EG"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مقدمة: ليه نويفرت؟</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كتاب «بيانات المعماري» لإرنست نويفرت ظهر أول مرة بالألماني سنة 1936 باسم Bauentwurfslehre، وبقى من ساعتها أشهر مرجع للأبعاد في العالم. …</a:t>
            </a:r>
            <a:endParaRPr lang="en-US" sz="1400" dirty="0"/>
          </a:p>
          <a:p>
            <a:pPr rtl="1" algn="r" marL="342900" indent="-342900">
              <a:spcAft>
                <a:spcPts val="800"/>
              </a:spcAft>
              <a:buSzPct val="100000"/>
              <a:buChar char="•"/>
            </a:pPr>
            <a:r>
              <a:rPr lang="ar-EG" altLang="en-US" sz="1400" dirty="0">
                <a:solidFill>
                  <a:srgbClr val="2B2620"/>
                </a:solidFill>
              </a:rPr>
              <a:t>الكتاب مش «رواية» بتتقري من الأول للآخر. هو </a:t>
            </a:r>
            <a:pPr rtl="1" algn="r" marL="342900" indent="-342900">
              <a:spcAft>
                <a:spcPts val="800"/>
              </a:spcAft>
              <a:buSzPct val="100000"/>
              <a:buChar char="•"/>
            </a:pPr>
            <a:r>
              <a:rPr lang="ar-EG" altLang="en-US" sz="1400" b="1" dirty="0">
                <a:solidFill>
                  <a:srgbClr val="2B2620"/>
                </a:solidFill>
              </a:rPr>
              <a:t>أطلس لوحات</a:t>
            </a:r>
            <a:pPr rtl="1" algn="r" marL="342900" indent="-342900">
              <a:spcAft>
                <a:spcPts val="800"/>
              </a:spcAft>
              <a:buSzPct val="100000"/>
              <a:buChar char="•"/>
            </a:pPr>
            <a:r>
              <a:rPr lang="ar-EG" altLang="en-US" sz="1400" dirty="0">
                <a:solidFill>
                  <a:srgbClr val="2B2620"/>
                </a:solidFill>
              </a:rPr>
              <a:t>: كل صفحة تقريباً رسومات بأبعاد، …</a:t>
            </a:r>
            <a:endParaRPr lang="en-US" sz="14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بيغطي إيه</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الجزء</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الوحدات والمقاييس، الرسم المعماري، الإنسان كمقياس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الأساسيات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الأساسات، الحوائط، الأسقف، السلالم، المنحدرات، الأبواب والشبابيك</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عناصر المبنى</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الإضاءة الطبيعية والصناعية، التهوية، الصوت، الحماية من الحريق</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البيئة والخدمات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السكني، المكاتب، التعليمي، الصحي، الفنادق، المطاعم، الرياضي، النقل والجراجات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أنواع المباني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الحدائق، الملاعب، الطرق ومواقف السيارات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الفراغات الخارجية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الإنسان كمقياس للتصميم</a:t>
            </a:r>
            <a:endParaRPr lang="ar-EG" sz="3000" dirty="0"/>
          </a:p>
        </p:txBody>
      </p:sp>
      <p:sp>
        <p:nvSpPr>
          <p:cNvPr id="3" name="figure-frame"/>
          <p:cNvSpPr/>
          <p:nvPr/>
        </p:nvSpPr>
        <p:spPr>
          <a:xfrm>
            <a:off x="457200" y="1325880"/>
            <a:ext cx="5669280" cy="2560320"/>
          </a:xfrm>
          <a:prstGeom prst="roundRect">
            <a:avLst>
              <a:gd name="adj" fmla="val 357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377440"/>
          </a:xfrm>
          <a:prstGeom prst="rect">
            <a:avLst/>
          </a:prstGeom>
        </p:spPr>
      </p:pic>
      <p:sp>
        <p:nvSpPr>
          <p:cNvPr id="5" name="Text 2"/>
          <p:cNvSpPr txBox="1"/>
          <p:nvPr/>
        </p:nvSpPr>
        <p:spPr>
          <a:xfrm>
            <a:off x="548640" y="393192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مساحات الحركة الأساسية للإنسان (سم)</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فكرة نويفرت الأساسية إن </a:t>
            </a:r>
            <a:pPr rtl="1" algn="r" marL="342900" indent="-342900">
              <a:spcAft>
                <a:spcPts val="800"/>
              </a:spcAft>
              <a:buSzPct val="100000"/>
              <a:buChar char="•"/>
            </a:pPr>
            <a:r>
              <a:rPr lang="ar-EG" altLang="en-US" sz="1500" b="1" dirty="0">
                <a:solidFill>
                  <a:srgbClr val="2B2620"/>
                </a:solidFill>
              </a:rPr>
              <a:t>جسم الإنسان وحركته</a:t>
            </a:r>
            <a:pPr rtl="1" algn="r" marL="342900" indent="-342900">
              <a:spcAft>
                <a:spcPts val="800"/>
              </a:spcAft>
              <a:buSzPct val="100000"/>
              <a:buChar char="•"/>
            </a:pPr>
            <a:r>
              <a:rPr lang="ar-EG" altLang="en-US" sz="1500" dirty="0">
                <a:solidFill>
                  <a:srgbClr val="2B2620"/>
                </a:solidFill>
              </a:rPr>
              <a:t> هما اللي بيحددوا أبعاد كل حاجة حواليه: من ارتفاع الدرجة لحد عرض الممر وارتفاع السقف.</a:t>
            </a:r>
            <a:endParaRPr lang="en-US" sz="1500" dirty="0"/>
          </a:p>
          <a:p>
            <a:pPr rtl="1" algn="r" marL="342900" indent="-342900">
              <a:spcAft>
                <a:spcPts val="800"/>
              </a:spcAft>
              <a:buSzPct val="100000"/>
              <a:buChar char="•"/>
            </a:pPr>
            <a:r>
              <a:rPr lang="ar-EG" altLang="en-US" sz="1500" dirty="0">
                <a:solidFill>
                  <a:srgbClr val="2B2620"/>
                </a:solidFill>
              </a:rPr>
              <a:t>شخص ماشي محتاج عرض حوالي </a:t>
            </a:r>
            <a:pPr rtl="1" algn="r" marL="342900" indent="-342900">
              <a:spcAft>
                <a:spcPts val="800"/>
              </a:spcAft>
              <a:buSzPct val="100000"/>
              <a:buChar char="•"/>
            </a:pPr>
            <a:r>
              <a:rPr lang="ar-EG" altLang="en-US" sz="1500" b="1" dirty="0">
                <a:solidFill>
                  <a:srgbClr val="2B2620"/>
                </a:solidFill>
              </a:rPr>
              <a:t>60–65 سم</a:t>
            </a:r>
            <a:pPr rtl="1" algn="r" marL="342900" indent="-342900">
              <a:spcAft>
                <a:spcPts val="800"/>
              </a:spcAft>
              <a:buSzPct val="100000"/>
              <a:buChar char="•"/>
            </a:pPr>
            <a:r>
              <a:rPr lang="ar-EG" altLang="en-US" sz="1500" dirty="0">
                <a:solidFill>
                  <a:srgbClr val="2B2620"/>
                </a:solidFill>
              </a:rPr>
              <a:t>، ولو شايل شنط حوالي </a:t>
            </a:r>
            <a:pPr rtl="1" algn="r" marL="342900" indent="-342900">
              <a:spcAft>
                <a:spcPts val="800"/>
              </a:spcAft>
              <a:buSzPct val="100000"/>
              <a:buChar char="•"/>
            </a:pPr>
            <a:r>
              <a:rPr lang="ar-EG" altLang="en-US" sz="1500" b="1" dirty="0">
                <a:solidFill>
                  <a:srgbClr val="2B2620"/>
                </a:solidFill>
              </a:rPr>
              <a:t>75–80 سم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اتنين ماشيين جنب بعض أو بيعدّوا على بعض: </a:t>
            </a:r>
            <a:pPr rtl="1" algn="r" marL="342900" indent="-342900">
              <a:spcAft>
                <a:spcPts val="800"/>
              </a:spcAft>
              <a:buSzPct val="100000"/>
              <a:buChar char="•"/>
            </a:pPr>
            <a:r>
              <a:rPr lang="ar-EG" altLang="en-US" sz="1500" b="1" dirty="0">
                <a:solidFill>
                  <a:srgbClr val="2B2620"/>
                </a:solidFill>
              </a:rPr>
              <a:t>110–125 سم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كرسي متحرك: عرض </a:t>
            </a:r>
            <a:pPr rtl="1" algn="r" marL="342900" indent="-342900">
              <a:spcAft>
                <a:spcPts val="800"/>
              </a:spcAft>
              <a:buSzPct val="100000"/>
              <a:buChar char="•"/>
            </a:pPr>
            <a:r>
              <a:rPr lang="ar-EG" altLang="en-US" sz="1500" b="1" dirty="0">
                <a:solidFill>
                  <a:srgbClr val="2B2620"/>
                </a:solidFill>
              </a:rPr>
              <a:t>75–80 سم</a:t>
            </a:r>
            <a:pPr rtl="1" algn="r" marL="342900" indent="-342900">
              <a:spcAft>
                <a:spcPts val="800"/>
              </a:spcAft>
              <a:buSzPct val="100000"/>
              <a:buChar char="•"/>
            </a:pPr>
            <a:r>
              <a:rPr lang="ar-EG" altLang="en-US" sz="1500" dirty="0">
                <a:solidFill>
                  <a:srgbClr val="2B2620"/>
                </a:solidFill>
              </a:rPr>
              <a:t>، ودائرة لف قطرها </a:t>
            </a:r>
            <a:pPr rtl="1" algn="r" marL="342900" indent="-342900">
              <a:spcAft>
                <a:spcPts val="800"/>
              </a:spcAft>
              <a:buSzPct val="100000"/>
              <a:buChar char="•"/>
            </a:pPr>
            <a:r>
              <a:rPr lang="ar-EG" altLang="en-US" sz="1500" b="1" dirty="0">
                <a:solidFill>
                  <a:srgbClr val="2B2620"/>
                </a:solidFill>
              </a:rPr>
              <a:t>150 سم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الرفوف اللي بتستخدم كتير تكون بين </a:t>
            </a:r>
            <a:pPr rtl="1" algn="r" marL="342900" indent="-342900">
              <a:spcAft>
                <a:spcPts val="800"/>
              </a:spcAft>
              <a:buSzPct val="100000"/>
              <a:buChar char="•"/>
            </a:pPr>
            <a:r>
              <a:rPr lang="ar-EG" altLang="en-US" sz="1500" b="1" dirty="0">
                <a:solidFill>
                  <a:srgbClr val="2B2620"/>
                </a:solidFill>
              </a:rPr>
              <a:t>70 و170 سم</a:t>
            </a:r>
            <a:pPr rtl="1" algn="r" marL="342900" indent="-342900">
              <a:spcAft>
                <a:spcPts val="800"/>
              </a:spcAft>
              <a:buSzPct val="100000"/>
              <a:buChar char="•"/>
            </a:pPr>
            <a:r>
              <a:rPr lang="ar-EG" altLang="en-US" sz="1500" dirty="0">
                <a:solidFill>
                  <a:srgbClr val="2B2620"/>
                </a:solidFill>
              </a:rPr>
              <a:t>.</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الوحدات والتنسيق البعدي</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التنسيق البعدي (Modular Coordination) معناه إن مقاسات العناصر تكون مضاعفات لوحدة أساسية، فالقطع تركب مع بعض من غير قص كتير.</a:t>
            </a:r>
            <a:endParaRPr lang="en-US" sz="1400" dirty="0"/>
          </a:p>
          <a:p>
            <a:pPr rtl="1" algn="r" marL="342900" indent="-342900">
              <a:spcAft>
                <a:spcPts val="800"/>
              </a:spcAft>
              <a:buSzPct val="100000"/>
              <a:buChar char="•"/>
            </a:pPr>
            <a:r>
              <a:rPr lang="ar-EG" altLang="en-US" sz="1400" dirty="0">
                <a:solidFill>
                  <a:srgbClr val="2B2620"/>
                </a:solidFill>
              </a:rPr>
              <a:t>الوحدة الأساسية الشائعة عالمياً </a:t>
            </a:r>
            <a:pPr rtl="1" algn="r" marL="342900" indent="-342900">
              <a:spcAft>
                <a:spcPts val="800"/>
              </a:spcAft>
              <a:buSzPct val="100000"/>
              <a:buChar char="•"/>
            </a:pPr>
            <a:r>
              <a:rPr lang="ar-EG" altLang="en-US" sz="1400" b="1" dirty="0">
                <a:solidFill>
                  <a:srgbClr val="2B2620"/>
                </a:solidFill>
              </a:rPr>
              <a:t>M = 10 سم</a:t>
            </a:r>
            <a:pPr rtl="1" algn="r" marL="342900" indent="-342900">
              <a:spcAft>
                <a:spcPts val="800"/>
              </a:spcAft>
              <a:buSzPct val="100000"/>
              <a:buChar char="•"/>
            </a:pPr>
            <a:r>
              <a:rPr lang="ar-EG" altLang="en-US" sz="1400" dirty="0">
                <a:solidFill>
                  <a:srgbClr val="2B2620"/>
                </a:solidFill>
              </a:rPr>
              <a:t>، ومضاعفاتها 3M و6M و12M.</a:t>
            </a:r>
            <a:endParaRPr lang="en-US" sz="14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مقاسات شائعة متوافقة مع الشبكة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العنصر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30×30، 60×60، 60×120، 120×120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بلاط أرضيات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120×240 أو 120×300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ألواح جبس بورد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60×60، 60×120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بلاطات سقف معلق</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عرض 70، 80، 90 سم (صافي فتحة + حلق)</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أبواب داخلية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الرسم المعماري والمقاييس</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مقاييس الرسم المعتادة: الموقع العام 1:500 أو 1:200، المساقط 1:100 أو 1:50، التفاصيل 1:20 و1:10 و1:5.</a:t>
            </a:r>
            <a:endParaRPr lang="en-US" sz="1400" dirty="0"/>
          </a:p>
          <a:p>
            <a:pPr rtl="1" algn="r" marL="342900" indent="-342900">
              <a:spcAft>
                <a:spcPts val="800"/>
              </a:spcAft>
              <a:buSzPct val="100000"/>
              <a:buChar char="•"/>
            </a:pPr>
            <a:r>
              <a:rPr lang="ar-EG" altLang="en-US" sz="1400" dirty="0">
                <a:solidFill>
                  <a:srgbClr val="2B2620"/>
                </a:solidFill>
              </a:rPr>
              <a:t>كل مقياس ليه مستوى تفاصيل: في 1:100 الحائط خطين وبس، في 1:20 بتظهر طبقات البياض والعزل.</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rtl="1" algn="r" indent="0" marL="0">
                        <a:buNone/>
                      </a:pPr>
                      <a:r>
                        <a:rPr lang="ar-EG" altLang="en-US" sz="1300" b="1" dirty="0">
                          <a:solidFill>
                            <a:srgbClr val="FFFFFF"/>
                          </a:solidFill>
                        </a:rPr>
                        <a:t>الهدف</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المقياس الغالب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المرحلة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الفكرة والكتل والمساحات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1:200 – 1:100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تصميم مبدئي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أبعاد دقيقة وتنسيق التخصصات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1:100 – 1:50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تصميم نهائي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التنفيذ في الموقع بدون اجتهاد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1:50 – 1:5</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تنفيذي وتفاصيل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السلالم والمنحدرات</a:t>
            </a:r>
            <a:endParaRPr lang="ar-EG" sz="3000" dirty="0"/>
          </a:p>
        </p:txBody>
      </p:sp>
      <p:sp>
        <p:nvSpPr>
          <p:cNvPr id="3" name="figure-frame"/>
          <p:cNvSpPr/>
          <p:nvPr/>
        </p:nvSpPr>
        <p:spPr>
          <a:xfrm>
            <a:off x="457200" y="1325880"/>
            <a:ext cx="5669280" cy="2837590"/>
          </a:xfrm>
          <a:prstGeom prst="roundRect">
            <a:avLst>
              <a:gd name="adj" fmla="val 3222"/>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654710"/>
          </a:xfrm>
          <a:prstGeom prst="rect">
            <a:avLst/>
          </a:prstGeom>
        </p:spPr>
      </p:pic>
      <p:sp>
        <p:nvSpPr>
          <p:cNvPr id="5" name="Text 2"/>
          <p:cNvSpPr txBox="1"/>
          <p:nvPr/>
        </p:nvSpPr>
        <p:spPr>
          <a:xfrm>
            <a:off x="548640" y="420919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قطاع في سلم يوضح القائمة والنائمة والخلوص الرأسي</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القاعدة المعروفة عند نويفرت: </a:t>
            </a:r>
            <a:pPr rtl="1" algn="r" marL="342900" indent="-342900">
              <a:spcAft>
                <a:spcPts val="800"/>
              </a:spcAft>
              <a:buSzPct val="100000"/>
              <a:buChar char="•"/>
            </a:pPr>
            <a:r>
              <a:rPr lang="ar-EG" altLang="en-US" sz="1500" b="1" dirty="0">
                <a:solidFill>
                  <a:srgbClr val="2B2620"/>
                </a:solidFill>
              </a:rPr>
              <a:t>2 × القائمة + النائمة ≈ 63 سم</a:t>
            </a:r>
            <a:pPr rtl="1" algn="r" marL="342900" indent="-342900">
              <a:spcAft>
                <a:spcPts val="800"/>
              </a:spcAft>
              <a:buSzPct val="100000"/>
              <a:buChar char="•"/>
            </a:pPr>
            <a:r>
              <a:rPr lang="ar-EG" altLang="en-US" sz="1500" dirty="0">
                <a:solidFill>
                  <a:srgbClr val="2B2620"/>
                </a:solidFill>
              </a:rPr>
              <a:t> (طول خطوة الإنسان العادية)، والمقبول بين 59 و65.</a:t>
            </a:r>
            <a:endParaRPr lang="en-US" sz="1500" dirty="0"/>
          </a:p>
          <a:p>
            <a:pPr rtl="1" algn="r" marL="342900" indent="-342900">
              <a:spcAft>
                <a:spcPts val="800"/>
              </a:spcAft>
              <a:buSzPct val="100000"/>
              <a:buChar char="•"/>
            </a:pPr>
            <a:r>
              <a:rPr lang="ar-EG" altLang="en-US" sz="1500" dirty="0">
                <a:solidFill>
                  <a:srgbClr val="2B2620"/>
                </a:solidFill>
              </a:rPr>
              <a:t>أقل خلوص رأسي فوق السلم حوالي </a:t>
            </a:r>
            <a:pPr rtl="1" algn="r" marL="342900" indent="-342900">
              <a:spcAft>
                <a:spcPts val="800"/>
              </a:spcAft>
              <a:buSzPct val="100000"/>
              <a:buChar char="•"/>
            </a:pPr>
            <a:r>
              <a:rPr lang="ar-EG" altLang="en-US" sz="1500" b="1" dirty="0">
                <a:solidFill>
                  <a:srgbClr val="2B2620"/>
                </a:solidFill>
              </a:rPr>
              <a:t>210 سم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بسطة بعد حوالي </a:t>
            </a:r>
            <a:pPr rtl="1" algn="r" marL="342900" indent="-342900">
              <a:spcAft>
                <a:spcPts val="800"/>
              </a:spcAft>
              <a:buSzPct val="100000"/>
              <a:buChar char="•"/>
            </a:pPr>
            <a:r>
              <a:rPr lang="ar-EG" altLang="en-US" sz="1500" b="1" dirty="0">
                <a:solidFill>
                  <a:srgbClr val="2B2620"/>
                </a:solidFill>
              </a:rPr>
              <a:t>16–18 درجة</a:t>
            </a:r>
            <a:pPr rtl="1" algn="r" marL="342900" indent="-342900">
              <a:spcAft>
                <a:spcPts val="800"/>
              </a:spcAft>
              <a:buSzPct val="100000"/>
              <a:buChar char="•"/>
            </a:pPr>
            <a:r>
              <a:rPr lang="ar-EG" altLang="en-US" sz="1500" dirty="0">
                <a:solidFill>
                  <a:srgbClr val="2B2620"/>
                </a:solidFill>
              </a:rPr>
              <a:t> في الطلعة الواحدة.</a:t>
            </a:r>
            <a:endParaRPr lang="en-US" sz="1500" dirty="0"/>
          </a:p>
          <a:p>
            <a:pPr rtl="1" algn="r" marL="342900" indent="-342900">
              <a:spcAft>
                <a:spcPts val="800"/>
              </a:spcAft>
              <a:buSzPct val="100000"/>
              <a:buChar char="•"/>
            </a:pPr>
            <a:r>
              <a:rPr lang="ar-EG" altLang="en-US" sz="1500" dirty="0">
                <a:solidFill>
                  <a:srgbClr val="2B2620"/>
                </a:solidFill>
              </a:rPr>
              <a:t>عرض البسطة لا يقل عن عرض السلم.</a:t>
            </a:r>
            <a:endParaRPr lang="en-US" sz="1500" dirty="0"/>
          </a:p>
          <a:p>
            <a:pPr rtl="1" algn="r" marL="342900" indent="-342900">
              <a:spcAft>
                <a:spcPts val="800"/>
              </a:spcAft>
              <a:buSzPct val="100000"/>
              <a:buChar char="•"/>
            </a:pPr>
            <a:r>
              <a:rPr lang="ar-EG" altLang="en-US" sz="1500" dirty="0">
                <a:solidFill>
                  <a:srgbClr val="2B2620"/>
                </a:solidFill>
              </a:rPr>
              <a:t>الدرابزين حوالي </a:t>
            </a:r>
            <a:pPr rtl="1" algn="r" marL="342900" indent="-342900">
              <a:spcAft>
                <a:spcPts val="800"/>
              </a:spcAft>
              <a:buSzPct val="100000"/>
              <a:buChar char="•"/>
            </a:pPr>
            <a:r>
              <a:rPr lang="ar-EG" altLang="en-US" sz="1500" b="1" dirty="0">
                <a:solidFill>
                  <a:srgbClr val="2B2620"/>
                </a:solidFill>
              </a:rPr>
              <a:t>90 سم</a:t>
            </a:r>
            <a:pPr rtl="1" algn="r" marL="342900" indent="-342900">
              <a:spcAft>
                <a:spcPts val="800"/>
              </a:spcAft>
              <a:buSzPct val="100000"/>
              <a:buChar char="•"/>
            </a:pPr>
            <a:r>
              <a:rPr lang="ar-EG" altLang="en-US" sz="1500" dirty="0">
                <a:solidFill>
                  <a:srgbClr val="2B2620"/>
                </a:solidFill>
              </a:rPr>
              <a:t> من حافة الدرجة، ويزيد في الأماكن العامة والأدوار العالية.</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الأبواب والشبابيك</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اتجاه فتح الباب: يفتح </a:t>
            </a:r>
            <a:pPr rtl="1" algn="r" marL="342900" indent="-342900">
              <a:spcAft>
                <a:spcPts val="800"/>
              </a:spcAft>
              <a:buSzPct val="100000"/>
              <a:buChar char="•"/>
            </a:pPr>
            <a:r>
              <a:rPr lang="ar-EG" altLang="en-US" sz="1400" b="1" dirty="0">
                <a:solidFill>
                  <a:srgbClr val="2B2620"/>
                </a:solidFill>
              </a:rPr>
              <a:t>ناحية الحائط</a:t>
            </a:r>
            <a:pPr rtl="1" algn="r" marL="342900" indent="-342900">
              <a:spcAft>
                <a:spcPts val="800"/>
              </a:spcAft>
              <a:buSzPct val="100000"/>
              <a:buChar char="•"/>
            </a:pPr>
            <a:r>
              <a:rPr lang="ar-EG" altLang="en-US" sz="1400" dirty="0">
                <a:solidFill>
                  <a:srgbClr val="2B2620"/>
                </a:solidFill>
              </a:rPr>
              <a:t> مش ناحية الغرفة، وما يخبطش في باب تاني أو في الأثاث.</a:t>
            </a:r>
            <a:endParaRPr lang="en-US" sz="1400" dirty="0"/>
          </a:p>
          <a:p>
            <a:pPr rtl="1" algn="r" marL="342900" indent="-342900">
              <a:spcAft>
                <a:spcPts val="800"/>
              </a:spcAft>
              <a:buSzPct val="100000"/>
              <a:buChar char="•"/>
            </a:pPr>
            <a:r>
              <a:rPr lang="ar-EG" altLang="en-US" sz="1400" dirty="0">
                <a:solidFill>
                  <a:srgbClr val="2B2620"/>
                </a:solidFill>
              </a:rPr>
              <a:t>أبواب الهروب في المباني العامة بتفتح </a:t>
            </a:r>
            <a:pPr rtl="1" algn="r" marL="342900" indent="-342900">
              <a:spcAft>
                <a:spcPts val="800"/>
              </a:spcAft>
              <a:buSzPct val="100000"/>
              <a:buChar char="•"/>
            </a:pPr>
            <a:r>
              <a:rPr lang="ar-EG" altLang="en-US" sz="1400" b="1" dirty="0">
                <a:solidFill>
                  <a:srgbClr val="2B2620"/>
                </a:solidFill>
              </a:rPr>
              <a:t>في اتجاه الهروب</a:t>
            </a:r>
            <a:pPr rtl="1" algn="r" marL="342900" indent="-342900">
              <a:spcAft>
                <a:spcPts val="800"/>
              </a:spcAft>
              <a:buSzPct val="100000"/>
              <a:buChar char="•"/>
            </a:pPr>
            <a:r>
              <a:rPr lang="ar-EG" altLang="en-US" sz="1400" dirty="0">
                <a:solidFill>
                  <a:srgbClr val="2B2620"/>
                </a:solidFill>
              </a:rPr>
              <a:t>.</a:t>
            </a:r>
            <a:endParaRPr lang="en-US" sz="1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rtl="1" algn="r" indent="0" marL="0">
                        <a:buNone/>
                      </a:pPr>
                      <a:r>
                        <a:rPr lang="ar-EG" altLang="en-US" sz="1300" b="1" dirty="0">
                          <a:solidFill>
                            <a:srgbClr val="FFFFFF"/>
                          </a:solidFill>
                        </a:rPr>
                        <a:t>الارتفاع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العرض الصافي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النوع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210–240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90–100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مدخل شقة / فيلا</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210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80–90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غرف</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210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70–80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حمام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210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90 سم صافي على الأقل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ذوي الهمم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210–240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250–300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جراج سيارة واحدة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المسكن: الغرف والمساحات</a:t>
            </a:r>
            <a:endParaRPr lang="ar-EG" sz="3000" dirty="0"/>
          </a:p>
        </p:txBody>
      </p:sp>
      <p:sp>
        <p:nvSpPr>
          <p:cNvPr id="3" name="figure-frame"/>
          <p:cNvSpPr/>
          <p:nvPr/>
        </p:nvSpPr>
        <p:spPr>
          <a:xfrm>
            <a:off x="457200" y="1325880"/>
            <a:ext cx="5669280" cy="3440430"/>
          </a:xfrm>
          <a:prstGeom prst="roundRect">
            <a:avLst>
              <a:gd name="adj" fmla="val 2658"/>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3257550"/>
          </a:xfrm>
          <a:prstGeom prst="rect">
            <a:avLst/>
          </a:prstGeom>
        </p:spPr>
      </p:pic>
      <p:sp>
        <p:nvSpPr>
          <p:cNvPr id="5" name="Text 2"/>
          <p:cNvSpPr txBox="1"/>
          <p:nvPr/>
        </p:nvSpPr>
        <p:spPr>
          <a:xfrm>
            <a:off x="548640" y="481203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غرفة نوم رئيسية تقريبية (4.20 × 3.60 م)</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فصل المنطقة </a:t>
            </a:r>
            <a:pPr rtl="1" algn="r" marL="342900" indent="-342900">
              <a:spcAft>
                <a:spcPts val="800"/>
              </a:spcAft>
              <a:buSzPct val="100000"/>
              <a:buChar char="•"/>
            </a:pPr>
            <a:r>
              <a:rPr lang="ar-EG" altLang="en-US" sz="1500" b="1" dirty="0">
                <a:solidFill>
                  <a:srgbClr val="2B2620"/>
                </a:solidFill>
              </a:rPr>
              <a:t>العامة</a:t>
            </a:r>
            <a:pPr rtl="1" algn="r" marL="342900" indent="-342900">
              <a:spcAft>
                <a:spcPts val="800"/>
              </a:spcAft>
              <a:buSzPct val="100000"/>
              <a:buChar char="•"/>
            </a:pPr>
            <a:r>
              <a:rPr lang="ar-EG" altLang="en-US" sz="1500" dirty="0">
                <a:solidFill>
                  <a:srgbClr val="2B2620"/>
                </a:solidFill>
              </a:rPr>
              <a:t> (استقبال، معيشة، سفرة، مطبخ، حمام ضيوف) عن </a:t>
            </a:r>
            <a:pPr rtl="1" algn="r" marL="342900" indent="-342900">
              <a:spcAft>
                <a:spcPts val="800"/>
              </a:spcAft>
              <a:buSzPct val="100000"/>
              <a:buChar char="•"/>
            </a:pPr>
            <a:r>
              <a:rPr lang="ar-EG" altLang="en-US" sz="1500" b="1" dirty="0">
                <a:solidFill>
                  <a:srgbClr val="2B2620"/>
                </a:solidFill>
              </a:rPr>
              <a:t>الخاصة</a:t>
            </a:r>
            <a:pPr rtl="1" algn="r" marL="342900" indent="-342900">
              <a:spcAft>
                <a:spcPts val="800"/>
              </a:spcAft>
              <a:buSzPct val="100000"/>
              <a:buChar char="•"/>
            </a:pPr>
            <a:r>
              <a:rPr lang="ar-EG" altLang="en-US" sz="1500" dirty="0">
                <a:solidFill>
                  <a:srgbClr val="2B2620"/>
                </a:solidFill>
              </a:rPr>
              <a:t> (نوم وحمامات).</a:t>
            </a:r>
            <a:endParaRPr lang="en-US" sz="1500" dirty="0"/>
          </a:p>
          <a:p>
            <a:pPr rtl="1" algn="r" marL="342900" indent="-342900">
              <a:spcAft>
                <a:spcPts val="800"/>
              </a:spcAft>
              <a:buSzPct val="100000"/>
              <a:buChar char="•"/>
            </a:pPr>
            <a:r>
              <a:rPr lang="ar-EG" altLang="en-US" sz="1500" dirty="0">
                <a:solidFill>
                  <a:srgbClr val="2B2620"/>
                </a:solidFill>
              </a:rPr>
              <a:t>المطبخ قريب من السفرة ومن المدخل الخدمي.</a:t>
            </a:r>
            <a:endParaRPr lang="en-US" sz="1500" dirty="0"/>
          </a:p>
          <a:p>
            <a:pPr rtl="1" algn="r" marL="342900" indent="-342900">
              <a:spcAft>
                <a:spcPts val="800"/>
              </a:spcAft>
              <a:buSzPct val="100000"/>
              <a:buChar char="•"/>
            </a:pPr>
            <a:r>
              <a:rPr lang="ar-EG" altLang="en-US" sz="1500" dirty="0">
                <a:solidFill>
                  <a:srgbClr val="2B2620"/>
                </a:solidFill>
              </a:rPr>
              <a:t>حمام لكل غرفة نوم رئيسية، وحمام مشترك لباقي الغرف.</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المطبخ</a:t>
            </a:r>
            <a:endParaRPr lang="ar-EG" sz="3000" dirty="0"/>
          </a:p>
        </p:txBody>
      </p:sp>
      <p:sp>
        <p:nvSpPr>
          <p:cNvPr id="3" name="figure-frame"/>
          <p:cNvSpPr/>
          <p:nvPr/>
        </p:nvSpPr>
        <p:spPr>
          <a:xfrm>
            <a:off x="457200" y="1325880"/>
            <a:ext cx="5669280" cy="3108960"/>
          </a:xfrm>
          <a:prstGeom prst="roundRect">
            <a:avLst>
              <a:gd name="adj" fmla="val 294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926080"/>
          </a:xfrm>
          <a:prstGeom prst="rect">
            <a:avLst/>
          </a:prstGeom>
        </p:spPr>
      </p:pic>
      <p:sp>
        <p:nvSpPr>
          <p:cNvPr id="5" name="Text 2"/>
          <p:cNvSpPr txBox="1"/>
          <p:nvPr/>
        </p:nvSpPr>
        <p:spPr>
          <a:xfrm>
            <a:off x="548640" y="448056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مطبخ L بجزيرة ومثلث العمل</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الأضلاع الثلاثة (الحوض، البوتاجاز، الثلاجة) مجموعها </a:t>
            </a:r>
            <a:pPr rtl="1" algn="r" marL="342900" indent="-342900">
              <a:spcAft>
                <a:spcPts val="800"/>
              </a:spcAft>
              <a:buSzPct val="100000"/>
              <a:buChar char="•"/>
            </a:pPr>
            <a:r>
              <a:rPr lang="ar-EG" altLang="en-US" sz="1500" b="1" dirty="0">
                <a:solidFill>
                  <a:srgbClr val="2B2620"/>
                </a:solidFill>
              </a:rPr>
              <a:t>4.0–7.9 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كل ضلع </a:t>
            </a:r>
            <a:pPr rtl="1" algn="r" marL="342900" indent="-342900">
              <a:spcAft>
                <a:spcPts val="800"/>
              </a:spcAft>
              <a:buSzPct val="100000"/>
              <a:buChar char="•"/>
            </a:pPr>
            <a:r>
              <a:rPr lang="ar-EG" altLang="en-US" sz="1500" b="1" dirty="0">
                <a:solidFill>
                  <a:srgbClr val="2B2620"/>
                </a:solidFill>
              </a:rPr>
              <a:t>1.2–2.7 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الحوض في النص، والبوتاجاز بعيد عن الشباك والثلاجة.</a:t>
            </a:r>
            <a:endParaRPr lang="en-US" sz="1500" dirty="0"/>
          </a:p>
          <a:p>
            <a:pPr rtl="1" algn="r" marL="342900" indent="-342900">
              <a:spcAft>
                <a:spcPts val="800"/>
              </a:spcAft>
              <a:buSzPct val="100000"/>
              <a:buChar char="•"/>
            </a:pPr>
            <a:r>
              <a:rPr lang="ar-EG" altLang="en-US" sz="1500" b="1" dirty="0">
                <a:solidFill>
                  <a:srgbClr val="2B2620"/>
                </a:solidFill>
              </a:rPr>
              <a:t>I (صف واحد)</a:t>
            </a:r>
            <a:pPr rtl="1" algn="r" marL="342900" indent="-342900">
              <a:spcAft>
                <a:spcPts val="800"/>
              </a:spcAft>
              <a:buSzPct val="100000"/>
              <a:buChar char="•"/>
            </a:pPr>
            <a:r>
              <a:rPr lang="ar-EG" altLang="en-US" sz="1500" dirty="0">
                <a:solidFill>
                  <a:srgbClr val="2B2620"/>
                </a:solidFill>
              </a:rPr>
              <a:t>: للمساحات الضيقة، طول 2.4–3.6 م.</a:t>
            </a:r>
            <a:endParaRPr lang="en-US" sz="1500" dirty="0"/>
          </a:p>
          <a:p>
            <a:pPr rtl="1" algn="r" marL="342900" indent="-342900">
              <a:spcAft>
                <a:spcPts val="800"/>
              </a:spcAft>
              <a:buSzPct val="100000"/>
              <a:buChar char="•"/>
            </a:pPr>
            <a:r>
              <a:rPr lang="ar-EG" altLang="en-US" sz="1500" b="1" dirty="0">
                <a:solidFill>
                  <a:srgbClr val="2B2620"/>
                </a:solidFill>
              </a:rPr>
              <a:t>II (صفين متوازيين)</a:t>
            </a:r>
            <a:pPr rtl="1" algn="r" marL="342900" indent="-342900">
              <a:spcAft>
                <a:spcPts val="800"/>
              </a:spcAft>
              <a:buSzPct val="100000"/>
              <a:buChar char="•"/>
            </a:pPr>
            <a:r>
              <a:rPr lang="ar-EG" altLang="en-US" sz="1500" dirty="0">
                <a:solidFill>
                  <a:srgbClr val="2B2620"/>
                </a:solidFill>
              </a:rPr>
              <a:t>: كفاءة عالية، الممر 1.2 م.</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الحمامات</a:t>
            </a:r>
            <a:endParaRPr lang="ar-EG" sz="3000" dirty="0"/>
          </a:p>
        </p:txBody>
      </p:sp>
      <p:sp>
        <p:nvSpPr>
          <p:cNvPr id="3" name="figure-frame"/>
          <p:cNvSpPr/>
          <p:nvPr/>
        </p:nvSpPr>
        <p:spPr>
          <a:xfrm>
            <a:off x="457200" y="1325880"/>
            <a:ext cx="5669280" cy="3317966"/>
          </a:xfrm>
          <a:prstGeom prst="roundRect">
            <a:avLst>
              <a:gd name="adj" fmla="val 2756"/>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3135086"/>
          </a:xfrm>
          <a:prstGeom prst="rect">
            <a:avLst/>
          </a:prstGeom>
        </p:spPr>
      </p:pic>
      <p:sp>
        <p:nvSpPr>
          <p:cNvPr id="5" name="Text 2"/>
          <p:cNvSpPr txBox="1"/>
          <p:nvPr/>
        </p:nvSpPr>
        <p:spPr>
          <a:xfrm>
            <a:off x="548640" y="4689566"/>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ترتيب حمام صغير ومسافات الأجهزة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ميل أرضية الحمام </a:t>
            </a:r>
            <a:pPr rtl="1" algn="r" marL="342900" indent="-342900">
              <a:spcAft>
                <a:spcPts val="800"/>
              </a:spcAft>
              <a:buSzPct val="100000"/>
              <a:buChar char="•"/>
            </a:pPr>
            <a:r>
              <a:rPr lang="ar-EG" altLang="en-US" sz="1500" b="1" dirty="0">
                <a:solidFill>
                  <a:srgbClr val="2B2620"/>
                </a:solidFill>
              </a:rPr>
              <a:t>1–2%</a:t>
            </a:r>
            <a:pPr rtl="1" algn="r" marL="342900" indent="-342900">
              <a:spcAft>
                <a:spcPts val="800"/>
              </a:spcAft>
              <a:buSzPct val="100000"/>
              <a:buChar char="•"/>
            </a:pPr>
            <a:r>
              <a:rPr lang="ar-EG" altLang="en-US" sz="1500" dirty="0">
                <a:solidFill>
                  <a:srgbClr val="2B2620"/>
                </a:solidFill>
              </a:rPr>
              <a:t> ناحية الصفاية، وتكون أوطى من الطرقة </a:t>
            </a:r>
            <a:pPr rtl="1" algn="r" marL="342900" indent="-342900">
              <a:spcAft>
                <a:spcPts val="800"/>
              </a:spcAft>
              <a:buSzPct val="100000"/>
              <a:buChar char="•"/>
            </a:pPr>
            <a:r>
              <a:rPr lang="ar-EG" altLang="en-US" sz="1500" b="1" dirty="0">
                <a:solidFill>
                  <a:srgbClr val="2B2620"/>
                </a:solidFill>
              </a:rPr>
              <a:t>1–2 سم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حمام ذوي الهمم: دائرة لف </a:t>
            </a:r>
            <a:pPr rtl="1" algn="r" marL="342900" indent="-342900">
              <a:spcAft>
                <a:spcPts val="800"/>
              </a:spcAft>
              <a:buSzPct val="100000"/>
              <a:buChar char="•"/>
            </a:pPr>
            <a:r>
              <a:rPr lang="ar-EG" altLang="en-US" sz="1500" b="1" dirty="0">
                <a:solidFill>
                  <a:srgbClr val="2B2620"/>
                </a:solidFill>
              </a:rPr>
              <a:t>150 سم</a:t>
            </a:r>
            <a:pPr rtl="1" algn="r" marL="342900" indent="-342900">
              <a:spcAft>
                <a:spcPts val="800"/>
              </a:spcAft>
              <a:buSzPct val="100000"/>
              <a:buChar char="•"/>
            </a:pPr>
            <a:r>
              <a:rPr lang="ar-EG" altLang="en-US" sz="1500" dirty="0">
                <a:solidFill>
                  <a:srgbClr val="2B2620"/>
                </a:solidFill>
              </a:rPr>
              <a:t> ومسكات على ارتفاع </a:t>
            </a:r>
            <a:pPr rtl="1" algn="r" marL="342900" indent="-342900">
              <a:spcAft>
                <a:spcPts val="800"/>
              </a:spcAft>
              <a:buSzPct val="100000"/>
              <a:buChar char="•"/>
            </a:pPr>
            <a:r>
              <a:rPr lang="ar-EG" altLang="en-US" sz="1500" b="1" dirty="0">
                <a:solidFill>
                  <a:srgbClr val="2B2620"/>
                </a:solidFill>
              </a:rPr>
              <a:t>70–75 سم</a:t>
            </a:r>
            <a:pPr rtl="1" algn="r" marL="342900" indent="-342900">
              <a:spcAft>
                <a:spcPts val="800"/>
              </a:spcAft>
              <a:buSzPct val="100000"/>
              <a:buChar char="•"/>
            </a:pPr>
            <a:r>
              <a:rPr lang="ar-EG" altLang="en-US" sz="1500" dirty="0">
                <a:solidFill>
                  <a:srgbClr val="2B2620"/>
                </a:solidFill>
              </a:rPr>
              <a:t>.</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أماكن الجلوس والأكل</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لكل فرد </a:t>
            </a:r>
            <a:pPr rtl="1" algn="r" marL="342900" indent="-342900">
              <a:spcAft>
                <a:spcPts val="800"/>
              </a:spcAft>
              <a:buSzPct val="100000"/>
              <a:buChar char="•"/>
            </a:pPr>
            <a:r>
              <a:rPr lang="ar-EG" altLang="en-US" sz="1400" b="1" dirty="0">
                <a:solidFill>
                  <a:srgbClr val="2B2620"/>
                </a:solidFill>
              </a:rPr>
              <a:t>60 سم</a:t>
            </a:r>
            <a:pPr rtl="1" algn="r" marL="342900" indent="-342900">
              <a:spcAft>
                <a:spcPts val="800"/>
              </a:spcAft>
              <a:buSzPct val="100000"/>
              <a:buChar char="•"/>
            </a:pPr>
            <a:r>
              <a:rPr lang="ar-EG" altLang="en-US" sz="1400" dirty="0">
                <a:solidFill>
                  <a:srgbClr val="2B2620"/>
                </a:solidFill>
              </a:rPr>
              <a:t> عرض و</a:t>
            </a:r>
            <a:pPr rtl="1" algn="r" marL="342900" indent="-342900">
              <a:spcAft>
                <a:spcPts val="800"/>
              </a:spcAft>
              <a:buSzPct val="100000"/>
              <a:buChar char="•"/>
            </a:pPr>
            <a:r>
              <a:rPr lang="ar-EG" altLang="en-US" sz="1400" b="1" dirty="0">
                <a:solidFill>
                  <a:srgbClr val="2B2620"/>
                </a:solidFill>
              </a:rPr>
              <a:t>40 سم</a:t>
            </a:r>
            <a:pPr rtl="1" algn="r" marL="342900" indent="-342900">
              <a:spcAft>
                <a:spcPts val="800"/>
              </a:spcAft>
              <a:buSzPct val="100000"/>
              <a:buChar char="•"/>
            </a:pPr>
            <a:r>
              <a:rPr lang="ar-EG" altLang="en-US" sz="1400" dirty="0">
                <a:solidFill>
                  <a:srgbClr val="2B2620"/>
                </a:solidFill>
              </a:rPr>
              <a:t> عمق قدامه.</a:t>
            </a:r>
            <a:endParaRPr lang="en-US" sz="1400" dirty="0"/>
          </a:p>
          <a:p>
            <a:pPr rtl="1" algn="r" marL="342900" indent="-342900">
              <a:spcAft>
                <a:spcPts val="800"/>
              </a:spcAft>
              <a:buSzPct val="100000"/>
              <a:buChar char="•"/>
            </a:pPr>
            <a:r>
              <a:rPr lang="ar-EG" altLang="en-US" sz="1400" dirty="0">
                <a:solidFill>
                  <a:srgbClr val="2B2620"/>
                </a:solidFill>
              </a:rPr>
              <a:t>مسافة ورا الكرسي للقعدة والقيام </a:t>
            </a:r>
            <a:pPr rtl="1" algn="r" marL="342900" indent="-342900">
              <a:spcAft>
                <a:spcPts val="800"/>
              </a:spcAft>
              <a:buSzPct val="100000"/>
              <a:buChar char="•"/>
            </a:pPr>
            <a:r>
              <a:rPr lang="ar-EG" altLang="en-US" sz="1400" b="1" dirty="0">
                <a:solidFill>
                  <a:srgbClr val="2B2620"/>
                </a:solidFill>
              </a:rPr>
              <a:t>75–90 سم</a:t>
            </a:r>
            <a:pPr rtl="1" algn="r" marL="342900" indent="-342900">
              <a:spcAft>
                <a:spcPts val="800"/>
              </a:spcAft>
              <a:buSzPct val="100000"/>
              <a:buChar char="•"/>
            </a:pPr>
            <a:r>
              <a:rPr lang="ar-EG" altLang="en-US" sz="1400" dirty="0">
                <a:solidFill>
                  <a:srgbClr val="2B2620"/>
                </a:solidFill>
              </a:rPr>
              <a:t>، وللمرور ورا الكراسي </a:t>
            </a:r>
            <a:pPr rtl="1" algn="r" marL="342900" indent="-342900">
              <a:spcAft>
                <a:spcPts val="800"/>
              </a:spcAft>
              <a:buSzPct val="100000"/>
              <a:buChar char="•"/>
            </a:pPr>
            <a:r>
              <a:rPr lang="ar-EG" altLang="en-US" sz="1400" b="1" dirty="0">
                <a:solidFill>
                  <a:srgbClr val="2B2620"/>
                </a:solidFill>
              </a:rPr>
              <a:t>90–120 سم</a:t>
            </a:r>
            <a:pPr rtl="1" algn="r" marL="342900" indent="-342900">
              <a:spcAft>
                <a:spcPts val="800"/>
              </a:spcAft>
              <a:buSzPct val="100000"/>
              <a:buChar char="•"/>
            </a:pPr>
            <a:r>
              <a:rPr lang="ar-EG" altLang="en-US" sz="1400" dirty="0">
                <a:solidFill>
                  <a:srgbClr val="2B2620"/>
                </a:solidFill>
              </a:rPr>
              <a:t>.</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rtl="1" algn="r" indent="0" marL="0">
                        <a:buNone/>
                      </a:pPr>
                      <a:r>
                        <a:rPr lang="ar-EG" altLang="en-US" sz="1300" b="1" dirty="0">
                          <a:solidFill>
                            <a:srgbClr val="FFFFFF"/>
                          </a:solidFill>
                        </a:rPr>
                        <a:t>دائرية (قطر)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مستطيلة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عدد الأفراد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100–110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120×80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4</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120–130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160–180×90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6</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150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200–220×100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8</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180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240–260×100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10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المكاتب</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مساحة الموظف في المكتب المفتوح حوالي </a:t>
            </a:r>
            <a:pPr rtl="1" algn="r" marL="342900" indent="-342900">
              <a:spcAft>
                <a:spcPts val="800"/>
              </a:spcAft>
              <a:buSzPct val="100000"/>
              <a:buChar char="•"/>
            </a:pPr>
            <a:r>
              <a:rPr lang="ar-EG" altLang="en-US" sz="1400" b="1" dirty="0">
                <a:solidFill>
                  <a:srgbClr val="2B2620"/>
                </a:solidFill>
              </a:rPr>
              <a:t>8–12 م²</a:t>
            </a:r>
            <a:pPr rtl="1" algn="r" marL="342900" indent="-342900">
              <a:spcAft>
                <a:spcPts val="800"/>
              </a:spcAft>
              <a:buSzPct val="100000"/>
              <a:buChar char="•"/>
            </a:pPr>
            <a:r>
              <a:rPr lang="ar-EG" altLang="en-US" sz="1400" dirty="0">
                <a:solidFill>
                  <a:srgbClr val="2B2620"/>
                </a:solidFill>
              </a:rPr>
              <a:t> شامل الحركة، والمكتب المغلق للمدير </a:t>
            </a:r>
            <a:pPr rtl="1" algn="r" marL="342900" indent="-342900">
              <a:spcAft>
                <a:spcPts val="800"/>
              </a:spcAft>
              <a:buSzPct val="100000"/>
              <a:buChar char="•"/>
            </a:pPr>
            <a:r>
              <a:rPr lang="ar-EG" altLang="en-US" sz="1400" b="1" dirty="0">
                <a:solidFill>
                  <a:srgbClr val="2B2620"/>
                </a:solidFill>
              </a:rPr>
              <a:t>15–25 م²</a:t>
            </a:r>
            <a:pPr rtl="1" algn="r" marL="342900" indent="-342900">
              <a:spcAft>
                <a:spcPts val="800"/>
              </a:spcAft>
              <a:buSzPct val="100000"/>
              <a:buChar char="•"/>
            </a:pPr>
            <a:r>
              <a:rPr lang="ar-EG" altLang="en-US" sz="1400" dirty="0">
                <a:solidFill>
                  <a:srgbClr val="2B2620"/>
                </a:solidFill>
              </a:rPr>
              <a:t>.</a:t>
            </a:r>
            <a:endParaRPr lang="en-US" sz="1400" dirty="0"/>
          </a:p>
          <a:p>
            <a:pPr rtl="1" algn="r" marL="342900" indent="-342900">
              <a:spcAft>
                <a:spcPts val="800"/>
              </a:spcAft>
              <a:buSzPct val="100000"/>
              <a:buChar char="•"/>
            </a:pPr>
            <a:r>
              <a:rPr lang="ar-EG" altLang="en-US" sz="1400" dirty="0">
                <a:solidFill>
                  <a:srgbClr val="2B2620"/>
                </a:solidFill>
              </a:rPr>
              <a:t>سطح المكتب </a:t>
            </a:r>
            <a:pPr rtl="1" algn="r" marL="342900" indent="-342900">
              <a:spcAft>
                <a:spcPts val="800"/>
              </a:spcAft>
              <a:buSzPct val="100000"/>
              <a:buChar char="•"/>
            </a:pPr>
            <a:r>
              <a:rPr lang="ar-EG" altLang="en-US" sz="1400" b="1" dirty="0">
                <a:solidFill>
                  <a:srgbClr val="2B2620"/>
                </a:solidFill>
              </a:rPr>
              <a:t>72–75 سم</a:t>
            </a:r>
            <a:pPr rtl="1" algn="r" marL="342900" indent="-342900">
              <a:spcAft>
                <a:spcPts val="800"/>
              </a:spcAft>
              <a:buSzPct val="100000"/>
              <a:buChar char="•"/>
            </a:pPr>
            <a:r>
              <a:rPr lang="ar-EG" altLang="en-US" sz="1400" dirty="0">
                <a:solidFill>
                  <a:srgbClr val="2B2620"/>
                </a:solidFill>
              </a:rPr>
              <a:t>، ومسافة ورا الكرسي </a:t>
            </a:r>
            <a:pPr rtl="1" algn="r" marL="342900" indent="-342900">
              <a:spcAft>
                <a:spcPts val="800"/>
              </a:spcAft>
              <a:buSzPct val="100000"/>
              <a:buChar char="•"/>
            </a:pPr>
            <a:r>
              <a:rPr lang="ar-EG" altLang="en-US" sz="1400" b="1" dirty="0">
                <a:solidFill>
                  <a:srgbClr val="2B2620"/>
                </a:solidFill>
              </a:rPr>
              <a:t>80–100 سم</a:t>
            </a:r>
            <a:pPr rtl="1" algn="r" marL="342900" indent="-342900">
              <a:spcAft>
                <a:spcPts val="800"/>
              </a:spcAft>
              <a:buSzPct val="100000"/>
              <a:buChar char="•"/>
            </a:pPr>
            <a:r>
              <a:rPr lang="ar-EG" altLang="en-US" sz="1400" dirty="0">
                <a:solidFill>
                  <a:srgbClr val="2B2620"/>
                </a:solidFill>
              </a:rPr>
              <a:t>.</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مساحة تقريبية للفرد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نوع المكتب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8–12 م²</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مفتوح (Open plan)</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10–15 م²</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خلايا (Cellular) فردي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15–25 م²</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مدير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1.5–2 م² لكل شخص منتظر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استقبال وانتظار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المدارس والمباني التعليمية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الفصل الدراسي حوالي </a:t>
            </a:r>
            <a:pPr rtl="1" algn="r" indent="0" marL="0">
              <a:buNone/>
            </a:pPr>
            <a:r>
              <a:rPr lang="ar-EG" altLang="en-US" sz="1400" b="1" dirty="0">
                <a:solidFill>
                  <a:srgbClr val="2B2620"/>
                </a:solidFill>
              </a:rPr>
              <a:t>1.8–2.2 م²</a:t>
            </a:r>
            <a:pPr rtl="1" algn="r" indent="0" marL="0">
              <a:buNone/>
            </a:pPr>
            <a:r>
              <a:rPr lang="ar-EG" altLang="en-US" sz="1400" dirty="0">
                <a:solidFill>
                  <a:srgbClr val="2B2620"/>
                </a:solidFill>
              </a:rPr>
              <a:t> لكل طالب حسب المرحلة.</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عمق الفصل يُفضّل ميتعداش </a:t>
            </a:r>
            <a:pPr rtl="1" algn="r" indent="0" marL="0">
              <a:buNone/>
            </a:pPr>
            <a:r>
              <a:rPr lang="ar-EG" altLang="en-US" sz="1400" b="1" dirty="0">
                <a:solidFill>
                  <a:srgbClr val="2B2620"/>
                </a:solidFill>
              </a:rPr>
              <a:t>7–8 م</a:t>
            </a:r>
            <a:pPr rtl="1" algn="r" indent="0" marL="0">
              <a:buNone/>
            </a:pPr>
            <a:r>
              <a:rPr lang="ar-EG" altLang="en-US" sz="1400" dirty="0">
                <a:solidFill>
                  <a:srgbClr val="2B2620"/>
                </a:solidFill>
              </a:rPr>
              <a:t> عشان الإضاءة الطبيعية من جنب واحد.</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الممرات في المدارس أعرض (غالباً </a:t>
            </a:r>
            <a:pPr rtl="1" algn="r" indent="0" marL="0">
              <a:buNone/>
            </a:pPr>
            <a:r>
              <a:rPr lang="ar-EG" altLang="en-US" sz="1400" b="1" dirty="0">
                <a:solidFill>
                  <a:srgbClr val="2B2620"/>
                </a:solidFill>
              </a:rPr>
              <a:t>1.8–2.4 م</a:t>
            </a:r>
            <a:pPr rtl="1" algn="r" indent="0" marL="0">
              <a:buNone/>
            </a:pPr>
            <a:r>
              <a:rPr lang="ar-EG" altLang="en-US" sz="1400" dirty="0">
                <a:solidFill>
                  <a:srgbClr val="2B2620"/>
                </a:solidFill>
              </a:rPr>
              <a:t> أو حسب الكود) بسبب كثافة الحركة.</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معامل وورش بمساحات أكبر للفرد وتهوية خاصة.</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المباني الصحية (نظرة عامة)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غرف المرضى: مساحة للسرير ومرور حوله لا يقل عن </a:t>
            </a:r>
            <a:pPr rtl="1" algn="r" indent="0" marL="0">
              <a:buNone/>
            </a:pPr>
            <a:r>
              <a:rPr lang="ar-EG" altLang="en-US" sz="1400" b="1" dirty="0">
                <a:solidFill>
                  <a:srgbClr val="2B2620"/>
                </a:solidFill>
              </a:rPr>
              <a:t>90 سم</a:t>
            </a:r>
            <a:pPr rtl="1" algn="r" indent="0" marL="0">
              <a:buNone/>
            </a:pPr>
            <a:r>
              <a:rPr lang="ar-EG" altLang="en-US" sz="1400" dirty="0">
                <a:solidFill>
                  <a:srgbClr val="2B2620"/>
                </a:solidFill>
              </a:rPr>
              <a:t> على الجوانب للتمريض.</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الممرات اللي بتعدّي فيها الأسرّة </a:t>
            </a:r>
            <a:pPr rtl="1" algn="r" indent="0" marL="0">
              <a:buNone/>
            </a:pPr>
            <a:r>
              <a:rPr lang="ar-EG" altLang="en-US" sz="1400" b="1" dirty="0">
                <a:solidFill>
                  <a:srgbClr val="2B2620"/>
                </a:solidFill>
              </a:rPr>
              <a:t>2.4 م</a:t>
            </a:r>
            <a:pPr rtl="1" algn="r" indent="0" marL="0">
              <a:buNone/>
            </a:pPr>
            <a:r>
              <a:rPr lang="ar-EG" altLang="en-US" sz="1400" dirty="0">
                <a:solidFill>
                  <a:srgbClr val="2B2620"/>
                </a:solidFill>
              </a:rPr>
              <a:t> تقريباً (حسب الكود الصحي).</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أبواب غرف المرضى عرض يسمح بمرور السرير (حوالي </a:t>
            </a:r>
            <a:pPr rtl="1" algn="r" indent="0" marL="0">
              <a:buNone/>
            </a:pPr>
            <a:r>
              <a:rPr lang="ar-EG" altLang="en-US" sz="1400" b="1" dirty="0">
                <a:solidFill>
                  <a:srgbClr val="2B2620"/>
                </a:solidFill>
              </a:rPr>
              <a:t>110–130 سم</a:t>
            </a:r>
            <a:pPr rtl="1" algn="r" indent="0" marL="0">
              <a:buNone/>
            </a:pPr>
            <a:r>
              <a:rPr lang="ar-EG" altLang="en-US" sz="1400" dirty="0">
                <a:solidFill>
                  <a:srgbClr val="2B2620"/>
                </a:solidFill>
              </a:rPr>
              <a:t>).</a:t>
            </a:r>
            <a:endParaRPr lang="en-US" sz="1400" dirty="0"/>
          </a:p>
        </p:txBody>
      </p:sp>
      <p:sp>
        <p:nvSpPr>
          <p:cNvPr id="15" name="Text 13"/>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المباني الصحية ليها أكواد واشتراطات خاصة جداً من وزارة الصحة في كل دولة — نويفرت هنا للفكرة العامة بس.</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الفنادق والمطاعم</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غرفة فندقية قياسية حوالي </a:t>
            </a:r>
            <a:pPr rtl="1" algn="r" marL="342900" indent="-342900">
              <a:spcAft>
                <a:spcPts val="800"/>
              </a:spcAft>
              <a:buSzPct val="100000"/>
              <a:buChar char="•"/>
            </a:pPr>
            <a:r>
              <a:rPr lang="ar-EG" altLang="en-US" sz="1400" b="1" dirty="0">
                <a:solidFill>
                  <a:srgbClr val="2B2620"/>
                </a:solidFill>
              </a:rPr>
              <a:t>24–32 م²</a:t>
            </a:r>
            <a:pPr rtl="1" algn="r" marL="342900" indent="-342900">
              <a:spcAft>
                <a:spcPts val="800"/>
              </a:spcAft>
              <a:buSzPct val="100000"/>
              <a:buChar char="•"/>
            </a:pPr>
            <a:r>
              <a:rPr lang="ar-EG" altLang="en-US" sz="1400" dirty="0">
                <a:solidFill>
                  <a:srgbClr val="2B2620"/>
                </a:solidFill>
              </a:rPr>
              <a:t> شامل الحمام.</a:t>
            </a:r>
            <a:endParaRPr lang="en-US" sz="1400" dirty="0"/>
          </a:p>
          <a:p>
            <a:pPr rtl="1" algn="r" marL="342900" indent="-342900">
              <a:spcAft>
                <a:spcPts val="800"/>
              </a:spcAft>
              <a:buSzPct val="100000"/>
              <a:buChar char="•"/>
            </a:pPr>
            <a:r>
              <a:rPr lang="ar-EG" altLang="en-US" sz="1400" dirty="0">
                <a:solidFill>
                  <a:srgbClr val="2B2620"/>
                </a:solidFill>
              </a:rPr>
              <a:t>عرض الغرفة </a:t>
            </a:r>
            <a:pPr rtl="1" algn="r" marL="342900" indent="-342900">
              <a:spcAft>
                <a:spcPts val="800"/>
              </a:spcAft>
              <a:buSzPct val="100000"/>
              <a:buChar char="•"/>
            </a:pPr>
            <a:r>
              <a:rPr lang="ar-EG" altLang="en-US" sz="1400" b="1" dirty="0">
                <a:solidFill>
                  <a:srgbClr val="2B2620"/>
                </a:solidFill>
              </a:rPr>
              <a:t>3.6–4.2 م</a:t>
            </a:r>
            <a:pPr rtl="1" algn="r" marL="342900" indent="-342900">
              <a:spcAft>
                <a:spcPts val="800"/>
              </a:spcAft>
              <a:buSzPct val="100000"/>
              <a:buChar char="•"/>
            </a:pPr>
            <a:r>
              <a:rPr lang="ar-EG" altLang="en-US" sz="1400" dirty="0">
                <a:solidFill>
                  <a:srgbClr val="2B2620"/>
                </a:solidFill>
              </a:rPr>
              <a:t> عشان السرير والمرور والدولاب.</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م² لكل مقعد تقريباً</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النوع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1.1–1.4</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كافتيريا / سريع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1.4–1.7</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مطعم عادي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1.7–2.0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مطعم فاخر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الجراجات ومواقف السيارات</a:t>
            </a:r>
            <a:endParaRPr lang="ar-EG" sz="3000" dirty="0"/>
          </a:p>
        </p:txBody>
      </p:sp>
      <p:sp>
        <p:nvSpPr>
          <p:cNvPr id="3" name="figure-frame"/>
          <p:cNvSpPr/>
          <p:nvPr/>
        </p:nvSpPr>
        <p:spPr>
          <a:xfrm>
            <a:off x="457200" y="1325880"/>
            <a:ext cx="5669280" cy="2926080"/>
          </a:xfrm>
          <a:prstGeom prst="roundRect">
            <a:avLst>
              <a:gd name="adj" fmla="val 3125"/>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743200"/>
          </a:xfrm>
          <a:prstGeom prst="rect">
            <a:avLst/>
          </a:prstGeom>
        </p:spPr>
      </p:pic>
      <p:sp>
        <p:nvSpPr>
          <p:cNvPr id="5" name="Text 2"/>
          <p:cNvSpPr txBox="1"/>
          <p:nvPr/>
        </p:nvSpPr>
        <p:spPr>
          <a:xfrm>
            <a:off x="548640" y="429768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انتظار عمودي 90° وممر الحركة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ارتفاع صافي الجراج </a:t>
            </a:r>
            <a:pPr rtl="1" algn="r" marL="342900" indent="-342900">
              <a:spcAft>
                <a:spcPts val="800"/>
              </a:spcAft>
              <a:buSzPct val="100000"/>
              <a:buChar char="•"/>
            </a:pPr>
            <a:r>
              <a:rPr lang="ar-EG" altLang="en-US" sz="1500" b="1" dirty="0">
                <a:solidFill>
                  <a:srgbClr val="2B2620"/>
                </a:solidFill>
              </a:rPr>
              <a:t>2.10–2.30 م</a:t>
            </a:r>
            <a:pPr rtl="1" algn="r" marL="342900" indent="-342900">
              <a:spcAft>
                <a:spcPts val="800"/>
              </a:spcAft>
              <a:buSzPct val="100000"/>
              <a:buChar char="•"/>
            </a:pPr>
            <a:r>
              <a:rPr lang="ar-EG" altLang="en-US" sz="1500" dirty="0">
                <a:solidFill>
                  <a:srgbClr val="2B2620"/>
                </a:solidFill>
              </a:rPr>
              <a:t> على الأقل تحت الكمرات.</a:t>
            </a:r>
            <a:endParaRPr lang="en-US" sz="1500" dirty="0"/>
          </a:p>
          <a:p>
            <a:pPr rtl="1" algn="r" marL="342900" indent="-342900">
              <a:spcAft>
                <a:spcPts val="800"/>
              </a:spcAft>
              <a:buSzPct val="100000"/>
              <a:buChar char="•"/>
            </a:pPr>
            <a:r>
              <a:rPr lang="ar-EG" altLang="en-US" sz="1500" dirty="0">
                <a:solidFill>
                  <a:srgbClr val="2B2620"/>
                </a:solidFill>
              </a:rPr>
              <a:t>مكان ذوي الهمم عرض </a:t>
            </a:r>
            <a:pPr rtl="1" algn="r" marL="342900" indent="-342900">
              <a:spcAft>
                <a:spcPts val="800"/>
              </a:spcAft>
              <a:buSzPct val="100000"/>
              <a:buChar char="•"/>
            </a:pPr>
            <a:r>
              <a:rPr lang="ar-EG" altLang="en-US" sz="1500" b="1" dirty="0">
                <a:solidFill>
                  <a:srgbClr val="2B2620"/>
                </a:solidFill>
              </a:rPr>
              <a:t>3.50 م</a:t>
            </a:r>
            <a:pPr rtl="1" algn="r" marL="342900" indent="-342900">
              <a:spcAft>
                <a:spcPts val="800"/>
              </a:spcAft>
              <a:buSzPct val="100000"/>
              <a:buChar char="•"/>
            </a:pPr>
            <a:r>
              <a:rPr lang="ar-EG" altLang="en-US" sz="1500" dirty="0">
                <a:solidFill>
                  <a:srgbClr val="2B2620"/>
                </a:solidFill>
              </a:rPr>
              <a:t> وقريب من المصعد أو المدخل.</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الإضاءة والتهوية والصوت</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التوجيه: الشمال (في نصف الكرة الشمالي) بيدي إضاءة ثابتة من غير وهج، والجنوب محتاج كاسرات شمس.</a:t>
            </a:r>
            <a:endParaRPr lang="en-US" sz="1400" dirty="0"/>
          </a:p>
          <a:p>
            <a:pPr rtl="1" algn="r" marL="342900" indent="-342900">
              <a:spcAft>
                <a:spcPts val="800"/>
              </a:spcAft>
              <a:buSzPct val="100000"/>
              <a:buChar char="•"/>
            </a:pPr>
            <a:r>
              <a:rPr lang="ar-EG" altLang="en-US" sz="1400" dirty="0">
                <a:solidFill>
                  <a:srgbClr val="2B2620"/>
                </a:solidFill>
              </a:rPr>
              <a:t>في مصر والسعودية: قلل الفتحات الغربية، واعمل كاسرات أفقية للجنوب ورأسية للشرق والغرب.</a:t>
            </a:r>
            <a:endParaRPr lang="en-US" sz="14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شدة الإضاءة التقريبية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الفراغ</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100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ممرات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150–300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معيشة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300–500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مطبخ وسطح عمل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500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مكتب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750–1000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رسم دقيق</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الفراغات الخارجية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الممرات في الحدائق </a:t>
            </a:r>
            <a:pPr rtl="1" algn="r" indent="0" marL="0">
              <a:buNone/>
            </a:pPr>
            <a:r>
              <a:rPr lang="ar-EG" altLang="en-US" sz="1400" b="1" dirty="0">
                <a:solidFill>
                  <a:srgbClr val="2B2620"/>
                </a:solidFill>
              </a:rPr>
              <a:t>1.2–2.0 م</a:t>
            </a:r>
            <a:pPr rtl="1" algn="r" indent="0" marL="0">
              <a:buNone/>
            </a:pPr>
            <a:r>
              <a:rPr lang="ar-EG" altLang="en-US" sz="1400" dirty="0">
                <a:solidFill>
                  <a:srgbClr val="2B2620"/>
                </a:solidFill>
              </a:rPr>
              <a:t>، وممر عربية </a:t>
            </a:r>
            <a:pPr rtl="1" algn="r" indent="0" marL="0">
              <a:buNone/>
            </a:pPr>
            <a:r>
              <a:rPr lang="ar-EG" altLang="en-US" sz="1400" b="1" dirty="0">
                <a:solidFill>
                  <a:srgbClr val="2B2620"/>
                </a:solidFill>
              </a:rPr>
              <a:t>3.0–3.5 م</a:t>
            </a:r>
            <a:pPr rtl="1" algn="r" indent="0" marL="0">
              <a:buNone/>
            </a:pPr>
            <a:r>
              <a:rPr lang="ar-EG" altLang="en-US" sz="1400" dirty="0">
                <a:solidFill>
                  <a:srgbClr val="2B2620"/>
                </a:solidFill>
              </a:rPr>
              <a:t>.</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الدرج الخارجي بقوائم أقل (12–15 سم) ونوائم أعرض.</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حمام سباحة سكني شائع </a:t>
            </a:r>
            <a:pPr rtl="1" algn="r" indent="0" marL="0">
              <a:buNone/>
            </a:pPr>
            <a:r>
              <a:rPr lang="ar-EG" altLang="en-US" sz="1400" b="1" dirty="0">
                <a:solidFill>
                  <a:srgbClr val="2B2620"/>
                </a:solidFill>
              </a:rPr>
              <a:t>8×4 م</a:t>
            </a:r>
            <a:pPr rtl="1" algn="r" indent="0" marL="0">
              <a:buNone/>
            </a:pPr>
            <a:r>
              <a:rPr lang="ar-EG" altLang="en-US" sz="1400" dirty="0">
                <a:solidFill>
                  <a:srgbClr val="2B2620"/>
                </a:solidFill>
              </a:rPr>
              <a:t> أو </a:t>
            </a:r>
            <a:pPr rtl="1" algn="r" indent="0" marL="0">
              <a:buNone/>
            </a:pPr>
            <a:r>
              <a:rPr lang="ar-EG" altLang="en-US" sz="1400" b="1" dirty="0">
                <a:solidFill>
                  <a:srgbClr val="2B2620"/>
                </a:solidFill>
              </a:rPr>
              <a:t>10×5 م</a:t>
            </a:r>
            <a:pPr rtl="1" algn="r" indent="0" marL="0">
              <a:buNone/>
            </a:pPr>
            <a:r>
              <a:rPr lang="ar-EG" altLang="en-US" sz="1400" dirty="0">
                <a:solidFill>
                  <a:srgbClr val="2B2620"/>
                </a:solidFill>
              </a:rPr>
              <a:t>، والعمق من </a:t>
            </a:r>
            <a:pPr rtl="1" algn="r" indent="0" marL="0">
              <a:buNone/>
            </a:pPr>
            <a:r>
              <a:rPr lang="ar-EG" altLang="en-US" sz="1400" b="1" dirty="0">
                <a:solidFill>
                  <a:srgbClr val="2B2620"/>
                </a:solidFill>
              </a:rPr>
              <a:t>1.2 لـ 1.8 م</a:t>
            </a:r>
            <a:pPr rtl="1" algn="r" indent="0" marL="0">
              <a:buNone/>
            </a:pPr>
            <a:r>
              <a:rPr lang="ar-EG" altLang="en-US" sz="1400" dirty="0">
                <a:solidFill>
                  <a:srgbClr val="2B2620"/>
                </a:solidFill>
              </a:rPr>
              <a:t> أو أكتر للغطس.</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مسافة الأشجار الكبيرة من المباني </a:t>
            </a:r>
            <a:pPr rtl="1" algn="r" indent="0" marL="0">
              <a:buNone/>
            </a:pPr>
            <a:r>
              <a:rPr lang="ar-EG" altLang="en-US" sz="1400" b="1" dirty="0">
                <a:solidFill>
                  <a:srgbClr val="2B2620"/>
                </a:solidFill>
              </a:rPr>
              <a:t>4–6 م</a:t>
            </a:r>
            <a:pPr rtl="1" algn="r" indent="0" marL="0">
              <a:buNone/>
            </a:pPr>
            <a:r>
              <a:rPr lang="ar-EG" altLang="en-US" sz="1400" dirty="0">
                <a:solidFill>
                  <a:srgbClr val="2B2620"/>
                </a:solidFill>
              </a:rPr>
              <a:t> على الأقل عشان الجذور.</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خلاصة م. عمر خميس</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نويفرت مرجع </a:t>
            </a:r>
            <a:pPr rtl="1" algn="r" indent="0" marL="0">
              <a:buNone/>
            </a:pPr>
            <a:r>
              <a:rPr lang="ar-EG" altLang="en-US" sz="1400" b="1" dirty="0">
                <a:solidFill>
                  <a:srgbClr val="2B2620"/>
                </a:solidFill>
              </a:rPr>
              <a:t>أبعاد وفراغات</a:t>
            </a:r>
            <a:pPr rtl="1" algn="r" indent="0" marL="0">
              <a:buNone/>
            </a:pPr>
            <a:r>
              <a:rPr lang="ar-EG" altLang="en-US" sz="1400" dirty="0">
                <a:solidFill>
                  <a:srgbClr val="2B2620"/>
                </a:solidFill>
              </a:rPr>
              <a:t> — استخدمه في أول التصميم وفي مراجعة المساقط.</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أي رقم في الكتاب </a:t>
            </a:r>
            <a:pPr rtl="1" algn="r" indent="0" marL="0">
              <a:buNone/>
            </a:pPr>
            <a:r>
              <a:rPr lang="ar-EG" altLang="en-US" sz="1400" b="1" dirty="0">
                <a:solidFill>
                  <a:srgbClr val="2B2620"/>
                </a:solidFill>
              </a:rPr>
              <a:t>إرشادي</a:t>
            </a:r>
            <a:pPr rtl="1" algn="r" indent="0" marL="0">
              <a:buNone/>
            </a:pPr>
            <a:r>
              <a:rPr lang="ar-EG" altLang="en-US" sz="1400" dirty="0">
                <a:solidFill>
                  <a:srgbClr val="2B2620"/>
                </a:solidFill>
              </a:rPr>
              <a:t> ولازم يطابق الكود المحلي والاشتراطات.</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اشتغل على </a:t>
            </a:r>
            <a:pPr rtl="1" algn="r" indent="0" marL="0">
              <a:buNone/>
            </a:pPr>
            <a:r>
              <a:rPr lang="ar-EG" altLang="en-US" sz="1400" b="1" dirty="0">
                <a:solidFill>
                  <a:srgbClr val="2B2620"/>
                </a:solidFill>
              </a:rPr>
              <a:t>الحركة</a:t>
            </a:r>
            <a:pPr rtl="1" algn="r" indent="0" marL="0">
              <a:buNone/>
            </a:pPr>
            <a:r>
              <a:rPr lang="ar-EG" altLang="en-US" sz="1400" dirty="0">
                <a:solidFill>
                  <a:srgbClr val="2B2620"/>
                </a:solidFill>
              </a:rPr>
              <a:t> والمرور حوالين الأثاث مش على الأثاث بس.</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خلّي المسقط على </a:t>
            </a:r>
            <a:pPr rtl="1" algn="r" indent="0" marL="0">
              <a:buNone/>
            </a:pPr>
            <a:r>
              <a:rPr lang="ar-EG" altLang="en-US" sz="1400" b="1" dirty="0">
                <a:solidFill>
                  <a:srgbClr val="2B2620"/>
                </a:solidFill>
              </a:rPr>
              <a:t>شبكة</a:t>
            </a:r>
            <a:pPr rtl="1" algn="r" indent="0" marL="0">
              <a:buNone/>
            </a:pPr>
            <a:r>
              <a:rPr lang="ar-EG" altLang="en-US" sz="1400" dirty="0">
                <a:solidFill>
                  <a:srgbClr val="2B2620"/>
                </a:solidFill>
              </a:rPr>
              <a:t> منتظمة عشان التنفيذ يبقى أسهل وأرخص.</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احفظ الأرقام الأساسية: الدرجة 17×29، الباب 90×210، الممر 110–120، الكرسي 45، الترابيزة 75، الرخامة 90.</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مختصر وتلخيص م. عمر خميس — مكتبة م. عمر خميس للاسكتش اب.</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شكراً</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+20 100 543 3170</a:t>
            </a:r>
            <a:endParaRPr lang="ar-EG" sz="1800" dirty="0"/>
          </a:p>
        </p:txBody>
      </p:sp>
      <p:sp>
        <p:nvSpPr>
          <p:cNvPr id="4" name="Text 2"/>
          <p:cNvSpPr txBox="1"/>
          <p:nvPr/>
        </p:nvSpPr>
        <p:spPr>
          <a:xfrm>
            <a:off x="914400" y="5577840"/>
            <a:ext cx="10362895" cy="548640"/>
          </a:xfrm>
          <a:prstGeom prst="rect">
            <a:avLst/>
          </a:prstGeom>
          <a:noFill/>
          <a:ln/>
        </p:spPr>
        <p:txBody>
          <a:bodyPr wrap="square" rtlCol="0" anchor="ctr"/>
          <a:lstStyle/>
          <a:p>
            <a:pPr rtl="1" algn="ctr" indent="0" marL="0">
              <a:buNone/>
            </a:pPr>
            <a:r>
              <a:rPr lang="ar-EG" altLang="en-US" sz="1400" dirty="0">
                <a:solidFill>
                  <a:srgbClr val="E3C278"/>
                </a:solidFill>
              </a:rPr>
              <a:t>لا تنسوا صاحب المكتبة من الدعاء — عمر بن جمال خميس، غفر الله له ولوالديه</a:t>
            </a:r>
            <a:endParaRPr lang="ar-EG"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1D5FA8"/>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ملخص: بيانات المعماري — نويفرت</dc:title>
  <dc:subject>PptxGenJS Presentation</dc:subject>
  <dc:creator>Eng. Omar Khamis</dc:creator>
  <cp:lastModifiedBy>Eng. Omar Khamis</cp:lastModifiedBy>
  <cp:revision>1</cp:revision>
  <dcterms:created xsi:type="dcterms:W3CDTF">2026-10-15T12:37:07Z</dcterms:created>
  <dcterms:modified xsi:type="dcterms:W3CDTF">2026-10-15T12:37:07Z</dcterms:modified>
</cp:coreProperties>
</file>