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80f816c-f787-6142-c3e8-ad78e291b62e}">
          <p14:sldIdLst>
            <p14:sldId id="256"/>
          </p14:sldIdLst>
        </p14:section>
        <p14:section name="Contents" id="{e81922ef-e7e3-4937-0361-18f36b6f8dcb}">
          <p14:sldIdLst>
            <p14:sldId id="257"/>
          </p14:sldIdLst>
        </p14:section>
        <p14:section name="Summary" id="{7b8ba29a-ba03-6a4b-5f72-c8bbfe2ee2ab}">
          <p14:sldIdLst>
            <p14:sldId id="258"/>
            <p14:sldId id="259"/>
            <p14:sldId id="260"/>
            <p14:sldId id="261"/>
            <p14:sldId id="262"/>
            <p14:sldId id="263"/>
            <p14:sldId id="264"/>
            <p14:sldId id="265"/>
            <p14:sldId id="266"/>
            <p14:sldId id="267"/>
            <p14:sldId id="268"/>
            <p14:sldId id="269"/>
            <p14:sldId id="270"/>
          </p14:sldIdLst>
        </p14:section>
        <p14:section name="Closing" id="{b7a37938-a421-43ca-469c-aae94cd518d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Francis Ching's Building Construction Illustrated (6th edition, 2020) is one of the best-known books linking design to construction. Its strength is that it is entirely hand-drawn in clear 3D drawings that show every layer and every joint.
It follows the building sequence: site → foundations → floors → walls → roofs → protection → openings → stairs → finishes → services → materials.
What you gain
Understand why a detail is drawn the way it is, not just copy it.
Write correct construction notes on drawings.
Speak the site's language with contractors and supervisors.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analysis: sun, wind, soil, groundwater, roads and utilities, before any design.
Orientation: in hot-dry climates (Egypt, Saudi Arabia) long façades face north and south, with the fewest openings to the west.
Surface drainage: ground falls away from the building (about 2–5% over the first 3 m).
The building as systems
Ching divides the building into systems: structure (what carries loads), enclosure (what keeps the weather out) and services (power, plumbing, HVAC). A good detail serves all three.
The load path
Load travels roof → beams → columns or bearing walls → foundations →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Shallow foundations
Isolated footings under columns: the most common in housing.
Strip footings under bearing walls.
Raft: weak soil, heavy loads, or a basement with groundwater.
Deep foundations
Piles: carry load to a stronger layer, by friction or end bearing.
Caissons: large-diameter piles.
Key site points
The soil report decides the foundation type and level — never guess.
Blinding concrete about 10 cm under footings.
Waterproof footings, ground beams and below-grade walls before backfilling.
Backfill in 20–30 cm layers, wetted and compacted.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Reinforced concrete
A slab is one-way when the long/short ratio exceeds 2, two-way below that.
Movement joints in long buildings at spacings set by the structural engineer.
Ground-bearing floors
Compacted fill → polyethylene vapour barrier → concrete →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 types
Load-bearing: carry the slabs (bearing masonry).
Non-load-bearing / infill: in framed buildings, they only enclose.
Cavity wall: two leaves with a cavity and insulation, better thermally and against damp.
Key requirements
Lintels bear at least 15–20 cm into the wall each side.
Bond: vertical joints never line up (half-brick offset).
Tie walls to columns with starter bars or mesh every 3–4 courses.
Roof parapet about 100–120 cm high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roofs
Need a fall of at least 1–2%.
Inverted roof build-up: slab → screed to falls → waterproofing → insulation → protection/tiles.
The membrane turns up the parapet 20–30 cm and is fixed with a flashing or profile.
Outlets and downpipes sized for the roof area, plus an overflow.
Pitched roofs
Tiles: usually 22–45° depending on the tile.
Ventilation under the tiles and a secondary underlay.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Waterproofing
Bitumen membranes (torch-applied rolls), liquid membranes (polyurethane/acrylic), cementitious (bathrooms, tanks).
Bathrooms: the whole floor, turned up the walls 20–30 cm, and 180–200 cm in the shower.
Flood test for 24–48 hours before covering.
Thermal insulation
Best placed outside (protects the structure and keeps thermal mass inside).
Common materials: extruded polystyrene (XPS), mineral wool, sprayed polyurethane.
Vapour retarder on the warm side of the insulation.
Thermal bridges
Columns, beams and projecting slabs carry heat around the insulation — wrap or insulate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Frames fixed into the wall with lugs or anchors, with a separation joint to the plaster.
External windows: sill sloping outwards and a drip under the sill.
Sealant around the frame outside and insulating fill in the gap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rule: 2 × riser + tread = 60–65 cm.
All steps in a flight the same size (a difference above about 1 cm causes trips).
Nosing projecting 2–3 cm or an anti-slip strip.
Guard about 90 cm high, openings under 10–12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Plaster
Three coats: scratch (bond) → brown (levelled to screeds and dots) → finish (smooth), about 2–2.5 cm total.
Mesh where concrete meets masonry to prevent cracks.
Drywall
Metal studs at 40 or 60 cm, board 12.5 mm.
Joints taped and filled in 3 coats.
Floors
Tiles on mortar or adhesive depending on type, with movement joints at walls and in large areas.
Timber: 1 cm gap at walls.
Paint
Dry, clean surface → primer/sealer → filler in coats → sanding → at least two finish coats.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Plumbing: supply under pressure; drainage by gravity at about 1–2% for horizontal pipes.
HVAC: duct routes need ceiling depth (often 40–60 cm).
Electrical: distribution boards, separate circuits for AC, heaters and kitchen, and earthing.
Coordination before casting: sleeves in beams and slabs are placed before the pour, not cut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 the system (structure, enclosure, services) before the detail.
Water must always have a way out: falls, drips, flashings, outlets.
Waterproofing is tested before it is covered.
Insulation is better outside, the vapour retarder inside.
Coordinating disciplines before the pour saves money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2B2620"/>
                </a:solidFill>
              </a:defRPr>
            </a:lvl1pPr>
          </a:lstStyle>
          <a:p>
            <a:pPr algn="l" indent="0" marL="0">
              <a:buNone/>
            </a:pPr>
            <a:endParaRPr lang="en-US" sz="3000" dirty="0"/>
          </a:p>
        </p:txBody>
      </p:sp>
      <p:sp>
        <p:nvSpPr>
          <p:cNvPr id="3" name="Text 0"/>
          <p:cNvSpPr/>
          <p:nvPr/>
        </p:nvSpPr>
        <p:spPr>
          <a:xfrm>
            <a:off x="548640" y="6400800"/>
            <a:ext cx="7315200" cy="320040"/>
          </a:xfrm>
          <a:prstGeom prst="rect">
            <a:avLst/>
          </a:prstGeom>
          <a:noFill/>
          <a:ln/>
        </p:spPr>
        <p:txBody>
          <a:bodyPr wrap="square" rtlCol="0" anchor="ctr"/>
          <a:lstStyle/>
          <a:p>
            <a:pPr algn="l" indent="0" marL="0">
              <a:buNone/>
            </a:pPr>
            <a:r>
              <a:rPr lang="en-US" altLang="en-US" sz="1000" dirty="0">
                <a:solidFill>
                  <a:srgbClr val="8A7E6A"/>
                </a:solidFill>
              </a:rPr>
              <a:t>Summary by Eng. Omar Khamis  —  +20 100 543 3170</a:t>
            </a:r>
            <a:endParaRPr lang="en-US" sz="10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Summary: Building Construction Illustrated — Ching</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Omar Khamis Library — 2026</a:t>
            </a:r>
            <a:endParaRPr lang="en-US"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algn="ctr" indent="0" marL="0">
              <a:buNone/>
            </a:pPr>
            <a:r>
              <a:rPr lang="en-US" altLang="en-US" sz="1200" dirty="0">
                <a:solidFill>
                  <a:srgbClr val="B9AE97"/>
                </a:solidFill>
              </a:rPr>
              <a:t>A learning summary — not a substitute for the original 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What this deck covers</a:t>
            </a:r>
            <a:endParaRPr lang="en-US" sz="3000" dirty="0"/>
          </a:p>
        </p:txBody>
      </p:sp>
      <p:sp>
        <p:nvSpPr>
          <p:cNvPr id="3" name="n1"/>
          <p:cNvSpPr/>
          <p:nvPr/>
        </p:nvSpPr>
        <p:spPr>
          <a:xfrm>
            <a:off x="548640" y="1362456"/>
            <a:ext cx="384048" cy="384048"/>
          </a:xfrm>
          <a:prstGeom prst="ellipse">
            <a:avLst/>
          </a:prstGeom>
          <a:solidFill>
            <a:schemeClr val="accent1"/>
          </a:solidFill>
          <a:ln/>
        </p:spPr>
      </p:sp>
      <p:sp>
        <p:nvSpPr>
          <p:cNvPr id="4" name="Text 2"/>
          <p:cNvSpPr txBox="1"/>
          <p:nvPr/>
        </p:nvSpPr>
        <p:spPr>
          <a:xfrm>
            <a:off x="548640"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51560"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Introduction: a book that shows how buildings are built</a:t>
            </a:r>
            <a:endParaRPr lang="en-US" sz="1500" dirty="0"/>
          </a:p>
        </p:txBody>
      </p:sp>
      <p:sp>
        <p:nvSpPr>
          <p:cNvPr id="6" name="n2"/>
          <p:cNvSpPr/>
          <p:nvPr/>
        </p:nvSpPr>
        <p:spPr>
          <a:xfrm>
            <a:off x="548640" y="1874520"/>
            <a:ext cx="384048" cy="384048"/>
          </a:xfrm>
          <a:prstGeom prst="ellipse">
            <a:avLst/>
          </a:prstGeom>
          <a:solidFill>
            <a:schemeClr val="accent1"/>
          </a:solidFill>
          <a:ln/>
        </p:spPr>
      </p:sp>
      <p:sp>
        <p:nvSpPr>
          <p:cNvPr id="7" name="Text 5"/>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51560"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The site and the building</a:t>
            </a:r>
            <a:endParaRPr lang="en-US" sz="1500" dirty="0"/>
          </a:p>
        </p:txBody>
      </p:sp>
      <p:sp>
        <p:nvSpPr>
          <p:cNvPr id="9" name="n3"/>
          <p:cNvSpPr/>
          <p:nvPr/>
        </p:nvSpPr>
        <p:spPr>
          <a:xfrm>
            <a:off x="548640" y="2386584"/>
            <a:ext cx="384048" cy="384048"/>
          </a:xfrm>
          <a:prstGeom prst="ellipse">
            <a:avLst/>
          </a:prstGeom>
          <a:solidFill>
            <a:schemeClr val="accent1"/>
          </a:solidFill>
          <a:ln/>
        </p:spPr>
      </p:sp>
      <p:sp>
        <p:nvSpPr>
          <p:cNvPr id="10" name="Text 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51560"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Foundations</a:t>
            </a:r>
            <a:endParaRPr lang="en-US" sz="1500" dirty="0"/>
          </a:p>
        </p:txBody>
      </p:sp>
      <p:sp>
        <p:nvSpPr>
          <p:cNvPr id="12" name="n4"/>
          <p:cNvSpPr/>
          <p:nvPr/>
        </p:nvSpPr>
        <p:spPr>
          <a:xfrm>
            <a:off x="548640" y="2898648"/>
            <a:ext cx="384048" cy="384048"/>
          </a:xfrm>
          <a:prstGeom prst="ellipse">
            <a:avLst/>
          </a:prstGeom>
          <a:solidFill>
            <a:schemeClr val="accent1"/>
          </a:solidFill>
          <a:ln/>
        </p:spPr>
      </p:sp>
      <p:sp>
        <p:nvSpPr>
          <p:cNvPr id="13" name="Text 11"/>
          <p:cNvSpPr txBox="1"/>
          <p:nvPr/>
        </p:nvSpPr>
        <p:spPr>
          <a:xfrm>
            <a:off x="54864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51560"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Floor systems</a:t>
            </a:r>
            <a:endParaRPr lang="en-US" sz="1500" dirty="0"/>
          </a:p>
        </p:txBody>
      </p:sp>
      <p:sp>
        <p:nvSpPr>
          <p:cNvPr id="15" name="n5"/>
          <p:cNvSpPr/>
          <p:nvPr/>
        </p:nvSpPr>
        <p:spPr>
          <a:xfrm>
            <a:off x="548640" y="3410712"/>
            <a:ext cx="384048" cy="384048"/>
          </a:xfrm>
          <a:prstGeom prst="ellipse">
            <a:avLst/>
          </a:prstGeom>
          <a:solidFill>
            <a:schemeClr val="accent1"/>
          </a:solidFill>
          <a:ln/>
        </p:spPr>
      </p:sp>
      <p:sp>
        <p:nvSpPr>
          <p:cNvPr id="16" name="Text 14"/>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51560"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Walls</a:t>
            </a:r>
            <a:endParaRPr lang="en-US" sz="1500" dirty="0"/>
          </a:p>
        </p:txBody>
      </p:sp>
      <p:sp>
        <p:nvSpPr>
          <p:cNvPr id="18" name="n6"/>
          <p:cNvSpPr/>
          <p:nvPr/>
        </p:nvSpPr>
        <p:spPr>
          <a:xfrm>
            <a:off x="548640" y="3922776"/>
            <a:ext cx="384048" cy="384048"/>
          </a:xfrm>
          <a:prstGeom prst="ellipse">
            <a:avLst/>
          </a:prstGeom>
          <a:solidFill>
            <a:schemeClr val="accent1"/>
          </a:solidFill>
          <a:ln/>
        </p:spPr>
      </p:sp>
      <p:sp>
        <p:nvSpPr>
          <p:cNvPr id="19" name="Text 17"/>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51560"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Roofs</a:t>
            </a:r>
            <a:endParaRPr lang="en-US" sz="1500" dirty="0"/>
          </a:p>
        </p:txBody>
      </p:sp>
      <p:sp>
        <p:nvSpPr>
          <p:cNvPr id="21" name="n7"/>
          <p:cNvSpPr/>
          <p:nvPr/>
        </p:nvSpPr>
        <p:spPr>
          <a:xfrm>
            <a:off x="548640" y="4434840"/>
            <a:ext cx="384048" cy="384048"/>
          </a:xfrm>
          <a:prstGeom prst="ellipse">
            <a:avLst/>
          </a:prstGeom>
          <a:solidFill>
            <a:schemeClr val="accent1"/>
          </a:solidFill>
          <a:ln/>
        </p:spPr>
      </p:sp>
      <p:sp>
        <p:nvSpPr>
          <p:cNvPr id="22" name="Text 20"/>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51560" y="4398264"/>
            <a:ext cx="4907128" cy="457200"/>
          </a:xfrm>
          <a:prstGeom prst="rect">
            <a:avLst/>
          </a:prstGeom>
          <a:noFill/>
          <a:ln/>
        </p:spPr>
        <p:txBody>
          <a:bodyPr wrap="square" rtlCol="0" anchor="ctr"/>
          <a:lstStyle/>
          <a:p>
            <a:pPr algn="l" indent="0" marL="0">
              <a:buNone/>
            </a:pPr>
            <a:r>
              <a:rPr lang="en-US" altLang="en-US" sz="1500" dirty="0">
                <a:solidFill>
                  <a:schemeClr val="tx1"/>
                </a:solidFill>
              </a:rPr>
              <a:t>Moisture and thermal protection</a:t>
            </a:r>
            <a:endParaRPr lang="en-US" sz="1500" dirty="0"/>
          </a:p>
        </p:txBody>
      </p:sp>
      <p:sp>
        <p:nvSpPr>
          <p:cNvPr id="24" name="n8"/>
          <p:cNvSpPr/>
          <p:nvPr/>
        </p:nvSpPr>
        <p:spPr>
          <a:xfrm>
            <a:off x="6187288" y="1362456"/>
            <a:ext cx="384048" cy="384048"/>
          </a:xfrm>
          <a:prstGeom prst="ellipse">
            <a:avLst/>
          </a:prstGeom>
          <a:solidFill>
            <a:schemeClr val="accent1"/>
          </a:solidFill>
          <a:ln/>
        </p:spPr>
      </p:sp>
      <p:sp>
        <p:nvSpPr>
          <p:cNvPr id="25" name="Text 23"/>
          <p:cNvSpPr txBox="1"/>
          <p:nvPr/>
        </p:nvSpPr>
        <p:spPr>
          <a:xfrm>
            <a:off x="618728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6690208"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Doors and windows</a:t>
            </a:r>
            <a:endParaRPr lang="en-US" sz="1500" dirty="0"/>
          </a:p>
        </p:txBody>
      </p:sp>
      <p:sp>
        <p:nvSpPr>
          <p:cNvPr id="27" name="n9"/>
          <p:cNvSpPr/>
          <p:nvPr/>
        </p:nvSpPr>
        <p:spPr>
          <a:xfrm>
            <a:off x="6187288" y="1874520"/>
            <a:ext cx="384048" cy="384048"/>
          </a:xfrm>
          <a:prstGeom prst="ellipse">
            <a:avLst/>
          </a:prstGeom>
          <a:solidFill>
            <a:schemeClr val="accent1"/>
          </a:solidFill>
          <a:ln/>
        </p:spPr>
      </p:sp>
      <p:sp>
        <p:nvSpPr>
          <p:cNvPr id="28" name="Text 26"/>
          <p:cNvSpPr txBox="1"/>
          <p:nvPr/>
        </p:nvSpPr>
        <p:spPr>
          <a:xfrm>
            <a:off x="618728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6690208"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Stairs</a:t>
            </a:r>
            <a:endParaRPr lang="en-US" sz="1500" dirty="0"/>
          </a:p>
        </p:txBody>
      </p:sp>
      <p:sp>
        <p:nvSpPr>
          <p:cNvPr id="30" name="n10"/>
          <p:cNvSpPr/>
          <p:nvPr/>
        </p:nvSpPr>
        <p:spPr>
          <a:xfrm>
            <a:off x="6187288" y="2386584"/>
            <a:ext cx="384048" cy="384048"/>
          </a:xfrm>
          <a:prstGeom prst="ellipse">
            <a:avLst/>
          </a:prstGeom>
          <a:solidFill>
            <a:schemeClr val="accent1"/>
          </a:solidFill>
          <a:ln/>
        </p:spPr>
      </p:sp>
      <p:sp>
        <p:nvSpPr>
          <p:cNvPr id="31" name="Text 29"/>
          <p:cNvSpPr txBox="1"/>
          <p:nvPr/>
        </p:nvSpPr>
        <p:spPr>
          <a:xfrm>
            <a:off x="618728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6690208"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Finishes</a:t>
            </a:r>
            <a:endParaRPr lang="en-US" sz="1500" dirty="0"/>
          </a:p>
        </p:txBody>
      </p:sp>
      <p:sp>
        <p:nvSpPr>
          <p:cNvPr id="33" name="n11"/>
          <p:cNvSpPr/>
          <p:nvPr/>
        </p:nvSpPr>
        <p:spPr>
          <a:xfrm>
            <a:off x="6187288" y="2898648"/>
            <a:ext cx="384048" cy="384048"/>
          </a:xfrm>
          <a:prstGeom prst="ellipse">
            <a:avLst/>
          </a:prstGeom>
          <a:solidFill>
            <a:schemeClr val="accent1"/>
          </a:solidFill>
          <a:ln/>
        </p:spPr>
      </p:sp>
      <p:sp>
        <p:nvSpPr>
          <p:cNvPr id="34" name="Text 32"/>
          <p:cNvSpPr txBox="1"/>
          <p:nvPr/>
        </p:nvSpPr>
        <p:spPr>
          <a:xfrm>
            <a:off x="618728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6690208"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Building services</a:t>
            </a:r>
            <a:endParaRPr lang="en-US" sz="1500" dirty="0"/>
          </a:p>
        </p:txBody>
      </p:sp>
      <p:sp>
        <p:nvSpPr>
          <p:cNvPr id="36" name="n12"/>
          <p:cNvSpPr/>
          <p:nvPr/>
        </p:nvSpPr>
        <p:spPr>
          <a:xfrm>
            <a:off x="6187288" y="3410712"/>
            <a:ext cx="384048" cy="384048"/>
          </a:xfrm>
          <a:prstGeom prst="ellipse">
            <a:avLst/>
          </a:prstGeom>
          <a:solidFill>
            <a:schemeClr val="accent1"/>
          </a:solidFill>
          <a:ln/>
        </p:spPr>
      </p:sp>
      <p:sp>
        <p:nvSpPr>
          <p:cNvPr id="37" name="Text 35"/>
          <p:cNvSpPr txBox="1"/>
          <p:nvPr/>
        </p:nvSpPr>
        <p:spPr>
          <a:xfrm>
            <a:off x="618728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6690208"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Materials</a:t>
            </a:r>
            <a:endParaRPr lang="en-US" sz="1500" dirty="0"/>
          </a:p>
        </p:txBody>
      </p:sp>
      <p:sp>
        <p:nvSpPr>
          <p:cNvPr id="39" name="n13"/>
          <p:cNvSpPr/>
          <p:nvPr/>
        </p:nvSpPr>
        <p:spPr>
          <a:xfrm>
            <a:off x="6187288" y="3922776"/>
            <a:ext cx="384048" cy="384048"/>
          </a:xfrm>
          <a:prstGeom prst="ellipse">
            <a:avLst/>
          </a:prstGeom>
          <a:solidFill>
            <a:schemeClr val="accent1"/>
          </a:solidFill>
          <a:ln/>
        </p:spPr>
      </p:sp>
      <p:sp>
        <p:nvSpPr>
          <p:cNvPr id="40" name="Text 38"/>
          <p:cNvSpPr txBox="1"/>
          <p:nvPr/>
        </p:nvSpPr>
        <p:spPr>
          <a:xfrm>
            <a:off x="618728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6690208"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Eng. Omar Khamis's takeaways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Introduction: a book that shows how buildings are built</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Francis Ching's Building Construction Illustrated (6th edition, 2020) is one of the best-known books linking design to construction. …</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It follows the building sequence: site → foundations → floors → walls → roofs → protection → openings → stairs → finishes → services → …</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Understand </a:t>
            </a:r>
            <a:pPr algn="l" indent="0" marL="0">
              <a:buNone/>
            </a:pPr>
            <a:r>
              <a:rPr lang="en-US" altLang="en-US" sz="1400" b="1" dirty="0">
                <a:solidFill>
                  <a:srgbClr val="2B2620"/>
                </a:solidFill>
              </a:rPr>
              <a:t>why</a:t>
            </a:r>
            <a:pPr algn="l" indent="0" marL="0">
              <a:buNone/>
            </a:pPr>
            <a:r>
              <a:rPr lang="en-US" altLang="en-US" sz="1400" dirty="0">
                <a:solidFill>
                  <a:srgbClr val="2B2620"/>
                </a:solidFill>
              </a:rPr>
              <a:t> a detail is drawn the way it is, not just copy it.</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Write correct construction notes on drawings.</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Speak the site's language with contractors and supervisors.</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This summary is written by Eng. Omar Khamis in his own words. The book is based on US practice (IBC and US materials); here we relate it to practice in Egypt and Saudi …</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site and the building</a:t>
            </a:r>
            <a:endParaRPr lang="en-US" sz="3000" dirty="0"/>
          </a:p>
        </p:txBody>
      </p:sp>
      <p:sp>
        <p:nvSpPr>
          <p:cNvPr id="3" name="figure-frame"/>
          <p:cNvSpPr/>
          <p:nvPr/>
        </p:nvSpPr>
        <p:spPr>
          <a:xfrm>
            <a:off x="6065215" y="1325880"/>
            <a:ext cx="5669280" cy="2926080"/>
          </a:xfrm>
          <a:prstGeom prst="roundRect">
            <a:avLst>
              <a:gd name="adj" fmla="val 3125"/>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743200"/>
          </a:xfrm>
          <a:prstGeom prst="rect">
            <a:avLst/>
          </a:prstGeom>
        </p:spPr>
      </p:pic>
      <p:sp>
        <p:nvSpPr>
          <p:cNvPr id="5" name="Text 2"/>
          <p:cNvSpPr txBox="1"/>
          <p:nvPr/>
        </p:nvSpPr>
        <p:spPr>
          <a:xfrm>
            <a:off x="6156655" y="4297680"/>
            <a:ext cx="5486400" cy="365760"/>
          </a:xfrm>
          <a:prstGeom prst="rect">
            <a:avLst/>
          </a:prstGeom>
          <a:noFill/>
          <a:ln/>
        </p:spPr>
        <p:txBody>
          <a:bodyPr wrap="square" rtlCol="0" anchor="ctr"/>
          <a:lstStyle/>
          <a:p>
            <a:pPr algn="ctr" indent="0" marL="0">
              <a:buNone/>
            </a:pPr>
            <a:r>
              <a:rPr lang="en-US" altLang="en-US" sz="1100" i="1" dirty="0">
                <a:solidFill>
                  <a:srgbClr val="6B6152"/>
                </a:solidFill>
              </a:rPr>
              <a:t>Vertical and lateral load paths</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Site analysis</a:t>
            </a:r>
            <a:pPr algn="l" marL="342900" indent="-342900">
              <a:spcAft>
                <a:spcPts val="800"/>
              </a:spcAft>
              <a:buSzPct val="100000"/>
              <a:buChar char="•"/>
            </a:pPr>
            <a:r>
              <a:rPr lang="en-US" altLang="en-US" sz="1500" dirty="0">
                <a:solidFill>
                  <a:srgbClr val="2B2620"/>
                </a:solidFill>
              </a:rPr>
              <a:t>: sun, wind, soil, groundwater, roads and utilities, before any design.</a:t>
            </a:r>
            <a:endParaRPr lang="en-US" sz="1500" dirty="0"/>
          </a:p>
          <a:p>
            <a:pPr algn="l" marL="342900" indent="-342900">
              <a:spcAft>
                <a:spcPts val="800"/>
              </a:spcAft>
              <a:buSzPct val="100000"/>
              <a:buChar char="•"/>
            </a:pPr>
            <a:r>
              <a:rPr lang="en-US" altLang="en-US" sz="1500" b="1" dirty="0">
                <a:solidFill>
                  <a:srgbClr val="2B2620"/>
                </a:solidFill>
              </a:rPr>
              <a:t>Orientation</a:t>
            </a:r>
            <a:pPr algn="l" marL="342900" indent="-342900">
              <a:spcAft>
                <a:spcPts val="800"/>
              </a:spcAft>
              <a:buSzPct val="100000"/>
              <a:buChar char="•"/>
            </a:pPr>
            <a:r>
              <a:rPr lang="en-US" altLang="en-US" sz="1500" dirty="0">
                <a:solidFill>
                  <a:srgbClr val="2B2620"/>
                </a:solidFill>
              </a:rPr>
              <a:t>: in hot-dry climates (Egypt, Saudi Arabia) long façades face north and south, with the fewest openings to the west.</a:t>
            </a:r>
            <a:endParaRPr lang="en-US" sz="1500" dirty="0"/>
          </a:p>
          <a:p>
            <a:pPr algn="l" marL="342900" indent="-342900">
              <a:spcAft>
                <a:spcPts val="800"/>
              </a:spcAft>
              <a:buSzPct val="100000"/>
              <a:buChar char="•"/>
            </a:pPr>
            <a:r>
              <a:rPr lang="en-US" altLang="en-US" sz="1500" b="1" dirty="0">
                <a:solidFill>
                  <a:srgbClr val="2B2620"/>
                </a:solidFill>
              </a:rPr>
              <a:t>Surface drainage</a:t>
            </a:r>
            <a:pPr algn="l" marL="342900" indent="-342900">
              <a:spcAft>
                <a:spcPts val="800"/>
              </a:spcAft>
              <a:buSzPct val="100000"/>
              <a:buChar char="•"/>
            </a:pPr>
            <a:r>
              <a:rPr lang="en-US" altLang="en-US" sz="1500" dirty="0">
                <a:solidFill>
                  <a:srgbClr val="2B2620"/>
                </a:solidFill>
              </a:rPr>
              <a:t>: ground falls away from the building (about 2–5% over the first 3 m).</a:t>
            </a:r>
            <a:endParaRPr lang="en-US" sz="1500" dirty="0"/>
          </a:p>
          <a:p>
            <a:pPr algn="l" marL="342900" indent="-342900">
              <a:spcAft>
                <a:spcPts val="800"/>
              </a:spcAft>
              <a:buSzPct val="100000"/>
              <a:buChar char="•"/>
            </a:pPr>
            <a:r>
              <a:rPr lang="en-US" altLang="en-US" sz="1500" dirty="0">
                <a:solidFill>
                  <a:srgbClr val="2B2620"/>
                </a:solidFill>
              </a:rPr>
              <a:t>Ching divides the building into systems: </a:t>
            </a:r>
            <a:pPr algn="l" marL="342900" indent="-342900">
              <a:spcAft>
                <a:spcPts val="800"/>
              </a:spcAft>
              <a:buSzPct val="100000"/>
              <a:buChar char="•"/>
            </a:pPr>
            <a:r>
              <a:rPr lang="en-US" altLang="en-US" sz="1500" b="1" dirty="0">
                <a:solidFill>
                  <a:srgbClr val="2B2620"/>
                </a:solidFill>
              </a:rPr>
              <a:t>structure</a:t>
            </a:r>
            <a:pPr algn="l" marL="342900" indent="-342900">
              <a:spcAft>
                <a:spcPts val="800"/>
              </a:spcAft>
              <a:buSzPct val="100000"/>
              <a:buChar char="•"/>
            </a:pPr>
            <a:r>
              <a:rPr lang="en-US" altLang="en-US" sz="1500" dirty="0">
                <a:solidFill>
                  <a:srgbClr val="2B2620"/>
                </a:solidFill>
              </a:rPr>
              <a:t> (what carries loads), </a:t>
            </a:r>
            <a:pPr algn="l" marL="342900" indent="-342900">
              <a:spcAft>
                <a:spcPts val="800"/>
              </a:spcAft>
              <a:buSzPct val="100000"/>
              <a:buChar char="•"/>
            </a:pPr>
            <a:r>
              <a:rPr lang="en-US" altLang="en-US" sz="1500" b="1" dirty="0">
                <a:solidFill>
                  <a:srgbClr val="2B2620"/>
                </a:solidFill>
              </a:rPr>
              <a:t>enclosure</a:t>
            </a:r>
            <a:pPr algn="l" marL="342900" indent="-342900">
              <a:spcAft>
                <a:spcPts val="800"/>
              </a:spcAft>
              <a:buSzPct val="100000"/>
              <a:buChar char="•"/>
            </a:pPr>
            <a:r>
              <a:rPr lang="en-US" altLang="en-US" sz="1500" dirty="0">
                <a:solidFill>
                  <a:srgbClr val="2B2620"/>
                </a:solidFill>
              </a:rPr>
              <a:t> (what keeps the weather out) and </a:t>
            </a:r>
            <a:pPr algn="l" marL="342900" indent="-342900">
              <a:spcAft>
                <a:spcPts val="800"/>
              </a:spcAft>
              <a:buSzPct val="100000"/>
              <a:buChar char="•"/>
            </a:pPr>
            <a:r>
              <a:rPr lang="en-US" altLang="en-US" sz="1500" b="1" dirty="0">
                <a:solidFill>
                  <a:srgbClr val="2B2620"/>
                </a:solidFill>
              </a:rPr>
              <a:t>services</a:t>
            </a:r>
            <a:pPr algn="l" marL="342900" indent="-342900">
              <a:spcAft>
                <a:spcPts val="800"/>
              </a:spcAft>
              <a:buSzPct val="100000"/>
              <a:buChar char="•"/>
            </a:pPr>
            <a:r>
              <a:rPr lang="en-US" altLang="en-US" sz="1500" dirty="0">
                <a:solidFill>
                  <a:srgbClr val="2B2620"/>
                </a:solidFill>
              </a:rPr>
              <a:t> (power, …</a:t>
            </a:r>
            <a:endParaRPr lang="en-US" sz="1500" dirty="0"/>
          </a:p>
          <a:p>
            <a:pPr algn="l" marL="342900" indent="-342900">
              <a:spcAft>
                <a:spcPts val="800"/>
              </a:spcAft>
              <a:buSzPct val="100000"/>
              <a:buChar char="•"/>
            </a:pPr>
            <a:r>
              <a:rPr lang="en-US" altLang="en-US" sz="1500" dirty="0">
                <a:solidFill>
                  <a:srgbClr val="2B2620"/>
                </a:solidFill>
              </a:rPr>
              <a:t>Load travels </a:t>
            </a:r>
            <a:pPr algn="l" marL="342900" indent="-342900">
              <a:spcAft>
                <a:spcPts val="800"/>
              </a:spcAft>
              <a:buSzPct val="100000"/>
              <a:buChar char="•"/>
            </a:pPr>
            <a:r>
              <a:rPr lang="en-US" altLang="en-US" sz="1500" b="1" dirty="0">
                <a:solidFill>
                  <a:srgbClr val="2B2620"/>
                </a:solidFill>
              </a:rPr>
              <a:t>roof → beams → columns or bearing walls → foundations → soil</a:t>
            </a:r>
            <a:pPr algn="l" marL="342900" indent="-342900">
              <a:spcAft>
                <a:spcPts val="800"/>
              </a:spcAft>
              <a:buSzPct val="100000"/>
              <a:buChar char="•"/>
            </a:pPr>
            <a:r>
              <a:rPr lang="en-US" altLang="en-US" sz="1500" dirty="0">
                <a:solidFill>
                  <a:srgbClr val="2B2620"/>
                </a:solidFill>
              </a:rPr>
              <a:t>.</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Foundations</a:t>
            </a:r>
            <a:endParaRPr lang="en-US" sz="3000" dirty="0"/>
          </a:p>
        </p:txBody>
      </p:sp>
      <p:sp>
        <p:nvSpPr>
          <p:cNvPr id="3" name="figure-frame"/>
          <p:cNvSpPr/>
          <p:nvPr/>
        </p:nvSpPr>
        <p:spPr>
          <a:xfrm>
            <a:off x="6065215" y="1325880"/>
            <a:ext cx="5669280" cy="2583180"/>
          </a:xfrm>
          <a:prstGeom prst="roundRect">
            <a:avLst>
              <a:gd name="adj" fmla="val 3540"/>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400300"/>
          </a:xfrm>
          <a:prstGeom prst="rect">
            <a:avLst/>
          </a:prstGeom>
        </p:spPr>
      </p:pic>
      <p:sp>
        <p:nvSpPr>
          <p:cNvPr id="5" name="Text 2"/>
          <p:cNvSpPr txBox="1"/>
          <p:nvPr/>
        </p:nvSpPr>
        <p:spPr>
          <a:xfrm>
            <a:off x="6156655" y="3954780"/>
            <a:ext cx="5486400" cy="365760"/>
          </a:xfrm>
          <a:prstGeom prst="rect">
            <a:avLst/>
          </a:prstGeom>
          <a:noFill/>
          <a:ln/>
        </p:spPr>
        <p:txBody>
          <a:bodyPr wrap="square" rtlCol="0" anchor="ctr"/>
          <a:lstStyle/>
          <a:p>
            <a:pPr algn="ctr" indent="0" marL="0">
              <a:buNone/>
            </a:pPr>
            <a:r>
              <a:rPr lang="en-US" altLang="en-US" sz="1100" i="1" dirty="0">
                <a:solidFill>
                  <a:srgbClr val="6B6152"/>
                </a:solidFill>
              </a:rPr>
              <a:t>Shallow and deep foundation types</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Isolated footings</a:t>
            </a:r>
            <a:pPr algn="l" marL="342900" indent="-342900">
              <a:spcAft>
                <a:spcPts val="800"/>
              </a:spcAft>
              <a:buSzPct val="100000"/>
              <a:buChar char="•"/>
            </a:pPr>
            <a:r>
              <a:rPr lang="en-US" altLang="en-US" sz="1500" dirty="0">
                <a:solidFill>
                  <a:srgbClr val="2B2620"/>
                </a:solidFill>
              </a:rPr>
              <a:t> under columns: the most common in housing.</a:t>
            </a:r>
            <a:endParaRPr lang="en-US" sz="1500" dirty="0"/>
          </a:p>
          <a:p>
            <a:pPr algn="l" marL="342900" indent="-342900">
              <a:spcAft>
                <a:spcPts val="800"/>
              </a:spcAft>
              <a:buSzPct val="100000"/>
              <a:buChar char="•"/>
            </a:pPr>
            <a:r>
              <a:rPr lang="en-US" altLang="en-US" sz="1500" b="1" dirty="0">
                <a:solidFill>
                  <a:srgbClr val="2B2620"/>
                </a:solidFill>
              </a:rPr>
              <a:t>Strip footings</a:t>
            </a:r>
            <a:pPr algn="l" marL="342900" indent="-342900">
              <a:spcAft>
                <a:spcPts val="800"/>
              </a:spcAft>
              <a:buSzPct val="100000"/>
              <a:buChar char="•"/>
            </a:pPr>
            <a:r>
              <a:rPr lang="en-US" altLang="en-US" sz="1500" dirty="0">
                <a:solidFill>
                  <a:srgbClr val="2B2620"/>
                </a:solidFill>
              </a:rPr>
              <a:t> under bearing walls.</a:t>
            </a:r>
            <a:endParaRPr lang="en-US" sz="1500" dirty="0"/>
          </a:p>
          <a:p>
            <a:pPr algn="l" marL="342900" indent="-342900">
              <a:spcAft>
                <a:spcPts val="800"/>
              </a:spcAft>
              <a:buSzPct val="100000"/>
              <a:buChar char="•"/>
            </a:pPr>
            <a:r>
              <a:rPr lang="en-US" altLang="en-US" sz="1500" b="1" dirty="0">
                <a:solidFill>
                  <a:srgbClr val="2B2620"/>
                </a:solidFill>
              </a:rPr>
              <a:t>Raft</a:t>
            </a:r>
            <a:pPr algn="l" marL="342900" indent="-342900">
              <a:spcAft>
                <a:spcPts val="800"/>
              </a:spcAft>
              <a:buSzPct val="100000"/>
              <a:buChar char="•"/>
            </a:pPr>
            <a:r>
              <a:rPr lang="en-US" altLang="en-US" sz="1500" dirty="0">
                <a:solidFill>
                  <a:srgbClr val="2B2620"/>
                </a:solidFill>
              </a:rPr>
              <a:t>: weak soil, heavy loads, or a basement with groundwater.</a:t>
            </a:r>
            <a:endParaRPr lang="en-US" sz="1500" dirty="0"/>
          </a:p>
          <a:p>
            <a:pPr algn="l" marL="342900" indent="-342900">
              <a:spcAft>
                <a:spcPts val="800"/>
              </a:spcAft>
              <a:buSzPct val="100000"/>
              <a:buChar char="•"/>
            </a:pPr>
            <a:r>
              <a:rPr lang="en-US" altLang="en-US" sz="1500" b="1" dirty="0">
                <a:solidFill>
                  <a:srgbClr val="2B2620"/>
                </a:solidFill>
              </a:rPr>
              <a:t>Piles</a:t>
            </a:r>
            <a:pPr algn="l" marL="342900" indent="-342900">
              <a:spcAft>
                <a:spcPts val="800"/>
              </a:spcAft>
              <a:buSzPct val="100000"/>
              <a:buChar char="•"/>
            </a:pPr>
            <a:r>
              <a:rPr lang="en-US" altLang="en-US" sz="1500" dirty="0">
                <a:solidFill>
                  <a:srgbClr val="2B2620"/>
                </a:solidFill>
              </a:rPr>
              <a:t>: carry load to a stronger layer, by friction or end bearing.</a:t>
            </a:r>
            <a:endParaRPr lang="en-US" sz="1500" dirty="0"/>
          </a:p>
          <a:p>
            <a:pPr algn="l" marL="342900" indent="-342900">
              <a:spcAft>
                <a:spcPts val="800"/>
              </a:spcAft>
              <a:buSzPct val="100000"/>
              <a:buChar char="•"/>
            </a:pPr>
            <a:r>
              <a:rPr lang="en-US" altLang="en-US" sz="1500" b="1" dirty="0">
                <a:solidFill>
                  <a:srgbClr val="2B2620"/>
                </a:solidFill>
              </a:rPr>
              <a:t>Caissons</a:t>
            </a:r>
            <a:pPr algn="l" marL="342900" indent="-342900">
              <a:spcAft>
                <a:spcPts val="800"/>
              </a:spcAft>
              <a:buSzPct val="100000"/>
              <a:buChar char="•"/>
            </a:pPr>
            <a:r>
              <a:rPr lang="en-US" altLang="en-US" sz="1500" dirty="0">
                <a:solidFill>
                  <a:srgbClr val="2B2620"/>
                </a:solidFill>
              </a:rPr>
              <a:t>: large-diameter piles.</a:t>
            </a:r>
            <a:endParaRPr lang="en-US" sz="1500" dirty="0"/>
          </a:p>
        </p:txBody>
      </p:sp>
      <p:sp>
        <p:nvSpPr>
          <p:cNvPr id="7" name="Text 4"/>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Egypt: Egyptian code for soil mechanics and foundations. Saudi Arabia: SBC 303 (soils and foundations). Check the official text.</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Floor systems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A slab is </a:t>
            </a:r>
            <a:pPr algn="l" marL="342900" indent="-342900">
              <a:spcAft>
                <a:spcPts val="800"/>
              </a:spcAft>
              <a:buSzPct val="100000"/>
              <a:buChar char="•"/>
            </a:pPr>
            <a:r>
              <a:rPr lang="en-US" altLang="en-US" sz="1400" b="1" dirty="0">
                <a:solidFill>
                  <a:srgbClr val="2B2620"/>
                </a:solidFill>
              </a:rPr>
              <a:t>one-way</a:t>
            </a:r>
            <a:pPr algn="l" marL="342900" indent="-342900">
              <a:spcAft>
                <a:spcPts val="800"/>
              </a:spcAft>
              <a:buSzPct val="100000"/>
              <a:buChar char="•"/>
            </a:pPr>
            <a:r>
              <a:rPr lang="en-US" altLang="en-US" sz="1400" dirty="0">
                <a:solidFill>
                  <a:srgbClr val="2B2620"/>
                </a:solidFill>
              </a:rPr>
              <a:t> when the long/short ratio exceeds 2, </a:t>
            </a:r>
            <a:pPr algn="l" marL="342900" indent="-342900">
              <a:spcAft>
                <a:spcPts val="800"/>
              </a:spcAft>
              <a:buSzPct val="100000"/>
              <a:buChar char="•"/>
            </a:pPr>
            <a:r>
              <a:rPr lang="en-US" altLang="en-US" sz="1400" b="1" dirty="0">
                <a:solidFill>
                  <a:srgbClr val="2B2620"/>
                </a:solidFill>
              </a:rPr>
              <a:t>two-way</a:t>
            </a:r>
            <a:pPr algn="l" marL="342900" indent="-342900">
              <a:spcAft>
                <a:spcPts val="800"/>
              </a:spcAft>
              <a:buSzPct val="100000"/>
              <a:buChar char="•"/>
            </a:pPr>
            <a:r>
              <a:rPr lang="en-US" altLang="en-US" sz="1400" dirty="0">
                <a:solidFill>
                  <a:srgbClr val="2B2620"/>
                </a:solidFill>
              </a:rPr>
              <a:t> below that.</a:t>
            </a:r>
            <a:endParaRPr lang="en-US" sz="1400" dirty="0"/>
          </a:p>
          <a:p>
            <a:pPr algn="l" marL="342900" indent="-342900">
              <a:spcAft>
                <a:spcPts val="800"/>
              </a:spcAft>
              <a:buSzPct val="100000"/>
              <a:buChar char="•"/>
            </a:pPr>
            <a:r>
              <a:rPr lang="en-US" altLang="en-US" sz="1400" b="1" dirty="0">
                <a:solidFill>
                  <a:srgbClr val="2B2620"/>
                </a:solidFill>
              </a:rPr>
              <a:t>Movement joints</a:t>
            </a:r>
            <a:pPr algn="l" marL="342900" indent="-342900">
              <a:spcAft>
                <a:spcPts val="800"/>
              </a:spcAft>
              <a:buSzPct val="100000"/>
              <a:buChar char="•"/>
            </a:pPr>
            <a:r>
              <a:rPr lang="en-US" altLang="en-US" sz="1400" dirty="0">
                <a:solidFill>
                  <a:srgbClr val="2B2620"/>
                </a:solidFill>
              </a:rPr>
              <a:t> in long buildings at spacings set by the structural engineer.</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System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Use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Solid slab on beams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The most common in housing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Flat slab</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Flat soffits, easier finishes and HVAC</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Ribbed / hollow block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Longer spans, less weight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Waffle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Long spans in both directions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Post-tensioned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Long spans with thinner slabs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Walls</a:t>
            </a:r>
            <a:endParaRPr lang="en-US" sz="3000" dirty="0"/>
          </a:p>
        </p:txBody>
      </p:sp>
      <p:sp>
        <p:nvSpPr>
          <p:cNvPr id="3" name="figure-frame"/>
          <p:cNvSpPr/>
          <p:nvPr/>
        </p:nvSpPr>
        <p:spPr>
          <a:xfrm>
            <a:off x="6065215" y="1325880"/>
            <a:ext cx="5669280" cy="3200400"/>
          </a:xfrm>
          <a:prstGeom prst="roundRect">
            <a:avLst>
              <a:gd name="adj" fmla="val 2857"/>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3017520"/>
          </a:xfrm>
          <a:prstGeom prst="rect">
            <a:avLst/>
          </a:prstGeom>
        </p:spPr>
      </p:pic>
      <p:sp>
        <p:nvSpPr>
          <p:cNvPr id="5" name="Text 2"/>
          <p:cNvSpPr txBox="1"/>
          <p:nvPr/>
        </p:nvSpPr>
        <p:spPr>
          <a:xfrm>
            <a:off x="6156655" y="4572000"/>
            <a:ext cx="5486400" cy="365760"/>
          </a:xfrm>
          <a:prstGeom prst="rect">
            <a:avLst/>
          </a:prstGeom>
          <a:noFill/>
          <a:ln/>
        </p:spPr>
        <p:txBody>
          <a:bodyPr wrap="square" rtlCol="0" anchor="ctr"/>
          <a:lstStyle/>
          <a:p>
            <a:pPr algn="ctr" indent="0" marL="0">
              <a:buNone/>
            </a:pPr>
            <a:r>
              <a:rPr lang="en-US" altLang="en-US" sz="1100" i="1" dirty="0">
                <a:solidFill>
                  <a:srgbClr val="6B6152"/>
                </a:solidFill>
              </a:rPr>
              <a:t>Section through an insulated external cavity wall</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Load-bearing</a:t>
            </a:r>
            <a:pPr algn="l" marL="342900" indent="-342900">
              <a:spcAft>
                <a:spcPts val="800"/>
              </a:spcAft>
              <a:buSzPct val="100000"/>
              <a:buChar char="•"/>
            </a:pPr>
            <a:r>
              <a:rPr lang="en-US" altLang="en-US" sz="1500" dirty="0">
                <a:solidFill>
                  <a:srgbClr val="2B2620"/>
                </a:solidFill>
              </a:rPr>
              <a:t>: carry the slabs (bearing masonry).</a:t>
            </a:r>
            <a:endParaRPr lang="en-US" sz="1500" dirty="0"/>
          </a:p>
          <a:p>
            <a:pPr algn="l" marL="342900" indent="-342900">
              <a:spcAft>
                <a:spcPts val="800"/>
              </a:spcAft>
              <a:buSzPct val="100000"/>
              <a:buChar char="•"/>
            </a:pPr>
            <a:r>
              <a:rPr lang="en-US" altLang="en-US" sz="1500" b="1" dirty="0">
                <a:solidFill>
                  <a:srgbClr val="2B2620"/>
                </a:solidFill>
              </a:rPr>
              <a:t>Non-load-bearing / infill</a:t>
            </a:r>
            <a:pPr algn="l" marL="342900" indent="-342900">
              <a:spcAft>
                <a:spcPts val="800"/>
              </a:spcAft>
              <a:buSzPct val="100000"/>
              <a:buChar char="•"/>
            </a:pPr>
            <a:r>
              <a:rPr lang="en-US" altLang="en-US" sz="1500" dirty="0">
                <a:solidFill>
                  <a:srgbClr val="2B2620"/>
                </a:solidFill>
              </a:rPr>
              <a:t>: in framed buildings, they only enclose.</a:t>
            </a:r>
            <a:endParaRPr lang="en-US" sz="1500" dirty="0"/>
          </a:p>
          <a:p>
            <a:pPr algn="l" marL="342900" indent="-342900">
              <a:spcAft>
                <a:spcPts val="800"/>
              </a:spcAft>
              <a:buSzPct val="100000"/>
              <a:buChar char="•"/>
            </a:pPr>
            <a:r>
              <a:rPr lang="en-US" altLang="en-US" sz="1500" b="1" dirty="0">
                <a:solidFill>
                  <a:srgbClr val="2B2620"/>
                </a:solidFill>
              </a:rPr>
              <a:t>Cavity wall</a:t>
            </a:r>
            <a:pPr algn="l" marL="342900" indent="-342900">
              <a:spcAft>
                <a:spcPts val="800"/>
              </a:spcAft>
              <a:buSzPct val="100000"/>
              <a:buChar char="•"/>
            </a:pPr>
            <a:r>
              <a:rPr lang="en-US" altLang="en-US" sz="1500" dirty="0">
                <a:solidFill>
                  <a:srgbClr val="2B2620"/>
                </a:solidFill>
              </a:rPr>
              <a:t>: two leaves with a cavity and insulation, better thermally and against damp.</a:t>
            </a:r>
            <a:endParaRPr lang="en-US" sz="1500" dirty="0"/>
          </a:p>
          <a:p>
            <a:pPr algn="l" marL="342900" indent="-342900">
              <a:spcAft>
                <a:spcPts val="800"/>
              </a:spcAft>
              <a:buSzPct val="100000"/>
              <a:buChar char="•"/>
            </a:pPr>
            <a:r>
              <a:rPr lang="en-US" altLang="en-US" sz="1500" b="1" dirty="0">
                <a:solidFill>
                  <a:srgbClr val="2B2620"/>
                </a:solidFill>
              </a:rPr>
              <a:t>Lintels</a:t>
            </a:r>
            <a:pPr algn="l" marL="342900" indent="-342900">
              <a:spcAft>
                <a:spcPts val="800"/>
              </a:spcAft>
              <a:buSzPct val="100000"/>
              <a:buChar char="•"/>
            </a:pPr>
            <a:r>
              <a:rPr lang="en-US" altLang="en-US" sz="1500" dirty="0">
                <a:solidFill>
                  <a:srgbClr val="2B2620"/>
                </a:solidFill>
              </a:rPr>
              <a:t> bear at least </a:t>
            </a:r>
            <a:pPr algn="l" marL="342900" indent="-342900">
              <a:spcAft>
                <a:spcPts val="800"/>
              </a:spcAft>
              <a:buSzPct val="100000"/>
              <a:buChar char="•"/>
            </a:pPr>
            <a:r>
              <a:rPr lang="en-US" altLang="en-US" sz="1500" b="1" dirty="0">
                <a:solidFill>
                  <a:srgbClr val="2B2620"/>
                </a:solidFill>
              </a:rPr>
              <a:t>15–20 cm</a:t>
            </a:r>
            <a:pPr algn="l" marL="342900" indent="-342900">
              <a:spcAft>
                <a:spcPts val="800"/>
              </a:spcAft>
              <a:buSzPct val="100000"/>
              <a:buChar char="•"/>
            </a:pPr>
            <a:r>
              <a:rPr lang="en-US" altLang="en-US" sz="1500" dirty="0">
                <a:solidFill>
                  <a:srgbClr val="2B2620"/>
                </a:solidFill>
              </a:rPr>
              <a:t> into the wall each side.</a:t>
            </a:r>
            <a:endParaRPr lang="en-US" sz="1500" dirty="0"/>
          </a:p>
          <a:p>
            <a:pPr algn="l" marL="342900" indent="-342900">
              <a:spcAft>
                <a:spcPts val="800"/>
              </a:spcAft>
              <a:buSzPct val="100000"/>
              <a:buChar char="•"/>
            </a:pPr>
            <a:r>
              <a:rPr lang="en-US" altLang="en-US" sz="1500" b="1" dirty="0">
                <a:solidFill>
                  <a:srgbClr val="2B2620"/>
                </a:solidFill>
              </a:rPr>
              <a:t>Bond</a:t>
            </a:r>
            <a:pPr algn="l" marL="342900" indent="-342900">
              <a:spcAft>
                <a:spcPts val="800"/>
              </a:spcAft>
              <a:buSzPct val="100000"/>
              <a:buChar char="•"/>
            </a:pPr>
            <a:r>
              <a:rPr lang="en-US" altLang="en-US" sz="1500" dirty="0">
                <a:solidFill>
                  <a:srgbClr val="2B2620"/>
                </a:solidFill>
              </a:rPr>
              <a:t>: vertical joints never line up (half-brick offset).</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Roofs</a:t>
            </a:r>
            <a:endParaRPr lang="en-US" sz="3000" dirty="0"/>
          </a:p>
        </p:txBody>
      </p:sp>
      <p:sp>
        <p:nvSpPr>
          <p:cNvPr id="3" name="figure-frame"/>
          <p:cNvSpPr/>
          <p:nvPr/>
        </p:nvSpPr>
        <p:spPr>
          <a:xfrm>
            <a:off x="6065215" y="1325880"/>
            <a:ext cx="5669280" cy="2411730"/>
          </a:xfrm>
          <a:prstGeom prst="roundRect">
            <a:avLst>
              <a:gd name="adj" fmla="val 379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228850"/>
          </a:xfrm>
          <a:prstGeom prst="rect">
            <a:avLst/>
          </a:prstGeom>
        </p:spPr>
      </p:pic>
      <p:sp>
        <p:nvSpPr>
          <p:cNvPr id="5" name="Text 2"/>
          <p:cNvSpPr txBox="1"/>
          <p:nvPr/>
        </p:nvSpPr>
        <p:spPr>
          <a:xfrm>
            <a:off x="6156655" y="3783330"/>
            <a:ext cx="5486400" cy="365760"/>
          </a:xfrm>
          <a:prstGeom prst="rect">
            <a:avLst/>
          </a:prstGeom>
          <a:noFill/>
          <a:ln/>
        </p:spPr>
        <p:txBody>
          <a:bodyPr wrap="square" rtlCol="0" anchor="ctr"/>
          <a:lstStyle/>
          <a:p>
            <a:pPr algn="ctr" indent="0" marL="0">
              <a:buNone/>
            </a:pPr>
            <a:r>
              <a:rPr lang="en-US" altLang="en-US" sz="1100" i="1" dirty="0">
                <a:solidFill>
                  <a:srgbClr val="6B6152"/>
                </a:solidFill>
              </a:rPr>
              <a:t>Inverted roof build-up and membrane upstand at the parapet</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Need a </a:t>
            </a:r>
            <a:pPr algn="l" marL="342900" indent="-342900">
              <a:spcAft>
                <a:spcPts val="800"/>
              </a:spcAft>
              <a:buSzPct val="100000"/>
              <a:buChar char="•"/>
            </a:pPr>
            <a:r>
              <a:rPr lang="en-US" altLang="en-US" sz="1500" b="1" dirty="0">
                <a:solidFill>
                  <a:srgbClr val="2B2620"/>
                </a:solidFill>
              </a:rPr>
              <a:t>fall</a:t>
            </a:r>
            <a:pPr algn="l" marL="342900" indent="-342900">
              <a:spcAft>
                <a:spcPts val="800"/>
              </a:spcAft>
              <a:buSzPct val="100000"/>
              <a:buChar char="•"/>
            </a:pPr>
            <a:r>
              <a:rPr lang="en-US" altLang="en-US" sz="1500" dirty="0">
                <a:solidFill>
                  <a:srgbClr val="2B2620"/>
                </a:solidFill>
              </a:rPr>
              <a:t> of at least </a:t>
            </a:r>
            <a:pPr algn="l" marL="342900" indent="-342900">
              <a:spcAft>
                <a:spcPts val="800"/>
              </a:spcAft>
              <a:buSzPct val="100000"/>
              <a:buChar char="•"/>
            </a:pPr>
            <a:r>
              <a:rPr lang="en-US" altLang="en-US" sz="1500" b="1" dirty="0">
                <a:solidFill>
                  <a:srgbClr val="2B2620"/>
                </a:solidFill>
              </a:rPr>
              <a:t>1–2%</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Inverted roof build-up: slab → screed to falls → waterproofing → insulation → protection/tiles.</a:t>
            </a:r>
            <a:endParaRPr lang="en-US" sz="1500" dirty="0"/>
          </a:p>
          <a:p>
            <a:pPr algn="l" marL="342900" indent="-342900">
              <a:spcAft>
                <a:spcPts val="800"/>
              </a:spcAft>
              <a:buSzPct val="100000"/>
              <a:buChar char="•"/>
            </a:pPr>
            <a:r>
              <a:rPr lang="en-US" altLang="en-US" sz="1500" dirty="0">
                <a:solidFill>
                  <a:srgbClr val="2B2620"/>
                </a:solidFill>
              </a:rPr>
              <a:t>The membrane </a:t>
            </a:r>
            <a:pPr algn="l" marL="342900" indent="-342900">
              <a:spcAft>
                <a:spcPts val="800"/>
              </a:spcAft>
              <a:buSzPct val="100000"/>
              <a:buChar char="•"/>
            </a:pPr>
            <a:r>
              <a:rPr lang="en-US" altLang="en-US" sz="1500" b="1" dirty="0">
                <a:solidFill>
                  <a:srgbClr val="2B2620"/>
                </a:solidFill>
              </a:rPr>
              <a:t>turns up the parapet 20–30 cm</a:t>
            </a:r>
            <a:pPr algn="l" marL="342900" indent="-342900">
              <a:spcAft>
                <a:spcPts val="800"/>
              </a:spcAft>
              <a:buSzPct val="100000"/>
              <a:buChar char="•"/>
            </a:pPr>
            <a:r>
              <a:rPr lang="en-US" altLang="en-US" sz="1500" dirty="0">
                <a:solidFill>
                  <a:srgbClr val="2B2620"/>
                </a:solidFill>
              </a:rPr>
              <a:t> and is fixed with a flashing or profile.</a:t>
            </a:r>
            <a:endParaRPr lang="en-US" sz="1500" dirty="0"/>
          </a:p>
          <a:p>
            <a:pPr algn="l" marL="342900" indent="-342900">
              <a:spcAft>
                <a:spcPts val="800"/>
              </a:spcAft>
              <a:buSzPct val="100000"/>
              <a:buChar char="•"/>
            </a:pPr>
            <a:r>
              <a:rPr lang="en-US" altLang="en-US" sz="1500" dirty="0">
                <a:solidFill>
                  <a:srgbClr val="2B2620"/>
                </a:solidFill>
              </a:rPr>
              <a:t>Outlets and downpipes sized for the roof area, plus an </a:t>
            </a:r>
            <a:pPr algn="l" marL="342900" indent="-342900">
              <a:spcAft>
                <a:spcPts val="800"/>
              </a:spcAft>
              <a:buSzPct val="100000"/>
              <a:buChar char="•"/>
            </a:pPr>
            <a:r>
              <a:rPr lang="en-US" altLang="en-US" sz="1500" b="1" dirty="0">
                <a:solidFill>
                  <a:srgbClr val="2B2620"/>
                </a:solidFill>
              </a:rPr>
              <a:t>overflow</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Tiles: usually </a:t>
            </a:r>
            <a:pPr algn="l" marL="342900" indent="-342900">
              <a:spcAft>
                <a:spcPts val="800"/>
              </a:spcAft>
              <a:buSzPct val="100000"/>
              <a:buChar char="•"/>
            </a:pPr>
            <a:r>
              <a:rPr lang="en-US" altLang="en-US" sz="1500" b="1" dirty="0">
                <a:solidFill>
                  <a:srgbClr val="2B2620"/>
                </a:solidFill>
              </a:rPr>
              <a:t>22–45°</a:t>
            </a:r>
            <a:pPr algn="l" marL="342900" indent="-342900">
              <a:spcAft>
                <a:spcPts val="800"/>
              </a:spcAft>
              <a:buSzPct val="100000"/>
              <a:buChar char="•"/>
            </a:pPr>
            <a:r>
              <a:rPr lang="en-US" altLang="en-US" sz="1500" dirty="0">
                <a:solidFill>
                  <a:srgbClr val="2B2620"/>
                </a:solidFill>
              </a:rPr>
              <a:t> depending on the tile.</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Moisture and thermal protection</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Bitumen membranes</a:t>
            </a:r>
            <a:pPr algn="l" indent="0" marL="0">
              <a:buNone/>
            </a:pPr>
            <a:r>
              <a:rPr lang="en-US" altLang="en-US" sz="1400" dirty="0">
                <a:solidFill>
                  <a:srgbClr val="2B2620"/>
                </a:solidFill>
              </a:rPr>
              <a:t> (torch-applied rolls), </a:t>
            </a:r>
            <a:pPr algn="l" indent="0" marL="0">
              <a:buNone/>
            </a:pPr>
            <a:r>
              <a:rPr lang="en-US" altLang="en-US" sz="1400" b="1" dirty="0">
                <a:solidFill>
                  <a:srgbClr val="2B2620"/>
                </a:solidFill>
              </a:rPr>
              <a:t>liquid membranes</a:t>
            </a:r>
            <a:pPr algn="l" indent="0" marL="0">
              <a:buNone/>
            </a:pPr>
            <a:r>
              <a:rPr lang="en-US" altLang="en-US" sz="1400" dirty="0">
                <a:solidFill>
                  <a:srgbClr val="2B2620"/>
                </a:solidFill>
              </a:rPr>
              <a:t> (polyurethane/acrylic), </a:t>
            </a:r>
            <a:pPr algn="l" indent="0" marL="0">
              <a:buNone/>
            </a:pPr>
            <a:r>
              <a:rPr lang="en-US" altLang="en-US" sz="1400" b="1" dirty="0">
                <a:solidFill>
                  <a:srgbClr val="2B2620"/>
                </a:solidFill>
              </a:rPr>
              <a:t>cementitious</a:t>
            </a:r>
            <a:pPr algn="l" indent="0" marL="0">
              <a:buNone/>
            </a:pPr>
            <a:r>
              <a:rPr lang="en-US" altLang="en-US" sz="1400" dirty="0">
                <a:solidFill>
                  <a:srgbClr val="2B2620"/>
                </a:solidFill>
              </a:rPr>
              <a:t> (bathrooms, tanks).</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Bathrooms: the whole floor, turned up the walls </a:t>
            </a:r>
            <a:pPr algn="l" indent="0" marL="0">
              <a:buNone/>
            </a:pPr>
            <a:r>
              <a:rPr lang="en-US" altLang="en-US" sz="1400" b="1" dirty="0">
                <a:solidFill>
                  <a:srgbClr val="2B2620"/>
                </a:solidFill>
              </a:rPr>
              <a:t>20–30 cm</a:t>
            </a:r>
            <a:pPr algn="l" indent="0" marL="0">
              <a:buNone/>
            </a:pPr>
            <a:r>
              <a:rPr lang="en-US" altLang="en-US" sz="1400" dirty="0">
                <a:solidFill>
                  <a:srgbClr val="2B2620"/>
                </a:solidFill>
              </a:rPr>
              <a:t>, and </a:t>
            </a:r>
            <a:pPr algn="l" indent="0" marL="0">
              <a:buNone/>
            </a:pPr>
            <a:r>
              <a:rPr lang="en-US" altLang="en-US" sz="1400" b="1" dirty="0">
                <a:solidFill>
                  <a:srgbClr val="2B2620"/>
                </a:solidFill>
              </a:rPr>
              <a:t>180–200 cm</a:t>
            </a:r>
            <a:pPr algn="l" indent="0" marL="0">
              <a:buNone/>
            </a:pPr>
            <a:r>
              <a:rPr lang="en-US" altLang="en-US" sz="1400" dirty="0">
                <a:solidFill>
                  <a:srgbClr val="2B2620"/>
                </a:solidFill>
              </a:rPr>
              <a:t> in the shower.</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Flood test</a:t>
            </a:r>
            <a:pPr algn="l" indent="0" marL="0">
              <a:buNone/>
            </a:pPr>
            <a:r>
              <a:rPr lang="en-US" altLang="en-US" sz="1400" dirty="0">
                <a:solidFill>
                  <a:srgbClr val="2B2620"/>
                </a:solidFill>
              </a:rPr>
              <a:t> for 24–48 hours before covering.</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Best placed </a:t>
            </a:r>
            <a:pPr algn="l" indent="0" marL="0">
              <a:buNone/>
            </a:pPr>
            <a:r>
              <a:rPr lang="en-US" altLang="en-US" sz="1400" b="1" dirty="0">
                <a:solidFill>
                  <a:srgbClr val="2B2620"/>
                </a:solidFill>
              </a:rPr>
              <a:t>outside</a:t>
            </a:r>
            <a:pPr algn="l" indent="0" marL="0">
              <a:buNone/>
            </a:pPr>
            <a:r>
              <a:rPr lang="en-US" altLang="en-US" sz="1400" dirty="0">
                <a:solidFill>
                  <a:srgbClr val="2B2620"/>
                </a:solidFill>
              </a:rPr>
              <a:t> (protects the structure and keeps thermal mass inside).</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Common materials: extruded polystyrene (XPS), mineral wool, sprayed polyurethane.</a:t>
            </a:r>
            <a:endParaRPr lang="en-US" sz="1400" dirty="0"/>
          </a:p>
        </p:txBody>
      </p:sp>
      <p:sp>
        <p:nvSpPr>
          <p:cNvPr id="23" name="card5"/>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8310677" y="3566160"/>
            <a:ext cx="457200" cy="457200"/>
          </a:xfrm>
          <a:prstGeom prst="ellipse">
            <a:avLst/>
          </a:prstGeom>
          <a:solidFill>
            <a:schemeClr val="accent2"/>
          </a:solidFill>
          <a:ln/>
        </p:spPr>
      </p:sp>
      <p:sp>
        <p:nvSpPr>
          <p:cNvPr id="25" name="Text 23"/>
          <p:cNvSpPr txBox="1"/>
          <p:nvPr/>
        </p:nvSpPr>
        <p:spPr>
          <a:xfrm>
            <a:off x="831067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8310677" y="4114800"/>
            <a:ext cx="3149498" cy="914400"/>
          </a:xfrm>
          <a:prstGeom prst="rect">
            <a:avLst/>
          </a:prstGeom>
          <a:noFill/>
          <a:ln/>
        </p:spPr>
        <p:txBody>
          <a:bodyPr wrap="square" rtlCol="0" anchor="t"/>
          <a:lstStyle/>
          <a:p>
            <a:pPr algn="l" indent="0" marL="0">
              <a:buNone/>
            </a:pPr>
            <a:r>
              <a:rPr lang="en-US" altLang="en-US" sz="1400" b="1" dirty="0">
                <a:solidFill>
                  <a:srgbClr val="2B2620"/>
                </a:solidFill>
              </a:rPr>
              <a:t>Vapour retarder</a:t>
            </a:r>
            <a:pPr algn="l" indent="0" marL="0">
              <a:buNone/>
            </a:pPr>
            <a:r>
              <a:rPr lang="en-US" altLang="en-US" sz="1400" dirty="0">
                <a:solidFill>
                  <a:srgbClr val="2B2620"/>
                </a:solidFill>
              </a:rPr>
              <a:t> on the </a:t>
            </a:r>
            <a:pPr algn="l" indent="0" marL="0">
              <a:buNone/>
            </a:pPr>
            <a:r>
              <a:rPr lang="en-US" altLang="en-US" sz="1400" b="1" dirty="0">
                <a:solidFill>
                  <a:srgbClr val="2B2620"/>
                </a:solidFill>
              </a:rPr>
              <a:t>warm</a:t>
            </a:r>
            <a:pPr algn="l" indent="0" marL="0">
              <a:buNone/>
            </a:pPr>
            <a:r>
              <a:rPr lang="en-US" altLang="en-US" sz="1400" dirty="0">
                <a:solidFill>
                  <a:srgbClr val="2B2620"/>
                </a:solidFill>
              </a:rPr>
              <a:t> side of the insulation.</a:t>
            </a:r>
            <a:endParaRPr lang="en-US" sz="1400" dirty="0"/>
          </a:p>
        </p:txBody>
      </p:sp>
      <p:sp>
        <p:nvSpPr>
          <p:cNvPr id="27" name="Text 25"/>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Saudi Arabia: SBC 601/602 (energy conservation). Egypt: code for improving energy efficiency in buildings. Check the official text.</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Doors and windows</a:t>
            </a:r>
            <a:endParaRPr lang="en-US" sz="3000" dirty="0"/>
          </a:p>
        </p:txBody>
      </p:sp>
      <p:sp>
        <p:nvSpPr>
          <p:cNvPr id="3" name="figure-frame"/>
          <p:cNvSpPr/>
          <p:nvPr/>
        </p:nvSpPr>
        <p:spPr>
          <a:xfrm>
            <a:off x="6065215" y="1325880"/>
            <a:ext cx="5669280" cy="3122023"/>
          </a:xfrm>
          <a:prstGeom prst="roundRect">
            <a:avLst>
              <a:gd name="adj" fmla="val 2929"/>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939143"/>
          </a:xfrm>
          <a:prstGeom prst="rect">
            <a:avLst/>
          </a:prstGeom>
        </p:spPr>
      </p:pic>
      <p:sp>
        <p:nvSpPr>
          <p:cNvPr id="5" name="Text 2"/>
          <p:cNvSpPr txBox="1"/>
          <p:nvPr/>
        </p:nvSpPr>
        <p:spPr>
          <a:xfrm>
            <a:off x="6156655" y="4493623"/>
            <a:ext cx="5486400" cy="365760"/>
          </a:xfrm>
          <a:prstGeom prst="rect">
            <a:avLst/>
          </a:prstGeom>
          <a:noFill/>
          <a:ln/>
        </p:spPr>
        <p:txBody>
          <a:bodyPr wrap="square" rtlCol="0" anchor="ctr"/>
          <a:lstStyle/>
          <a:p>
            <a:pPr algn="ctr" indent="0" marL="0">
              <a:buNone/>
            </a:pPr>
            <a:r>
              <a:rPr lang="en-US" altLang="en-US" sz="1100" i="1" dirty="0">
                <a:solidFill>
                  <a:srgbClr val="6B6152"/>
                </a:solidFill>
              </a:rPr>
              <a:t>External window sill detail</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Frames</a:t>
            </a:r>
            <a:pPr algn="l" marL="342900" indent="-342900">
              <a:spcAft>
                <a:spcPts val="800"/>
              </a:spcAft>
              <a:buSzPct val="100000"/>
              <a:buChar char="•"/>
            </a:pPr>
            <a:r>
              <a:rPr lang="en-US" altLang="en-US" sz="1500" dirty="0">
                <a:solidFill>
                  <a:srgbClr val="2B2620"/>
                </a:solidFill>
              </a:rPr>
              <a:t> fixed into the wall with lugs or anchors, with a </a:t>
            </a:r>
            <a:pPr algn="l" marL="342900" indent="-342900">
              <a:spcAft>
                <a:spcPts val="800"/>
              </a:spcAft>
              <a:buSzPct val="100000"/>
              <a:buChar char="•"/>
            </a:pPr>
            <a:r>
              <a:rPr lang="en-US" altLang="en-US" sz="1500" b="1" dirty="0">
                <a:solidFill>
                  <a:srgbClr val="2B2620"/>
                </a:solidFill>
              </a:rPr>
              <a:t>separation joint</a:t>
            </a:r>
            <a:pPr algn="l" marL="342900" indent="-342900">
              <a:spcAft>
                <a:spcPts val="800"/>
              </a:spcAft>
              <a:buSzPct val="100000"/>
              <a:buChar char="•"/>
            </a:pPr>
            <a:r>
              <a:rPr lang="en-US" altLang="en-US" sz="1500" dirty="0">
                <a:solidFill>
                  <a:srgbClr val="2B2620"/>
                </a:solidFill>
              </a:rPr>
              <a:t> to the plaster.</a:t>
            </a:r>
            <a:endParaRPr lang="en-US" sz="1500" dirty="0"/>
          </a:p>
          <a:p>
            <a:pPr algn="l" marL="342900" indent="-342900">
              <a:spcAft>
                <a:spcPts val="800"/>
              </a:spcAft>
              <a:buSzPct val="100000"/>
              <a:buChar char="•"/>
            </a:pPr>
            <a:r>
              <a:rPr lang="en-US" altLang="en-US" sz="1500" dirty="0">
                <a:solidFill>
                  <a:srgbClr val="2B2620"/>
                </a:solidFill>
              </a:rPr>
              <a:t>External windows: </a:t>
            </a:r>
            <a:pPr algn="l" marL="342900" indent="-342900">
              <a:spcAft>
                <a:spcPts val="800"/>
              </a:spcAft>
              <a:buSzPct val="100000"/>
              <a:buChar char="•"/>
            </a:pPr>
            <a:r>
              <a:rPr lang="en-US" altLang="en-US" sz="1500" b="1" dirty="0">
                <a:solidFill>
                  <a:srgbClr val="2B2620"/>
                </a:solidFill>
              </a:rPr>
              <a:t>sill sloping outwards</a:t>
            </a:r>
            <a:pPr algn="l" marL="342900" indent="-342900">
              <a:spcAft>
                <a:spcPts val="800"/>
              </a:spcAft>
              <a:buSzPct val="100000"/>
              <a:buChar char="•"/>
            </a:pPr>
            <a:r>
              <a:rPr lang="en-US" altLang="en-US" sz="1500" dirty="0">
                <a:solidFill>
                  <a:srgbClr val="2B2620"/>
                </a:solidFill>
              </a:rPr>
              <a:t> and a </a:t>
            </a:r>
            <a:pPr algn="l" marL="342900" indent="-342900">
              <a:spcAft>
                <a:spcPts val="800"/>
              </a:spcAft>
              <a:buSzPct val="100000"/>
              <a:buChar char="•"/>
            </a:pPr>
            <a:r>
              <a:rPr lang="en-US" altLang="en-US" sz="1500" b="1" dirty="0">
                <a:solidFill>
                  <a:srgbClr val="2B2620"/>
                </a:solidFill>
              </a:rPr>
              <a:t>drip</a:t>
            </a:r>
            <a:pPr algn="l" marL="342900" indent="-342900">
              <a:spcAft>
                <a:spcPts val="800"/>
              </a:spcAft>
              <a:buSzPct val="100000"/>
              <a:buChar char="•"/>
            </a:pPr>
            <a:r>
              <a:rPr lang="en-US" altLang="en-US" sz="1500" dirty="0">
                <a:solidFill>
                  <a:srgbClr val="2B2620"/>
                </a:solidFill>
              </a:rPr>
              <a:t> under the sill.</a:t>
            </a:r>
            <a:endParaRPr lang="en-US" sz="1500" dirty="0"/>
          </a:p>
          <a:p>
            <a:pPr algn="l" marL="342900" indent="-342900">
              <a:spcAft>
                <a:spcPts val="800"/>
              </a:spcAft>
              <a:buSzPct val="100000"/>
              <a:buChar char="•"/>
            </a:pPr>
            <a:r>
              <a:rPr lang="en-US" altLang="en-US" sz="1500" b="1" dirty="0">
                <a:solidFill>
                  <a:srgbClr val="2B2620"/>
                </a:solidFill>
              </a:rPr>
              <a:t>Sealant</a:t>
            </a:r>
            <a:pPr algn="l" marL="342900" indent="-342900">
              <a:spcAft>
                <a:spcPts val="800"/>
              </a:spcAft>
              <a:buSzPct val="100000"/>
              <a:buChar char="•"/>
            </a:pPr>
            <a:r>
              <a:rPr lang="en-US" altLang="en-US" sz="1500" dirty="0">
                <a:solidFill>
                  <a:srgbClr val="2B2620"/>
                </a:solidFill>
              </a:rPr>
              <a:t> around the frame outside and insulating fill in the gap behind it.</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Stairs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Step rule: </a:t>
            </a:r>
            <a:pPr algn="l" marL="342900" indent="-342900">
              <a:spcAft>
                <a:spcPts val="800"/>
              </a:spcAft>
              <a:buSzPct val="100000"/>
              <a:buChar char="•"/>
            </a:pPr>
            <a:r>
              <a:rPr lang="en-US" altLang="en-US" sz="1400" b="1" dirty="0">
                <a:solidFill>
                  <a:srgbClr val="2B2620"/>
                </a:solidFill>
              </a:rPr>
              <a:t>2 × riser + tread = 60–65 cm</a:t>
            </a:r>
            <a:pPr algn="l" marL="342900" indent="-342900">
              <a:spcAft>
                <a:spcPts val="800"/>
              </a:spcAft>
              <a:buSzPct val="100000"/>
              <a:buChar char="•"/>
            </a:pPr>
            <a:r>
              <a:rPr lang="en-US" altLang="en-US" sz="1400" dirty="0">
                <a:solidFill>
                  <a:srgbClr val="2B2620"/>
                </a:solidFill>
              </a:rPr>
              <a:t>.</a:t>
            </a:r>
            <a:endParaRPr lang="en-US" sz="1400" dirty="0"/>
          </a:p>
          <a:p>
            <a:pPr algn="l" marL="342900" indent="-342900">
              <a:spcAft>
                <a:spcPts val="800"/>
              </a:spcAft>
              <a:buSzPct val="100000"/>
              <a:buChar char="•"/>
            </a:pPr>
            <a:r>
              <a:rPr lang="en-US" altLang="en-US" sz="1400" dirty="0">
                <a:solidFill>
                  <a:srgbClr val="2B2620"/>
                </a:solidFill>
              </a:rPr>
              <a:t>All steps in a flight </a:t>
            </a:r>
            <a:pPr algn="l" marL="342900" indent="-342900">
              <a:spcAft>
                <a:spcPts val="800"/>
              </a:spcAft>
              <a:buSzPct val="100000"/>
              <a:buChar char="•"/>
            </a:pPr>
            <a:r>
              <a:rPr lang="en-US" altLang="en-US" sz="1400" b="1" dirty="0">
                <a:solidFill>
                  <a:srgbClr val="2B2620"/>
                </a:solidFill>
              </a:rPr>
              <a:t>the same size</a:t>
            </a:r>
            <a:pPr algn="l" marL="342900" indent="-342900">
              <a:spcAft>
                <a:spcPts val="800"/>
              </a:spcAft>
              <a:buSzPct val="100000"/>
              <a:buChar char="•"/>
            </a:pPr>
            <a:r>
              <a:rPr lang="en-US" altLang="en-US" sz="1400" dirty="0">
                <a:solidFill>
                  <a:srgbClr val="2B2620"/>
                </a:solidFill>
              </a:rPr>
              <a:t> (a difference above about 1 cm causes trips).</a:t>
            </a:r>
            <a:endParaRPr lang="en-US" sz="1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Type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Note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Cast concrete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The most common in Egypt and Saudi Arabia</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Steel with timber or marble treads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Villas and feature stairs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Spiral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Tight spaces, not a main escape route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Cantilevered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Needs special structural design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Finishes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Three coats: </a:t>
            </a:r>
            <a:pPr algn="l" indent="0" marL="0">
              <a:buNone/>
            </a:pPr>
            <a:r>
              <a:rPr lang="en-US" altLang="en-US" sz="1400" b="1" dirty="0">
                <a:solidFill>
                  <a:srgbClr val="2B2620"/>
                </a:solidFill>
              </a:rPr>
              <a:t>scratch</a:t>
            </a:r>
            <a:pPr algn="l" indent="0" marL="0">
              <a:buNone/>
            </a:pPr>
            <a:r>
              <a:rPr lang="en-US" altLang="en-US" sz="1400" dirty="0">
                <a:solidFill>
                  <a:srgbClr val="2B2620"/>
                </a:solidFill>
              </a:rPr>
              <a:t> (bond) → </a:t>
            </a:r>
            <a:pPr algn="l" indent="0" marL="0">
              <a:buNone/>
            </a:pPr>
            <a:r>
              <a:rPr lang="en-US" altLang="en-US" sz="1400" b="1" dirty="0">
                <a:solidFill>
                  <a:srgbClr val="2B2620"/>
                </a:solidFill>
              </a:rPr>
              <a:t>brown</a:t>
            </a:r>
            <a:pPr algn="l" indent="0" marL="0">
              <a:buNone/>
            </a:pPr>
            <a:r>
              <a:rPr lang="en-US" altLang="en-US" sz="1400" dirty="0">
                <a:solidFill>
                  <a:srgbClr val="2B2620"/>
                </a:solidFill>
              </a:rPr>
              <a:t> (levelled to screeds and dots) → </a:t>
            </a:r>
            <a:pPr algn="l" indent="0" marL="0">
              <a:buNone/>
            </a:pPr>
            <a:r>
              <a:rPr lang="en-US" altLang="en-US" sz="1400" b="1" dirty="0">
                <a:solidFill>
                  <a:srgbClr val="2B2620"/>
                </a:solidFill>
              </a:rPr>
              <a:t>finish</a:t>
            </a:r>
            <a:pPr algn="l" indent="0" marL="0">
              <a:buNone/>
            </a:pPr>
            <a:r>
              <a:rPr lang="en-US" altLang="en-US" sz="1400" dirty="0">
                <a:solidFill>
                  <a:srgbClr val="2B2620"/>
                </a:solidFill>
              </a:rPr>
              <a:t> (smooth), about </a:t>
            </a:r>
            <a:pPr algn="l" indent="0" marL="0">
              <a:buNone/>
            </a:pPr>
            <a:r>
              <a:rPr lang="en-US" altLang="en-US" sz="1400" b="1" dirty="0">
                <a:solidFill>
                  <a:srgbClr val="2B2620"/>
                </a:solidFill>
              </a:rPr>
              <a:t>2–2.5 cm</a:t>
            </a:r>
            <a:pPr algn="l" indent="0" marL="0">
              <a:buNone/>
            </a:pPr>
            <a:r>
              <a:rPr lang="en-US" altLang="en-US" sz="1400" dirty="0">
                <a:solidFill>
                  <a:srgbClr val="2B2620"/>
                </a:solidFill>
              </a:rPr>
              <a:t> total.</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Mesh</a:t>
            </a:r>
            <a:pPr algn="l" indent="0" marL="0">
              <a:buNone/>
            </a:pPr>
            <a:r>
              <a:rPr lang="en-US" altLang="en-US" sz="1400" dirty="0">
                <a:solidFill>
                  <a:srgbClr val="2B2620"/>
                </a:solidFill>
              </a:rPr>
              <a:t> where concrete meets masonry to prevent cracks.</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Metal studs at </a:t>
            </a:r>
            <a:pPr algn="l" indent="0" marL="0">
              <a:buNone/>
            </a:pPr>
            <a:r>
              <a:rPr lang="en-US" altLang="en-US" sz="1400" b="1" dirty="0">
                <a:solidFill>
                  <a:srgbClr val="2B2620"/>
                </a:solidFill>
              </a:rPr>
              <a:t>40 or 60 cm</a:t>
            </a:r>
            <a:pPr algn="l" indent="0" marL="0">
              <a:buNone/>
            </a:pPr>
            <a:r>
              <a:rPr lang="en-US" altLang="en-US" sz="1400" dirty="0">
                <a:solidFill>
                  <a:srgbClr val="2B2620"/>
                </a:solidFill>
              </a:rPr>
              <a:t>, board </a:t>
            </a:r>
            <a:pPr algn="l" indent="0" marL="0">
              <a:buNone/>
            </a:pPr>
            <a:r>
              <a:rPr lang="en-US" altLang="en-US" sz="1400" b="1" dirty="0">
                <a:solidFill>
                  <a:srgbClr val="2B2620"/>
                </a:solidFill>
              </a:rPr>
              <a:t>12.5 mm</a:t>
            </a:r>
            <a:pPr algn="l" indent="0" marL="0">
              <a:buNone/>
            </a:pPr>
            <a:r>
              <a:rPr lang="en-US" altLang="en-US" sz="1400" dirty="0">
                <a:solidFill>
                  <a:srgbClr val="2B2620"/>
                </a:solidFill>
              </a:rPr>
              <a:t>.</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Joints taped and filled in 3 coats.</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Tiles on </a:t>
            </a:r>
            <a:pPr algn="l" indent="0" marL="0">
              <a:buNone/>
            </a:pPr>
            <a:r>
              <a:rPr lang="en-US" altLang="en-US" sz="1400" b="1" dirty="0">
                <a:solidFill>
                  <a:srgbClr val="2B2620"/>
                </a:solidFill>
              </a:rPr>
              <a:t>mortar</a:t>
            </a:r>
            <a:pPr algn="l" indent="0" marL="0">
              <a:buNone/>
            </a:pPr>
            <a:r>
              <a:rPr lang="en-US" altLang="en-US" sz="1400" dirty="0">
                <a:solidFill>
                  <a:srgbClr val="2B2620"/>
                </a:solidFill>
              </a:rPr>
              <a:t> or </a:t>
            </a:r>
            <a:pPr algn="l" indent="0" marL="0">
              <a:buNone/>
            </a:pPr>
            <a:r>
              <a:rPr lang="en-US" altLang="en-US" sz="1400" b="1" dirty="0">
                <a:solidFill>
                  <a:srgbClr val="2B2620"/>
                </a:solidFill>
              </a:rPr>
              <a:t>adhesive</a:t>
            </a:r>
            <a:pPr algn="l" indent="0" marL="0">
              <a:buNone/>
            </a:pPr>
            <a:r>
              <a:rPr lang="en-US" altLang="en-US" sz="1400" dirty="0">
                <a:solidFill>
                  <a:srgbClr val="2B2620"/>
                </a:solidFill>
              </a:rPr>
              <a:t> depending on type, with </a:t>
            </a:r>
            <a:pPr algn="l" indent="0" marL="0">
              <a:buNone/>
            </a:pPr>
            <a:r>
              <a:rPr lang="en-US" altLang="en-US" sz="1400" b="1" dirty="0">
                <a:solidFill>
                  <a:srgbClr val="2B2620"/>
                </a:solidFill>
              </a:rPr>
              <a:t>movement joints</a:t>
            </a:r>
            <a:pPr algn="l" indent="0" marL="0">
              <a:buNone/>
            </a:pPr>
            <a:r>
              <a:rPr lang="en-US" altLang="en-US" sz="1400" dirty="0">
                <a:solidFill>
                  <a:srgbClr val="2B2620"/>
                </a:solidFill>
              </a:rPr>
              <a:t> at walls and in large areas.</a:t>
            </a:r>
            <a:endParaRPr lang="en-US" sz="1400" dirty="0"/>
          </a:p>
        </p:txBody>
      </p:sp>
      <p:sp>
        <p:nvSpPr>
          <p:cNvPr id="23" name="card5"/>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8310677" y="3566160"/>
            <a:ext cx="457200" cy="457200"/>
          </a:xfrm>
          <a:prstGeom prst="ellipse">
            <a:avLst/>
          </a:prstGeom>
          <a:solidFill>
            <a:schemeClr val="accent2"/>
          </a:solidFill>
          <a:ln/>
        </p:spPr>
      </p:sp>
      <p:sp>
        <p:nvSpPr>
          <p:cNvPr id="25" name="Text 23"/>
          <p:cNvSpPr txBox="1"/>
          <p:nvPr/>
        </p:nvSpPr>
        <p:spPr>
          <a:xfrm>
            <a:off x="831067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8310677" y="4114800"/>
            <a:ext cx="3149498" cy="914400"/>
          </a:xfrm>
          <a:prstGeom prst="rect">
            <a:avLst/>
          </a:prstGeom>
          <a:noFill/>
          <a:ln/>
        </p:spPr>
        <p:txBody>
          <a:bodyPr wrap="square" rtlCol="0" anchor="t"/>
          <a:lstStyle/>
          <a:p>
            <a:pPr algn="l" indent="0" marL="0">
              <a:buNone/>
            </a:pPr>
            <a:r>
              <a:rPr lang="en-US" altLang="en-US" sz="1400" dirty="0">
                <a:solidFill>
                  <a:srgbClr val="2B2620"/>
                </a:solidFill>
              </a:rPr>
              <a:t>Timber: </a:t>
            </a:r>
            <a:pPr algn="l" indent="0" marL="0">
              <a:buNone/>
            </a:pPr>
            <a:r>
              <a:rPr lang="en-US" altLang="en-US" sz="1400" b="1" dirty="0">
                <a:solidFill>
                  <a:srgbClr val="2B2620"/>
                </a:solidFill>
              </a:rPr>
              <a:t>1 cm</a:t>
            </a:r>
            <a:pPr algn="l" indent="0" marL="0">
              <a:buNone/>
            </a:pPr>
            <a:r>
              <a:rPr lang="en-US" altLang="en-US" sz="1400" dirty="0">
                <a:solidFill>
                  <a:srgbClr val="2B2620"/>
                </a:solidFill>
              </a:rPr>
              <a:t> gap at walls.</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Building services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Plumbing</a:t>
            </a:r>
            <a:pPr algn="l" indent="0" marL="0">
              <a:buNone/>
            </a:pPr>
            <a:r>
              <a:rPr lang="en-US" altLang="en-US" sz="1400" dirty="0">
                <a:solidFill>
                  <a:srgbClr val="2B2620"/>
                </a:solidFill>
              </a:rPr>
              <a:t>: supply under pressure; drainage by gravity at about </a:t>
            </a:r>
            <a:pPr algn="l" indent="0" marL="0">
              <a:buNone/>
            </a:pPr>
            <a:r>
              <a:rPr lang="en-US" altLang="en-US" sz="1400" b="1" dirty="0">
                <a:solidFill>
                  <a:srgbClr val="2B2620"/>
                </a:solidFill>
              </a:rPr>
              <a:t>1–2%</a:t>
            </a:r>
            <a:pPr algn="l" indent="0" marL="0">
              <a:buNone/>
            </a:pPr>
            <a:r>
              <a:rPr lang="en-US" altLang="en-US" sz="1400" dirty="0">
                <a:solidFill>
                  <a:srgbClr val="2B2620"/>
                </a:solidFill>
              </a:rPr>
              <a:t> for horizontal pipes.</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HVAC</a:t>
            </a:r>
            <a:pPr algn="l" indent="0" marL="0">
              <a:buNone/>
            </a:pPr>
            <a:r>
              <a:rPr lang="en-US" altLang="en-US" sz="1400" dirty="0">
                <a:solidFill>
                  <a:srgbClr val="2B2620"/>
                </a:solidFill>
              </a:rPr>
              <a:t>: duct routes need ceiling depth (often </a:t>
            </a:r>
            <a:pPr algn="l" indent="0" marL="0">
              <a:buNone/>
            </a:pPr>
            <a:r>
              <a:rPr lang="en-US" altLang="en-US" sz="1400" b="1" dirty="0">
                <a:solidFill>
                  <a:srgbClr val="2B2620"/>
                </a:solidFill>
              </a:rPr>
              <a:t>40–60 cm</a:t>
            </a:r>
            <a:pPr algn="l" indent="0" marL="0">
              <a:buNone/>
            </a:pPr>
            <a:r>
              <a:rPr lang="en-US" altLang="en-US" sz="1400" dirty="0">
                <a:solidFill>
                  <a:srgbClr val="2B2620"/>
                </a:solidFill>
              </a:rPr>
              <a:t>).</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Electrical</a:t>
            </a:r>
            <a:pPr algn="l" indent="0" marL="0">
              <a:buNone/>
            </a:pPr>
            <a:r>
              <a:rPr lang="en-US" altLang="en-US" sz="1400" dirty="0">
                <a:solidFill>
                  <a:srgbClr val="2B2620"/>
                </a:solidFill>
              </a:rPr>
              <a:t>: distribution boards, separate circuits for AC, heaters and kitchen, and earthing.</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Coordination</a:t>
            </a:r>
            <a:pPr algn="l" indent="0" marL="0">
              <a:buNone/>
            </a:pPr>
            <a:r>
              <a:rPr lang="en-US" altLang="en-US" sz="1400" dirty="0">
                <a:solidFill>
                  <a:srgbClr val="2B2620"/>
                </a:solidFill>
              </a:rPr>
              <a:t> before casting: sleeves in beams and slabs are placed before the pour, not cut afterwards.</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Any coring of concrete after casting needs the structural engineer's approval.</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Materials</a:t>
            </a:r>
            <a:endParaRPr lang="en-US" sz="30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Material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Key property</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Concrete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Strong in compression, weak in tension — steel takes the tension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Steel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Strong in tension, needs protection from rust and fire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Timber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Light and easy, needs protection from damp and insects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Clay / concrete blocks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Thermal mass, good fire resistance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Glass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Transparent, needs safety design (tempered / laminated)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Aluminium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Light, corrosion resistant, high thermal movement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Eng. Omar Khamis's takeaways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Understand the </a:t>
            </a:r>
            <a:pPr algn="l" indent="0" marL="0">
              <a:buNone/>
            </a:pPr>
            <a:r>
              <a:rPr lang="en-US" altLang="en-US" sz="1400" b="1" dirty="0">
                <a:solidFill>
                  <a:srgbClr val="2B2620"/>
                </a:solidFill>
              </a:rPr>
              <a:t>system</a:t>
            </a:r>
            <a:pPr algn="l" indent="0" marL="0">
              <a:buNone/>
            </a:pPr>
            <a:r>
              <a:rPr lang="en-US" altLang="en-US" sz="1400" dirty="0">
                <a:solidFill>
                  <a:srgbClr val="2B2620"/>
                </a:solidFill>
              </a:rPr>
              <a:t> (structure, enclosure, services) before the detail.</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Water must always have </a:t>
            </a:r>
            <a:pPr algn="l" indent="0" marL="0">
              <a:buNone/>
            </a:pPr>
            <a:r>
              <a:rPr lang="en-US" altLang="en-US" sz="1400" b="1" dirty="0">
                <a:solidFill>
                  <a:srgbClr val="2B2620"/>
                </a:solidFill>
              </a:rPr>
              <a:t>a way out</a:t>
            </a:r>
            <a:pPr algn="l" indent="0" marL="0">
              <a:buNone/>
            </a:pPr>
            <a:r>
              <a:rPr lang="en-US" altLang="en-US" sz="1400" dirty="0">
                <a:solidFill>
                  <a:srgbClr val="2B2620"/>
                </a:solidFill>
              </a:rPr>
              <a:t>: falls, drips, flashings, outlets.</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Waterproofing is </a:t>
            </a:r>
            <a:pPr algn="l" indent="0" marL="0">
              <a:buNone/>
            </a:pPr>
            <a:r>
              <a:rPr lang="en-US" altLang="en-US" sz="1400" b="1" dirty="0">
                <a:solidFill>
                  <a:srgbClr val="2B2620"/>
                </a:solidFill>
              </a:rPr>
              <a:t>tested before it is covered</a:t>
            </a:r>
            <a:pPr algn="l" indent="0" marL="0">
              <a:buNone/>
            </a:pPr>
            <a:r>
              <a:rPr lang="en-US" altLang="en-US" sz="1400" dirty="0">
                <a:solidFill>
                  <a:srgbClr val="2B2620"/>
                </a:solidFill>
              </a:rPr>
              <a:t>.</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Insulation is better </a:t>
            </a:r>
            <a:pPr algn="l" indent="0" marL="0">
              <a:buNone/>
            </a:pPr>
            <a:r>
              <a:rPr lang="en-US" altLang="en-US" sz="1400" b="1" dirty="0">
                <a:solidFill>
                  <a:srgbClr val="2B2620"/>
                </a:solidFill>
              </a:rPr>
              <a:t>outside</a:t>
            </a:r>
            <a:pPr algn="l" indent="0" marL="0">
              <a:buNone/>
            </a:pPr>
            <a:r>
              <a:rPr lang="en-US" altLang="en-US" sz="1400" dirty="0">
                <a:solidFill>
                  <a:srgbClr val="2B2620"/>
                </a:solidFill>
              </a:rPr>
              <a:t>, the vapour retarder </a:t>
            </a:r>
            <a:pPr algn="l" indent="0" marL="0">
              <a:buNone/>
            </a:pPr>
            <a:r>
              <a:rPr lang="en-US" altLang="en-US" sz="1400" b="1" dirty="0">
                <a:solidFill>
                  <a:srgbClr val="2B2620"/>
                </a:solidFill>
              </a:rPr>
              <a:t>inside</a:t>
            </a:r>
            <a:pPr algn="l" indent="0" marL="0">
              <a:buNone/>
            </a:pPr>
            <a:r>
              <a:rPr lang="en-US" altLang="en-US" sz="1400" dirty="0">
                <a:solidFill>
                  <a:srgbClr val="2B2620"/>
                </a:solidFill>
              </a:rPr>
              <a:t>.</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Coordinating disciplines </a:t>
            </a:r>
            <a:pPr algn="l" indent="0" marL="0">
              <a:buNone/>
            </a:pPr>
            <a:r>
              <a:rPr lang="en-US" altLang="en-US" sz="1400" b="1" dirty="0">
                <a:solidFill>
                  <a:srgbClr val="2B2620"/>
                </a:solidFill>
              </a:rPr>
              <a:t>before the pour</a:t>
            </a:r>
            <a:pPr algn="l" indent="0" marL="0">
              <a:buNone/>
            </a:pPr>
            <a:r>
              <a:rPr lang="en-US" altLang="en-US" sz="1400" dirty="0">
                <a:solidFill>
                  <a:srgbClr val="2B2620"/>
                </a:solidFill>
              </a:rPr>
              <a:t> saves money and time.</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Summary by Eng. Omar Khamis — Omar Khamis Library for SketchUp.</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Thank you</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+20 100 543 3170</a:t>
            </a:r>
            <a:endParaRPr lang="en-US" sz="1800" dirty="0"/>
          </a:p>
        </p:txBody>
      </p:sp>
      <p:sp>
        <p:nvSpPr>
          <p:cNvPr id="4" name="Text 2"/>
          <p:cNvSpPr txBox="1"/>
          <p:nvPr/>
        </p:nvSpPr>
        <p:spPr>
          <a:xfrm>
            <a:off x="914400" y="5577840"/>
            <a:ext cx="10362895" cy="548640"/>
          </a:xfrm>
          <a:prstGeom prst="rect">
            <a:avLst/>
          </a:prstGeom>
          <a:noFill/>
          <a:ln/>
        </p:spPr>
        <p:txBody>
          <a:bodyPr wrap="square" rtlCol="0" anchor="ctr"/>
          <a:lstStyle/>
          <a:p>
            <a:pPr algn="ctr" indent="0" marL="0">
              <a:buNone/>
            </a:pPr>
            <a:r>
              <a:rPr lang="en-US" altLang="en-US" sz="1400" dirty="0">
                <a:solidFill>
                  <a:srgbClr val="E3C278"/>
                </a:solidFill>
              </a:rPr>
              <a:t>Omar Khamis Library for SketchUp</a:t>
            </a:r>
            <a:endParaRPr lang="en-US"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8A5A10"/>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Summary: Building Construction Illustrated — Ching</dc:title>
  <dc:subject>PptxGenJS Presentation</dc:subject>
  <dc:creator>Eng. Omar Khamis</dc:creator>
  <cp:lastModifiedBy>Eng. Omar Khamis</cp:lastModifiedBy>
  <cp:revision>1</cp:revision>
  <dcterms:created xsi:type="dcterms:W3CDTF">2026-10-15T12:37:09Z</dcterms:created>
  <dcterms:modified xsi:type="dcterms:W3CDTF">2026-10-15T12:37:09Z</dcterms:modified>
</cp:coreProperties>
</file>