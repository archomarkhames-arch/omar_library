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82b4cc9-8550-acbd-4258-cc32ff6effe2}">
          <p14:sldIdLst>
            <p14:sldId id="256"/>
          </p14:sldIdLst>
        </p14:section>
        <p14:section name="Contents" id="{229f0656-dc7c-09de-13cc-136983117f2a}">
          <p14:sldIdLst>
            <p14:sldId id="257"/>
          </p14:sldIdLst>
        </p14:section>
        <p14:section name="Summary" id="{744561be-da24-6b85-3436-a39f09aec6a3}">
          <p14:sldIdLst>
            <p14:sldId id="258"/>
            <p14:sldId id="259"/>
            <p14:sldId id="260"/>
            <p14:sldId id="261"/>
            <p14:sldId id="262"/>
            <p14:sldId id="263"/>
            <p14:sldId id="264"/>
            <p14:sldId id="265"/>
            <p14:sldId id="266"/>
            <p14:sldId id="267"/>
            <p14:sldId id="268"/>
            <p14:sldId id="269"/>
          </p14:sldIdLst>
        </p14:section>
        <p14:section name="Closing" id="{318f3f45-da21-edcb-66c0-4605475bb683}">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Interior Graphic Standards (2nd edition, 2010), edited by Corky Binggeli, belongs to the famous Graphic Standards series. It covers everything inside a building: partitions, ceilings, floors, finishes, joinery, furniture, lighting, acoustics, accessibility and interiors for each building type.
Why it matters to interior designers and fit-out engineers
It turns an idea into a specification, a detail and a dimension.
It helps you write correct BOQ items and material specifications.
It reduces mistakes between design and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Accessibility
Wheelchair turning circle 150 cm.
Door clear width at least 80–90 cm.
Basin at about 80–85 cm with knee clearance below.
Bathroom grab bars at 70–75 cm.
Switches and lift buttons within the 40–120 cm reach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Dry partition components
Tracks top and bottom, vertical studs at 40 or 60 cm.
Gypsum board 12.5 mm (standard / moisture-resistant green / fire-rated red).
Mineral wool inside for sound and fire.
Site rules
Board joints staggered between faces and not on the same stud.
Backing (timber or metal) where wall cabinets, TVs and basins hang.
An acoustic partition must run to the concrete slab, not just to the false ceiling.
Control joints in long partitions (about every 9–15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Plenum depth set by HVAC: often 15–60 cm.
Access panels at valves and indoor AC units.
Hangers at about 120 cm centres (per the manufacturer's system).
Coordinate downlights, diffusers and detectors with the ceiling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Types and where to use them
Transitions between floors
A level change up to 6 mm is acceptable without a bevel.
6 to 13 mm: bevel no steeper than 1:2.
Anything more is treated as a ramp.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Paint
Matt for ceilings and rooms, eggshell/semi-gloss for kitchens, bathrooms and corridors (washable).
Scrub resistance and cleanability are product properties written into the specification.
Wallcoverings and cladding
Walls must be dry and flat with a primer before wallpaper.
Timber and slat cladding on battens with a ventilation gap.
Fire performance
Finishes in corridors and escape routes must have a low flame-spread class per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materials
MDF (smooth for paint and acrylic), particleboard / melamine (economical), plywood (stronger, more moisture resistant), HPL (hard surface).
Edge banding on all exposed edges.
Hinges and runners (soft close / tandem) specified by load and cycles.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Circulation: 75–90 cm around furniture in homes, more in commercial spaces.
Dining: 60 cm per person, 90–120 cm behind chairs.
Living: coffee table 40–45 cm from the sofa, facing sofas about 2.4–3.0 m apart for easy conversation.
Offices: desk 72–75 cm, 80–100 cm behind the chair.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Layers of light
Ambient: ceiling lights and downlights.
Task: under-cabinet kitchen lights, desk lamps.
Accent: highlighting artwork or a feature wall.
Decorative: chandeliers and pendants.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Insulation (stopping sound passing) depends on mass, separation and airtightness.
Absorption (reducing echo) depends on porous materials: carpet, curtains, acoustic panels.
Between dwellings: airborne sound insulation of about STC 50 or more.
Back-to-back sockets in a partition must be offset so sound does not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Residential
Separate public and private, enough storage, daylight.
Offices
Flexible partitions, sometimes raised floors, acoustics in open plan.
Hospitality (hotels and restaurants)
Durable finishes, fire performance, easy maintenance.
Retail
Circulation routes, light on the product, flexibility to change displays.
Healthcare
Easy-to-disinfect surfaces, coved corners, seamless floors.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interior decision must become a specification + detail + dimension.
Put backing inside partitions before closing them.
Suspended ceilings need coordination with HVAC, lighting and fire systems.
Finishes on escape routes must meet the fire code.
Lighting is layers; acoustics is insulation + absorption.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000" b="1" dirty="0">
                <a:solidFill>
                  <a:srgbClr val="2B2620"/>
                </a:solidFill>
              </a:defRPr>
            </a:lvl1pPr>
          </a:lstStyle>
          <a:p>
            <a:pPr algn="l" indent="0" marL="0">
              <a:buNone/>
            </a:pPr>
            <a:endParaRPr lang="en-US" sz="3000" dirty="0"/>
          </a:p>
        </p:txBody>
      </p:sp>
      <p:sp>
        <p:nvSpPr>
          <p:cNvPr id="3" name="Text 0"/>
          <p:cNvSpPr/>
          <p:nvPr/>
        </p:nvSpPr>
        <p:spPr>
          <a:xfrm>
            <a:off x="548640" y="6400800"/>
            <a:ext cx="7315200" cy="320040"/>
          </a:xfrm>
          <a:prstGeom prst="rect">
            <a:avLst/>
          </a:prstGeom>
          <a:noFill/>
          <a:ln/>
        </p:spPr>
        <p:txBody>
          <a:bodyPr wrap="square" rtlCol="0" anchor="ctr"/>
          <a:lstStyle/>
          <a:p>
            <a:pPr algn="l" indent="0" marL="0">
              <a:buNone/>
            </a:pPr>
            <a:r>
              <a:rPr lang="en-US" altLang="en-US" sz="1000" dirty="0">
                <a:solidFill>
                  <a:srgbClr val="8A7E6A"/>
                </a:solidFill>
              </a:rPr>
              <a:t>Summary by Eng. Omar Khamis  —  +20 100 543 3170</a:t>
            </a:r>
            <a:endParaRPr lang="en-US" sz="10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Summary: Interior Graphic Standards</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Omar Khamis Library — 2026</a:t>
            </a:r>
            <a:endParaRPr lang="en-US"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algn="ctr" indent="0" marL="0">
              <a:buNone/>
            </a:pPr>
            <a:r>
              <a:rPr lang="en-US" altLang="en-US" sz="1200" dirty="0">
                <a:solidFill>
                  <a:srgbClr val="B9AE97"/>
                </a:solidFill>
              </a:rPr>
              <a:t>A learning summary — not a substitute for the original book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What this deck covers</a:t>
            </a:r>
            <a:endParaRPr lang="en-US" sz="3000" dirty="0"/>
          </a:p>
        </p:txBody>
      </p:sp>
      <p:sp>
        <p:nvSpPr>
          <p:cNvPr id="3" name="n1"/>
          <p:cNvSpPr/>
          <p:nvPr/>
        </p:nvSpPr>
        <p:spPr>
          <a:xfrm>
            <a:off x="548640" y="1362456"/>
            <a:ext cx="384048" cy="384048"/>
          </a:xfrm>
          <a:prstGeom prst="ellipse">
            <a:avLst/>
          </a:prstGeom>
          <a:solidFill>
            <a:schemeClr val="accent1"/>
          </a:solidFill>
          <a:ln/>
        </p:spPr>
      </p:sp>
      <p:sp>
        <p:nvSpPr>
          <p:cNvPr id="4" name="Text 2"/>
          <p:cNvSpPr txBox="1"/>
          <p:nvPr/>
        </p:nvSpPr>
        <p:spPr>
          <a:xfrm>
            <a:off x="548640"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51560"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Introduction: the technical reference for interiors</a:t>
            </a:r>
            <a:endParaRPr lang="en-US" sz="1500" dirty="0"/>
          </a:p>
        </p:txBody>
      </p:sp>
      <p:sp>
        <p:nvSpPr>
          <p:cNvPr id="6" name="n2"/>
          <p:cNvSpPr/>
          <p:nvPr/>
        </p:nvSpPr>
        <p:spPr>
          <a:xfrm>
            <a:off x="548640" y="1874520"/>
            <a:ext cx="384048" cy="384048"/>
          </a:xfrm>
          <a:prstGeom prst="ellipse">
            <a:avLst/>
          </a:prstGeom>
          <a:solidFill>
            <a:schemeClr val="accent1"/>
          </a:solidFill>
          <a:ln/>
        </p:spPr>
      </p:sp>
      <p:sp>
        <p:nvSpPr>
          <p:cNvPr id="7" name="Text 5"/>
          <p:cNvSpPr txBox="1"/>
          <p:nvPr/>
        </p:nvSpPr>
        <p:spPr>
          <a:xfrm>
            <a:off x="548640"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1051560"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Human factors and ergonomics</a:t>
            </a:r>
            <a:endParaRPr lang="en-US" sz="1500" dirty="0"/>
          </a:p>
        </p:txBody>
      </p:sp>
      <p:sp>
        <p:nvSpPr>
          <p:cNvPr id="9" name="n3"/>
          <p:cNvSpPr/>
          <p:nvPr/>
        </p:nvSpPr>
        <p:spPr>
          <a:xfrm>
            <a:off x="548640" y="2386584"/>
            <a:ext cx="384048" cy="384048"/>
          </a:xfrm>
          <a:prstGeom prst="ellipse">
            <a:avLst/>
          </a:prstGeom>
          <a:solidFill>
            <a:schemeClr val="accent1"/>
          </a:solidFill>
          <a:ln/>
        </p:spPr>
      </p:sp>
      <p:sp>
        <p:nvSpPr>
          <p:cNvPr id="10" name="Text 8"/>
          <p:cNvSpPr txBox="1"/>
          <p:nvPr/>
        </p:nvSpPr>
        <p:spPr>
          <a:xfrm>
            <a:off x="548640"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1051560"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Partitions and drywall</a:t>
            </a:r>
            <a:endParaRPr lang="en-US" sz="1500" dirty="0"/>
          </a:p>
        </p:txBody>
      </p:sp>
      <p:sp>
        <p:nvSpPr>
          <p:cNvPr id="12" name="n4"/>
          <p:cNvSpPr/>
          <p:nvPr/>
        </p:nvSpPr>
        <p:spPr>
          <a:xfrm>
            <a:off x="548640" y="2898648"/>
            <a:ext cx="384048" cy="384048"/>
          </a:xfrm>
          <a:prstGeom prst="ellipse">
            <a:avLst/>
          </a:prstGeom>
          <a:solidFill>
            <a:schemeClr val="accent1"/>
          </a:solidFill>
          <a:ln/>
        </p:spPr>
      </p:sp>
      <p:sp>
        <p:nvSpPr>
          <p:cNvPr id="13" name="Text 11"/>
          <p:cNvSpPr txBox="1"/>
          <p:nvPr/>
        </p:nvSpPr>
        <p:spPr>
          <a:xfrm>
            <a:off x="548640"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1051560"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Suspended ceilings</a:t>
            </a:r>
            <a:endParaRPr lang="en-US" sz="1500" dirty="0"/>
          </a:p>
        </p:txBody>
      </p:sp>
      <p:sp>
        <p:nvSpPr>
          <p:cNvPr id="15" name="n5"/>
          <p:cNvSpPr/>
          <p:nvPr/>
        </p:nvSpPr>
        <p:spPr>
          <a:xfrm>
            <a:off x="548640" y="3410712"/>
            <a:ext cx="384048" cy="384048"/>
          </a:xfrm>
          <a:prstGeom prst="ellipse">
            <a:avLst/>
          </a:prstGeom>
          <a:solidFill>
            <a:schemeClr val="accent1"/>
          </a:solidFill>
          <a:ln/>
        </p:spPr>
      </p:sp>
      <p:sp>
        <p:nvSpPr>
          <p:cNvPr id="16" name="Text 14"/>
          <p:cNvSpPr txBox="1"/>
          <p:nvPr/>
        </p:nvSpPr>
        <p:spPr>
          <a:xfrm>
            <a:off x="548640"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1051560"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Floors</a:t>
            </a:r>
            <a:endParaRPr lang="en-US" sz="1500" dirty="0"/>
          </a:p>
        </p:txBody>
      </p:sp>
      <p:sp>
        <p:nvSpPr>
          <p:cNvPr id="18" name="n6"/>
          <p:cNvSpPr/>
          <p:nvPr/>
        </p:nvSpPr>
        <p:spPr>
          <a:xfrm>
            <a:off x="548640" y="3922776"/>
            <a:ext cx="384048" cy="384048"/>
          </a:xfrm>
          <a:prstGeom prst="ellipse">
            <a:avLst/>
          </a:prstGeom>
          <a:solidFill>
            <a:schemeClr val="accent1"/>
          </a:solidFill>
          <a:ln/>
        </p:spPr>
      </p:sp>
      <p:sp>
        <p:nvSpPr>
          <p:cNvPr id="19" name="Text 17"/>
          <p:cNvSpPr txBox="1"/>
          <p:nvPr/>
        </p:nvSpPr>
        <p:spPr>
          <a:xfrm>
            <a:off x="548640"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1051560"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Finishes and specifications</a:t>
            </a:r>
            <a:endParaRPr lang="en-US" sz="1500" dirty="0"/>
          </a:p>
        </p:txBody>
      </p:sp>
      <p:sp>
        <p:nvSpPr>
          <p:cNvPr id="21" name="n7"/>
          <p:cNvSpPr/>
          <p:nvPr/>
        </p:nvSpPr>
        <p:spPr>
          <a:xfrm>
            <a:off x="6187288" y="1362456"/>
            <a:ext cx="384048" cy="384048"/>
          </a:xfrm>
          <a:prstGeom prst="ellipse">
            <a:avLst/>
          </a:prstGeom>
          <a:solidFill>
            <a:schemeClr val="accent1"/>
          </a:solidFill>
          <a:ln/>
        </p:spPr>
      </p:sp>
      <p:sp>
        <p:nvSpPr>
          <p:cNvPr id="22" name="Text 20"/>
          <p:cNvSpPr txBox="1"/>
          <p:nvPr/>
        </p:nvSpPr>
        <p:spPr>
          <a:xfrm>
            <a:off x="618728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6690208" y="1325880"/>
            <a:ext cx="4907128" cy="457200"/>
          </a:xfrm>
          <a:prstGeom prst="rect">
            <a:avLst/>
          </a:prstGeom>
          <a:noFill/>
          <a:ln/>
        </p:spPr>
        <p:txBody>
          <a:bodyPr wrap="square" rtlCol="0" anchor="ctr"/>
          <a:lstStyle/>
          <a:p>
            <a:pPr algn="l" indent="0" marL="0">
              <a:buNone/>
            </a:pPr>
            <a:r>
              <a:rPr lang="en-US" altLang="en-US" sz="1500" dirty="0">
                <a:solidFill>
                  <a:schemeClr val="tx1"/>
                </a:solidFill>
              </a:rPr>
              <a:t>Millwork and casework</a:t>
            </a:r>
            <a:endParaRPr lang="en-US" sz="1500" dirty="0"/>
          </a:p>
        </p:txBody>
      </p:sp>
      <p:sp>
        <p:nvSpPr>
          <p:cNvPr id="24" name="n8"/>
          <p:cNvSpPr/>
          <p:nvPr/>
        </p:nvSpPr>
        <p:spPr>
          <a:xfrm>
            <a:off x="6187288" y="1874520"/>
            <a:ext cx="384048" cy="384048"/>
          </a:xfrm>
          <a:prstGeom prst="ellipse">
            <a:avLst/>
          </a:prstGeom>
          <a:solidFill>
            <a:schemeClr val="accent1"/>
          </a:solidFill>
          <a:ln/>
        </p:spPr>
      </p:sp>
      <p:sp>
        <p:nvSpPr>
          <p:cNvPr id="25" name="Text 23"/>
          <p:cNvSpPr txBox="1"/>
          <p:nvPr/>
        </p:nvSpPr>
        <p:spPr>
          <a:xfrm>
            <a:off x="618728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6690208" y="1837944"/>
            <a:ext cx="4907128" cy="457200"/>
          </a:xfrm>
          <a:prstGeom prst="rect">
            <a:avLst/>
          </a:prstGeom>
          <a:noFill/>
          <a:ln/>
        </p:spPr>
        <p:txBody>
          <a:bodyPr wrap="square" rtlCol="0" anchor="ctr"/>
          <a:lstStyle/>
          <a:p>
            <a:pPr algn="l" indent="0" marL="0">
              <a:buNone/>
            </a:pPr>
            <a:r>
              <a:rPr lang="en-US" altLang="en-US" sz="1500" dirty="0">
                <a:solidFill>
                  <a:schemeClr val="tx1"/>
                </a:solidFill>
              </a:rPr>
              <a:t>Furniture</a:t>
            </a:r>
            <a:endParaRPr lang="en-US" sz="1500" dirty="0"/>
          </a:p>
        </p:txBody>
      </p:sp>
      <p:sp>
        <p:nvSpPr>
          <p:cNvPr id="27" name="n9"/>
          <p:cNvSpPr/>
          <p:nvPr/>
        </p:nvSpPr>
        <p:spPr>
          <a:xfrm>
            <a:off x="6187288" y="2386584"/>
            <a:ext cx="384048" cy="384048"/>
          </a:xfrm>
          <a:prstGeom prst="ellipse">
            <a:avLst/>
          </a:prstGeom>
          <a:solidFill>
            <a:schemeClr val="accent1"/>
          </a:solidFill>
          <a:ln/>
        </p:spPr>
      </p:sp>
      <p:sp>
        <p:nvSpPr>
          <p:cNvPr id="28" name="Text 26"/>
          <p:cNvSpPr txBox="1"/>
          <p:nvPr/>
        </p:nvSpPr>
        <p:spPr>
          <a:xfrm>
            <a:off x="618728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6690208" y="2350008"/>
            <a:ext cx="4907128" cy="457200"/>
          </a:xfrm>
          <a:prstGeom prst="rect">
            <a:avLst/>
          </a:prstGeom>
          <a:noFill/>
          <a:ln/>
        </p:spPr>
        <p:txBody>
          <a:bodyPr wrap="square" rtlCol="0" anchor="ctr"/>
          <a:lstStyle/>
          <a:p>
            <a:pPr algn="l" indent="0" marL="0">
              <a:buNone/>
            </a:pPr>
            <a:r>
              <a:rPr lang="en-US" altLang="en-US" sz="1500" dirty="0">
                <a:solidFill>
                  <a:schemeClr val="tx1"/>
                </a:solidFill>
              </a:rPr>
              <a:t>Lighting</a:t>
            </a:r>
            <a:endParaRPr lang="en-US" sz="1500" dirty="0"/>
          </a:p>
        </p:txBody>
      </p:sp>
      <p:sp>
        <p:nvSpPr>
          <p:cNvPr id="30" name="n10"/>
          <p:cNvSpPr/>
          <p:nvPr/>
        </p:nvSpPr>
        <p:spPr>
          <a:xfrm>
            <a:off x="6187288" y="2898648"/>
            <a:ext cx="384048" cy="384048"/>
          </a:xfrm>
          <a:prstGeom prst="ellipse">
            <a:avLst/>
          </a:prstGeom>
          <a:solidFill>
            <a:schemeClr val="accent1"/>
          </a:solidFill>
          <a:ln/>
        </p:spPr>
      </p:sp>
      <p:sp>
        <p:nvSpPr>
          <p:cNvPr id="31" name="Text 29"/>
          <p:cNvSpPr txBox="1"/>
          <p:nvPr/>
        </p:nvSpPr>
        <p:spPr>
          <a:xfrm>
            <a:off x="618728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6690208" y="2862072"/>
            <a:ext cx="4907128" cy="457200"/>
          </a:xfrm>
          <a:prstGeom prst="rect">
            <a:avLst/>
          </a:prstGeom>
          <a:noFill/>
          <a:ln/>
        </p:spPr>
        <p:txBody>
          <a:bodyPr wrap="square" rtlCol="0" anchor="ctr"/>
          <a:lstStyle/>
          <a:p>
            <a:pPr algn="l" indent="0" marL="0">
              <a:buNone/>
            </a:pPr>
            <a:r>
              <a:rPr lang="en-US" altLang="en-US" sz="1500" dirty="0">
                <a:solidFill>
                  <a:schemeClr val="tx1"/>
                </a:solidFill>
              </a:rPr>
              <a:t>Acoustics</a:t>
            </a:r>
            <a:endParaRPr lang="en-US" sz="1500" dirty="0"/>
          </a:p>
        </p:txBody>
      </p:sp>
      <p:sp>
        <p:nvSpPr>
          <p:cNvPr id="33" name="n11"/>
          <p:cNvSpPr/>
          <p:nvPr/>
        </p:nvSpPr>
        <p:spPr>
          <a:xfrm>
            <a:off x="6187288" y="3410712"/>
            <a:ext cx="384048" cy="384048"/>
          </a:xfrm>
          <a:prstGeom prst="ellipse">
            <a:avLst/>
          </a:prstGeom>
          <a:solidFill>
            <a:schemeClr val="accent1"/>
          </a:solidFill>
          <a:ln/>
        </p:spPr>
      </p:sp>
      <p:sp>
        <p:nvSpPr>
          <p:cNvPr id="34" name="Text 32"/>
          <p:cNvSpPr txBox="1"/>
          <p:nvPr/>
        </p:nvSpPr>
        <p:spPr>
          <a:xfrm>
            <a:off x="618728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6690208" y="3374136"/>
            <a:ext cx="4907128" cy="457200"/>
          </a:xfrm>
          <a:prstGeom prst="rect">
            <a:avLst/>
          </a:prstGeom>
          <a:noFill/>
          <a:ln/>
        </p:spPr>
        <p:txBody>
          <a:bodyPr wrap="square" rtlCol="0" anchor="ctr"/>
          <a:lstStyle/>
          <a:p>
            <a:pPr algn="l" indent="0" marL="0">
              <a:buNone/>
            </a:pPr>
            <a:r>
              <a:rPr lang="en-US" altLang="en-US" sz="1500" dirty="0">
                <a:solidFill>
                  <a:schemeClr val="tx1"/>
                </a:solidFill>
              </a:rPr>
              <a:t>Interiors by building type</a:t>
            </a:r>
            <a:endParaRPr lang="en-US" sz="1500" dirty="0"/>
          </a:p>
        </p:txBody>
      </p:sp>
      <p:sp>
        <p:nvSpPr>
          <p:cNvPr id="36" name="n12"/>
          <p:cNvSpPr/>
          <p:nvPr/>
        </p:nvSpPr>
        <p:spPr>
          <a:xfrm>
            <a:off x="6187288" y="3922776"/>
            <a:ext cx="384048" cy="384048"/>
          </a:xfrm>
          <a:prstGeom prst="ellipse">
            <a:avLst/>
          </a:prstGeom>
          <a:solidFill>
            <a:schemeClr val="accent1"/>
          </a:solidFill>
          <a:ln/>
        </p:spPr>
      </p:sp>
      <p:sp>
        <p:nvSpPr>
          <p:cNvPr id="37" name="Text 35"/>
          <p:cNvSpPr txBox="1"/>
          <p:nvPr/>
        </p:nvSpPr>
        <p:spPr>
          <a:xfrm>
            <a:off x="618728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6690208" y="3886200"/>
            <a:ext cx="4907128" cy="457200"/>
          </a:xfrm>
          <a:prstGeom prst="rect">
            <a:avLst/>
          </a:prstGeom>
          <a:noFill/>
          <a:ln/>
        </p:spPr>
        <p:txBody>
          <a:bodyPr wrap="square" rtlCol="0" anchor="ctr"/>
          <a:lstStyle/>
          <a:p>
            <a:pPr algn="l" indent="0" marL="0">
              <a:buNone/>
            </a:pPr>
            <a:r>
              <a:rPr lang="en-US" altLang="en-US" sz="1500" dirty="0">
                <a:solidFill>
                  <a:schemeClr val="tx1"/>
                </a:solidFill>
              </a:rPr>
              <a:t>Eng. Omar Khamis's takeaways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Introduction: the technical reference for interiors</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dirty="0">
                <a:solidFill>
                  <a:srgbClr val="2B2620"/>
                </a:solidFill>
              </a:rPr>
              <a:t>Interior Graphic Standards (2nd edition, 2010), edited by Corky Binggeli, belongs to the famous Graphic Standards series. …</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dirty="0">
                <a:solidFill>
                  <a:srgbClr val="2B2620"/>
                </a:solidFill>
              </a:rPr>
              <a:t>It turns an idea into a </a:t>
            </a:r>
            <a:pPr algn="l" indent="0" marL="0">
              <a:buNone/>
            </a:pPr>
            <a:r>
              <a:rPr lang="en-US" altLang="en-US" sz="1400" b="1" dirty="0">
                <a:solidFill>
                  <a:srgbClr val="2B2620"/>
                </a:solidFill>
              </a:rPr>
              <a:t>specification, a detail and a dimension</a:t>
            </a:r>
            <a:pPr algn="l" indent="0" marL="0">
              <a:buNone/>
            </a:pPr>
            <a:r>
              <a:rPr lang="en-US" altLang="en-US" sz="1400" dirty="0">
                <a:solidFill>
                  <a:srgbClr val="2B2620"/>
                </a:solidFill>
              </a:rPr>
              <a:t>.</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It helps you write correct </a:t>
            </a:r>
            <a:pPr algn="l" indent="0" marL="0">
              <a:buNone/>
            </a:pPr>
            <a:r>
              <a:rPr lang="en-US" altLang="en-US" sz="1400" b="1" dirty="0">
                <a:solidFill>
                  <a:srgbClr val="2B2620"/>
                </a:solidFill>
              </a:rPr>
              <a:t>BOQ items</a:t>
            </a:r>
            <a:pPr algn="l" indent="0" marL="0">
              <a:buNone/>
            </a:pPr>
            <a:r>
              <a:rPr lang="en-US" altLang="en-US" sz="1400" dirty="0">
                <a:solidFill>
                  <a:srgbClr val="2B2620"/>
                </a:solidFill>
              </a:rPr>
              <a:t> and material specifications.</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dirty="0">
                <a:solidFill>
                  <a:srgbClr val="2B2620"/>
                </a:solidFill>
              </a:rPr>
              <a:t>It reduces mistakes between design and site.</a:t>
            </a:r>
            <a:endParaRPr lang="en-US" sz="1400" dirty="0"/>
          </a:p>
        </p:txBody>
      </p:sp>
      <p:sp>
        <p:nvSpPr>
          <p:cNvPr id="19" name="Text 17"/>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This summary is written by Eng. Omar Khamis in his own words; figures are common practice values. The book is based on US standards (ADA, IBC and others), …</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Human factors and ergonomics</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dirty="0">
                <a:solidFill>
                  <a:srgbClr val="2B2620"/>
                </a:solidFill>
              </a:rPr>
              <a:t>Wheelchair turning circle </a:t>
            </a:r>
            <a:pPr algn="l" marL="342900" indent="-342900">
              <a:spcAft>
                <a:spcPts val="800"/>
              </a:spcAft>
              <a:buSzPct val="100000"/>
              <a:buChar char="•"/>
            </a:pPr>
            <a:r>
              <a:rPr lang="en-US" altLang="en-US" sz="1400" b="1" dirty="0">
                <a:solidFill>
                  <a:srgbClr val="2B2620"/>
                </a:solidFill>
              </a:rPr>
              <a:t>150 cm</a:t>
            </a:r>
            <a:pPr algn="l" marL="342900" indent="-342900">
              <a:spcAft>
                <a:spcPts val="800"/>
              </a:spcAft>
              <a:buSzPct val="100000"/>
              <a:buChar char="•"/>
            </a:pPr>
            <a:r>
              <a:rPr lang="en-US" altLang="en-US" sz="1400" dirty="0">
                <a:solidFill>
                  <a:srgbClr val="2B2620"/>
                </a:solidFill>
              </a:rPr>
              <a:t>.</a:t>
            </a:r>
            <a:endParaRPr lang="en-US" sz="1400" dirty="0"/>
          </a:p>
          <a:p>
            <a:pPr algn="l" marL="342900" indent="-342900">
              <a:spcAft>
                <a:spcPts val="800"/>
              </a:spcAft>
              <a:buSzPct val="100000"/>
              <a:buChar char="•"/>
            </a:pPr>
            <a:r>
              <a:rPr lang="en-US" altLang="en-US" sz="1400" dirty="0">
                <a:solidFill>
                  <a:srgbClr val="2B2620"/>
                </a:solidFill>
              </a:rPr>
              <a:t>Door clear width at least </a:t>
            </a:r>
            <a:pPr algn="l" marL="342900" indent="-342900">
              <a:spcAft>
                <a:spcPts val="800"/>
              </a:spcAft>
              <a:buSzPct val="100000"/>
              <a:buChar char="•"/>
            </a:pPr>
            <a:r>
              <a:rPr lang="en-US" altLang="en-US" sz="1400" b="1" dirty="0">
                <a:solidFill>
                  <a:srgbClr val="2B2620"/>
                </a:solidFill>
              </a:rPr>
              <a:t>80–90 cm</a:t>
            </a:r>
            <a:pPr algn="l" marL="342900" indent="-342900">
              <a:spcAft>
                <a:spcPts val="800"/>
              </a:spcAft>
              <a:buSzPct val="100000"/>
              <a:buChar char="•"/>
            </a:pPr>
            <a:r>
              <a:rPr lang="en-US" altLang="en-US" sz="1400" dirty="0">
                <a:solidFill>
                  <a:srgbClr val="2B2620"/>
                </a:solidFill>
              </a:rPr>
              <a:t>.</a:t>
            </a:r>
            <a:endParaRPr lang="en-US" sz="14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Activity</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Approximate value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Dining / desk chair seat</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43–48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Desk / dining table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72–76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Standing work surface (kitchen)</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85–92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Bar counter</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105–110 cm with 75–80 cm stools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Highest comfortable shelf</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about 170–180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Seated eye level</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about 115–120 cm</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Partitions and drywall</a:t>
            </a:r>
            <a:endParaRPr lang="en-US" sz="3000" dirty="0"/>
          </a:p>
        </p:txBody>
      </p:sp>
      <p:sp>
        <p:nvSpPr>
          <p:cNvPr id="3" name="figure-frame"/>
          <p:cNvSpPr/>
          <p:nvPr/>
        </p:nvSpPr>
        <p:spPr>
          <a:xfrm>
            <a:off x="6065215" y="1325880"/>
            <a:ext cx="5669280" cy="2926080"/>
          </a:xfrm>
          <a:prstGeom prst="roundRect">
            <a:avLst>
              <a:gd name="adj" fmla="val 3125"/>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743200"/>
          </a:xfrm>
          <a:prstGeom prst="rect">
            <a:avLst/>
          </a:prstGeom>
        </p:spPr>
      </p:pic>
      <p:sp>
        <p:nvSpPr>
          <p:cNvPr id="5" name="Text 2"/>
          <p:cNvSpPr txBox="1"/>
          <p:nvPr/>
        </p:nvSpPr>
        <p:spPr>
          <a:xfrm>
            <a:off x="6156655" y="4297680"/>
            <a:ext cx="5486400" cy="365760"/>
          </a:xfrm>
          <a:prstGeom prst="rect">
            <a:avLst/>
          </a:prstGeom>
          <a:noFill/>
          <a:ln/>
        </p:spPr>
        <p:txBody>
          <a:bodyPr wrap="square" rtlCol="0" anchor="ctr"/>
          <a:lstStyle/>
          <a:p>
            <a:pPr algn="ctr" indent="0" marL="0">
              <a:buNone/>
            </a:pPr>
            <a:r>
              <a:rPr lang="en-US" altLang="en-US" sz="1100" i="1" dirty="0">
                <a:solidFill>
                  <a:srgbClr val="6B6152"/>
                </a:solidFill>
              </a:rPr>
              <a:t>Section through an insulated drywall partition</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b="1" dirty="0">
                <a:solidFill>
                  <a:srgbClr val="2B2620"/>
                </a:solidFill>
              </a:rPr>
              <a:t>Tracks</a:t>
            </a:r>
            <a:pPr algn="l" marL="342900" indent="-342900">
              <a:spcAft>
                <a:spcPts val="800"/>
              </a:spcAft>
              <a:buSzPct val="100000"/>
              <a:buChar char="•"/>
            </a:pPr>
            <a:r>
              <a:rPr lang="en-US" altLang="en-US" sz="1500" dirty="0">
                <a:solidFill>
                  <a:srgbClr val="2B2620"/>
                </a:solidFill>
              </a:rPr>
              <a:t> top and bottom, vertical </a:t>
            </a:r>
            <a:pPr algn="l" marL="342900" indent="-342900">
              <a:spcAft>
                <a:spcPts val="800"/>
              </a:spcAft>
              <a:buSzPct val="100000"/>
              <a:buChar char="•"/>
            </a:pPr>
            <a:r>
              <a:rPr lang="en-US" altLang="en-US" sz="1500" b="1" dirty="0">
                <a:solidFill>
                  <a:srgbClr val="2B2620"/>
                </a:solidFill>
              </a:rPr>
              <a:t>studs</a:t>
            </a:r>
            <a:pPr algn="l" marL="342900" indent="-342900">
              <a:spcAft>
                <a:spcPts val="800"/>
              </a:spcAft>
              <a:buSzPct val="100000"/>
              <a:buChar char="•"/>
            </a:pPr>
            <a:r>
              <a:rPr lang="en-US" altLang="en-US" sz="1500" dirty="0">
                <a:solidFill>
                  <a:srgbClr val="2B2620"/>
                </a:solidFill>
              </a:rPr>
              <a:t> at </a:t>
            </a:r>
            <a:pPr algn="l" marL="342900" indent="-342900">
              <a:spcAft>
                <a:spcPts val="800"/>
              </a:spcAft>
              <a:buSzPct val="100000"/>
              <a:buChar char="•"/>
            </a:pPr>
            <a:r>
              <a:rPr lang="en-US" altLang="en-US" sz="1500" b="1" dirty="0">
                <a:solidFill>
                  <a:srgbClr val="2B2620"/>
                </a:solidFill>
              </a:rPr>
              <a:t>40 or 60 cm</a:t>
            </a:r>
            <a:pPr algn="l" marL="342900" indent="-342900">
              <a:spcAft>
                <a:spcPts val="800"/>
              </a:spcAft>
              <a:buSzPct val="100000"/>
              <a:buChar char="•"/>
            </a:pPr>
            <a:r>
              <a:rPr lang="en-US" altLang="en-US" sz="1500" dirty="0">
                <a:solidFill>
                  <a:srgbClr val="2B2620"/>
                </a:solidFill>
              </a:rPr>
              <a:t>.</a:t>
            </a:r>
            <a:endParaRPr lang="en-US" sz="1500" dirty="0"/>
          </a:p>
          <a:p>
            <a:pPr algn="l" marL="342900" indent="-342900">
              <a:spcAft>
                <a:spcPts val="800"/>
              </a:spcAft>
              <a:buSzPct val="100000"/>
              <a:buChar char="•"/>
            </a:pPr>
            <a:r>
              <a:rPr lang="en-US" altLang="en-US" sz="1500" b="1" dirty="0">
                <a:solidFill>
                  <a:srgbClr val="2B2620"/>
                </a:solidFill>
              </a:rPr>
              <a:t>Gypsum board</a:t>
            </a:r>
            <a:pPr algn="l" marL="342900" indent="-342900">
              <a:spcAft>
                <a:spcPts val="800"/>
              </a:spcAft>
              <a:buSzPct val="100000"/>
              <a:buChar char="•"/>
            </a:pPr>
            <a:r>
              <a:rPr lang="en-US" altLang="en-US" sz="1500" dirty="0">
                <a:solidFill>
                  <a:srgbClr val="2B2620"/>
                </a:solidFill>
              </a:rPr>
              <a:t> 12.5 mm (standard / moisture-resistant green / fire-rated red).</a:t>
            </a:r>
            <a:endParaRPr lang="en-US" sz="1500" dirty="0"/>
          </a:p>
          <a:p>
            <a:pPr algn="l" marL="342900" indent="-342900">
              <a:spcAft>
                <a:spcPts val="800"/>
              </a:spcAft>
              <a:buSzPct val="100000"/>
              <a:buChar char="•"/>
            </a:pPr>
            <a:r>
              <a:rPr lang="en-US" altLang="en-US" sz="1500" b="1" dirty="0">
                <a:solidFill>
                  <a:srgbClr val="2B2620"/>
                </a:solidFill>
              </a:rPr>
              <a:t>Mineral wool</a:t>
            </a:r>
            <a:pPr algn="l" marL="342900" indent="-342900">
              <a:spcAft>
                <a:spcPts val="800"/>
              </a:spcAft>
              <a:buSzPct val="100000"/>
              <a:buChar char="•"/>
            </a:pPr>
            <a:r>
              <a:rPr lang="en-US" altLang="en-US" sz="1500" dirty="0">
                <a:solidFill>
                  <a:srgbClr val="2B2620"/>
                </a:solidFill>
              </a:rPr>
              <a:t> inside for sound and fire.</a:t>
            </a:r>
            <a:endParaRPr lang="en-US" sz="1500" dirty="0"/>
          </a:p>
          <a:p>
            <a:pPr algn="l" marL="342900" indent="-342900">
              <a:spcAft>
                <a:spcPts val="800"/>
              </a:spcAft>
              <a:buSzPct val="100000"/>
              <a:buChar char="•"/>
            </a:pPr>
            <a:r>
              <a:rPr lang="en-US" altLang="en-US" sz="1500" b="1" dirty="0">
                <a:solidFill>
                  <a:srgbClr val="2B2620"/>
                </a:solidFill>
              </a:rPr>
              <a:t>Board joints</a:t>
            </a:r>
            <a:pPr algn="l" marL="342900" indent="-342900">
              <a:spcAft>
                <a:spcPts val="800"/>
              </a:spcAft>
              <a:buSzPct val="100000"/>
              <a:buChar char="•"/>
            </a:pPr>
            <a:r>
              <a:rPr lang="en-US" altLang="en-US" sz="1500" dirty="0">
                <a:solidFill>
                  <a:srgbClr val="2B2620"/>
                </a:solidFill>
              </a:rPr>
              <a:t> staggered between faces and not on the same stud.</a:t>
            </a:r>
            <a:endParaRPr lang="en-US" sz="1500" dirty="0"/>
          </a:p>
          <a:p>
            <a:pPr algn="l" marL="342900" indent="-342900">
              <a:spcAft>
                <a:spcPts val="800"/>
              </a:spcAft>
              <a:buSzPct val="100000"/>
              <a:buChar char="•"/>
            </a:pPr>
            <a:r>
              <a:rPr lang="en-US" altLang="en-US" sz="1500" b="1" dirty="0">
                <a:solidFill>
                  <a:srgbClr val="2B2620"/>
                </a:solidFill>
              </a:rPr>
              <a:t>Backing</a:t>
            </a:r>
            <a:pPr algn="l" marL="342900" indent="-342900">
              <a:spcAft>
                <a:spcPts val="800"/>
              </a:spcAft>
              <a:buSzPct val="100000"/>
              <a:buChar char="•"/>
            </a:pPr>
            <a:r>
              <a:rPr lang="en-US" altLang="en-US" sz="1500" dirty="0">
                <a:solidFill>
                  <a:srgbClr val="2B2620"/>
                </a:solidFill>
              </a:rPr>
              <a:t> (timber or metal) where wall cabinets, TVs and basins hang.</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Suspended ceilings</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b="1" dirty="0">
                <a:solidFill>
                  <a:srgbClr val="2B2620"/>
                </a:solidFill>
              </a:rPr>
              <a:t>Plenum depth</a:t>
            </a:r>
            <a:pPr algn="l" marL="342900" indent="-342900">
              <a:spcAft>
                <a:spcPts val="800"/>
              </a:spcAft>
              <a:buSzPct val="100000"/>
              <a:buChar char="•"/>
            </a:pPr>
            <a:r>
              <a:rPr lang="en-US" altLang="en-US" sz="1400" dirty="0">
                <a:solidFill>
                  <a:srgbClr val="2B2620"/>
                </a:solidFill>
              </a:rPr>
              <a:t> set by HVAC: often </a:t>
            </a:r>
            <a:pPr algn="l" marL="342900" indent="-342900">
              <a:spcAft>
                <a:spcPts val="800"/>
              </a:spcAft>
              <a:buSzPct val="100000"/>
              <a:buChar char="•"/>
            </a:pPr>
            <a:r>
              <a:rPr lang="en-US" altLang="en-US" sz="1400" b="1" dirty="0">
                <a:solidFill>
                  <a:srgbClr val="2B2620"/>
                </a:solidFill>
              </a:rPr>
              <a:t>15–60 cm</a:t>
            </a:r>
            <a:pPr algn="l" marL="342900" indent="-342900">
              <a:spcAft>
                <a:spcPts val="800"/>
              </a:spcAft>
              <a:buSzPct val="100000"/>
              <a:buChar char="•"/>
            </a:pPr>
            <a:r>
              <a:rPr lang="en-US" altLang="en-US" sz="1400" dirty="0">
                <a:solidFill>
                  <a:srgbClr val="2B2620"/>
                </a:solidFill>
              </a:rPr>
              <a:t>.</a:t>
            </a:r>
            <a:endParaRPr lang="en-US" sz="1400" dirty="0"/>
          </a:p>
          <a:p>
            <a:pPr algn="l" marL="342900" indent="-342900">
              <a:spcAft>
                <a:spcPts val="800"/>
              </a:spcAft>
              <a:buSzPct val="100000"/>
              <a:buChar char="•"/>
            </a:pPr>
            <a:r>
              <a:rPr lang="en-US" altLang="en-US" sz="1400" b="1" dirty="0">
                <a:solidFill>
                  <a:srgbClr val="2B2620"/>
                </a:solidFill>
              </a:rPr>
              <a:t>Access panels</a:t>
            </a:r>
            <a:pPr algn="l" marL="342900" indent="-342900">
              <a:spcAft>
                <a:spcPts val="800"/>
              </a:spcAft>
              <a:buSzPct val="100000"/>
              <a:buChar char="•"/>
            </a:pPr>
            <a:r>
              <a:rPr lang="en-US" altLang="en-US" sz="1400" dirty="0">
                <a:solidFill>
                  <a:srgbClr val="2B2620"/>
                </a:solidFill>
              </a:rPr>
              <a:t> at valves and indoor AC units.</a:t>
            </a:r>
            <a:endParaRPr lang="en-US" sz="14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5547208"/>
                <a:gridCol w="5547208"/>
              </a:tblGrid>
              <a:tr h="384048">
                <a:tc>
                  <a:txBody>
                    <a:bodyPr/>
                    <a:lstStyle/>
                    <a:p>
                      <a:pPr algn="l" indent="0" marL="0">
                        <a:buNone/>
                      </a:pPr>
                      <a:r>
                        <a:rPr lang="en-US" altLang="en-US" sz="1300" b="1" dirty="0">
                          <a:solidFill>
                            <a:srgbClr val="FFFFFF"/>
                          </a:solidFill>
                        </a:rPr>
                        <a:t>Type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Use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Lay-in tiles on an exposed 60×60 grid</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Offices, easy maintenance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Plain plasterboard</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Homes and hotels, clean look</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Aluminium / timber slats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Feature areas and façades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Stretch ceiling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Special shapes and lighting</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Floors</a:t>
            </a:r>
            <a:endParaRPr lang="en-US" sz="3000" dirty="0"/>
          </a:p>
        </p:txBody>
      </p:sp>
      <p:sp>
        <p:nvSpPr>
          <p:cNvPr id="3" name="figure-frame"/>
          <p:cNvSpPr/>
          <p:nvPr/>
        </p:nvSpPr>
        <p:spPr>
          <a:xfrm>
            <a:off x="6065215" y="1325880"/>
            <a:ext cx="5669280" cy="2142309"/>
          </a:xfrm>
          <a:prstGeom prst="roundRect">
            <a:avLst>
              <a:gd name="adj" fmla="val 4268"/>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1959429"/>
          </a:xfrm>
          <a:prstGeom prst="rect">
            <a:avLst/>
          </a:prstGeom>
        </p:spPr>
      </p:pic>
      <p:sp>
        <p:nvSpPr>
          <p:cNvPr id="5" name="Text 2"/>
          <p:cNvSpPr txBox="1"/>
          <p:nvPr/>
        </p:nvSpPr>
        <p:spPr>
          <a:xfrm>
            <a:off x="6156655" y="3513909"/>
            <a:ext cx="5486400" cy="365760"/>
          </a:xfrm>
          <a:prstGeom prst="rect">
            <a:avLst/>
          </a:prstGeom>
          <a:noFill/>
          <a:ln/>
        </p:spPr>
        <p:txBody>
          <a:bodyPr wrap="square" rtlCol="0" anchor="ctr"/>
          <a:lstStyle/>
          <a:p>
            <a:pPr algn="ctr" indent="0" marL="0">
              <a:buNone/>
            </a:pPr>
            <a:r>
              <a:rPr lang="en-US" altLang="en-US" sz="1100" i="1" dirty="0">
                <a:solidFill>
                  <a:srgbClr val="6B6152"/>
                </a:solidFill>
              </a:rPr>
              <a:t>A small bevelled transition between two floors</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dirty="0">
                <a:solidFill>
                  <a:srgbClr val="2B2620"/>
                </a:solidFill>
              </a:rPr>
              <a:t>A level change up to </a:t>
            </a:r>
            <a:pPr algn="l" marL="342900" indent="-342900">
              <a:spcAft>
                <a:spcPts val="800"/>
              </a:spcAft>
              <a:buSzPct val="100000"/>
              <a:buChar char="•"/>
            </a:pPr>
            <a:r>
              <a:rPr lang="en-US" altLang="en-US" sz="1500" b="1" dirty="0">
                <a:solidFill>
                  <a:srgbClr val="2B2620"/>
                </a:solidFill>
              </a:rPr>
              <a:t>6 mm</a:t>
            </a:r>
            <a:pPr algn="l" marL="342900" indent="-342900">
              <a:spcAft>
                <a:spcPts val="800"/>
              </a:spcAft>
              <a:buSzPct val="100000"/>
              <a:buChar char="•"/>
            </a:pPr>
            <a:r>
              <a:rPr lang="en-US" altLang="en-US" sz="1500" dirty="0">
                <a:solidFill>
                  <a:srgbClr val="2B2620"/>
                </a:solidFill>
              </a:rPr>
              <a:t> is acceptable without a bevel.</a:t>
            </a:r>
            <a:endParaRPr lang="en-US" sz="1500" dirty="0"/>
          </a:p>
          <a:p>
            <a:pPr algn="l" marL="342900" indent="-342900">
              <a:spcAft>
                <a:spcPts val="800"/>
              </a:spcAft>
              <a:buSzPct val="100000"/>
              <a:buChar char="•"/>
            </a:pPr>
            <a:r>
              <a:rPr lang="en-US" altLang="en-US" sz="1500" b="1" dirty="0">
                <a:solidFill>
                  <a:srgbClr val="2B2620"/>
                </a:solidFill>
              </a:rPr>
              <a:t>6 to 13 mm</a:t>
            </a:r>
            <a:pPr algn="l" marL="342900" indent="-342900">
              <a:spcAft>
                <a:spcPts val="800"/>
              </a:spcAft>
              <a:buSzPct val="100000"/>
              <a:buChar char="•"/>
            </a:pPr>
            <a:r>
              <a:rPr lang="en-US" altLang="en-US" sz="1500" dirty="0">
                <a:solidFill>
                  <a:srgbClr val="2B2620"/>
                </a:solidFill>
              </a:rPr>
              <a:t>: bevel no steeper than </a:t>
            </a:r>
            <a:pPr algn="l" marL="342900" indent="-342900">
              <a:spcAft>
                <a:spcPts val="800"/>
              </a:spcAft>
              <a:buSzPct val="100000"/>
              <a:buChar char="•"/>
            </a:pPr>
            <a:r>
              <a:rPr lang="en-US" altLang="en-US" sz="1500" b="1" dirty="0">
                <a:solidFill>
                  <a:srgbClr val="2B2620"/>
                </a:solidFill>
              </a:rPr>
              <a:t>1:2</a:t>
            </a:r>
            <a:pPr algn="l" marL="342900" indent="-342900">
              <a:spcAft>
                <a:spcPts val="800"/>
              </a:spcAft>
              <a:buSzPct val="100000"/>
              <a:buChar char="•"/>
            </a:pPr>
            <a:r>
              <a:rPr lang="en-US" altLang="en-US" sz="1500" dirty="0">
                <a:solidFill>
                  <a:srgbClr val="2B2620"/>
                </a:solidFill>
              </a:rPr>
              <a:t>.</a:t>
            </a:r>
            <a:endParaRPr lang="en-US" sz="1500" dirty="0"/>
          </a:p>
          <a:p>
            <a:pPr algn="l" marL="342900" indent="-342900">
              <a:spcAft>
                <a:spcPts val="800"/>
              </a:spcAft>
              <a:buSzPct val="100000"/>
              <a:buChar char="•"/>
            </a:pPr>
            <a:r>
              <a:rPr lang="en-US" altLang="en-US" sz="1500" dirty="0">
                <a:solidFill>
                  <a:srgbClr val="2B2620"/>
                </a:solidFill>
              </a:rPr>
              <a:t>Anything more is treated as a ramp.</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Finishes and specifications</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b="1" dirty="0">
                <a:solidFill>
                  <a:srgbClr val="2B2620"/>
                </a:solidFill>
              </a:rPr>
              <a:t>Matt</a:t>
            </a:r>
            <a:pPr algn="l" indent="0" marL="0">
              <a:buNone/>
            </a:pPr>
            <a:r>
              <a:rPr lang="en-US" altLang="en-US" sz="1400" dirty="0">
                <a:solidFill>
                  <a:srgbClr val="2B2620"/>
                </a:solidFill>
              </a:rPr>
              <a:t> for ceilings and rooms, </a:t>
            </a:r>
            <a:pPr algn="l" indent="0" marL="0">
              <a:buNone/>
            </a:pPr>
            <a:r>
              <a:rPr lang="en-US" altLang="en-US" sz="1400" b="1" dirty="0">
                <a:solidFill>
                  <a:srgbClr val="2B2620"/>
                </a:solidFill>
              </a:rPr>
              <a:t>eggshell/semi-gloss</a:t>
            </a:r>
            <a:pPr algn="l" indent="0" marL="0">
              <a:buNone/>
            </a:pPr>
            <a:r>
              <a:rPr lang="en-US" altLang="en-US" sz="1400" dirty="0">
                <a:solidFill>
                  <a:srgbClr val="2B2620"/>
                </a:solidFill>
              </a:rPr>
              <a:t> for kitchens, bathrooms and corridors (washable).</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Scrub resistance and cleanability are product properties written into the specification.</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Walls must be </a:t>
            </a:r>
            <a:pPr algn="l" indent="0" marL="0">
              <a:buNone/>
            </a:pPr>
            <a:r>
              <a:rPr lang="en-US" altLang="en-US" sz="1400" b="1" dirty="0">
                <a:solidFill>
                  <a:srgbClr val="2B2620"/>
                </a:solidFill>
              </a:rPr>
              <a:t>dry and flat</a:t>
            </a:r>
            <a:pPr algn="l" indent="0" marL="0">
              <a:buNone/>
            </a:pPr>
            <a:r>
              <a:rPr lang="en-US" altLang="en-US" sz="1400" dirty="0">
                <a:solidFill>
                  <a:srgbClr val="2B2620"/>
                </a:solidFill>
              </a:rPr>
              <a:t> with a primer before wallpaper.</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Timber and slat cladding on </a:t>
            </a:r>
            <a:pPr algn="l" indent="0" marL="0">
              <a:buNone/>
            </a:pPr>
            <a:r>
              <a:rPr lang="en-US" altLang="en-US" sz="1400" b="1" dirty="0">
                <a:solidFill>
                  <a:srgbClr val="2B2620"/>
                </a:solidFill>
              </a:rPr>
              <a:t>battens</a:t>
            </a:r>
            <a:pPr algn="l" indent="0" marL="0">
              <a:buNone/>
            </a:pPr>
            <a:r>
              <a:rPr lang="en-US" altLang="en-US" sz="1400" dirty="0">
                <a:solidFill>
                  <a:srgbClr val="2B2620"/>
                </a:solidFill>
              </a:rPr>
              <a:t> with a ventilation gap.</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Finishes in corridors and escape routes must have a </a:t>
            </a:r>
            <a:pPr algn="l" indent="0" marL="0">
              <a:buNone/>
            </a:pPr>
            <a:r>
              <a:rPr lang="en-US" altLang="en-US" sz="1400" b="1" dirty="0">
                <a:solidFill>
                  <a:srgbClr val="2B2620"/>
                </a:solidFill>
              </a:rPr>
              <a:t>low flame-spread class</a:t>
            </a:r>
            <a:pPr algn="l" indent="0" marL="0">
              <a:buNone/>
            </a:pPr>
            <a:r>
              <a:rPr lang="en-US" altLang="en-US" sz="1400" dirty="0">
                <a:solidFill>
                  <a:srgbClr val="2B2620"/>
                </a:solidFill>
              </a:rPr>
              <a:t> per code.</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Saudi Arabia: SBC 801 and SBC 201 Chapter 8 (interior finishes). Egypt: Egyptian fire protection code. Check the official text.</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Millwork and casework</a:t>
            </a:r>
            <a:endParaRPr lang="en-US" sz="3000" dirty="0"/>
          </a:p>
        </p:txBody>
      </p:sp>
      <p:sp>
        <p:nvSpPr>
          <p:cNvPr id="3" name="figure-frame"/>
          <p:cNvSpPr/>
          <p:nvPr/>
        </p:nvSpPr>
        <p:spPr>
          <a:xfrm>
            <a:off x="6065215" y="1325880"/>
            <a:ext cx="5669280" cy="3014570"/>
          </a:xfrm>
          <a:prstGeom prst="roundRect">
            <a:avLst>
              <a:gd name="adj" fmla="val 3033"/>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6156655" y="1417320"/>
            <a:ext cx="5486400" cy="2831690"/>
          </a:xfrm>
          <a:prstGeom prst="rect">
            <a:avLst/>
          </a:prstGeom>
        </p:spPr>
      </p:pic>
      <p:sp>
        <p:nvSpPr>
          <p:cNvPr id="5" name="Text 2"/>
          <p:cNvSpPr txBox="1"/>
          <p:nvPr/>
        </p:nvSpPr>
        <p:spPr>
          <a:xfrm>
            <a:off x="6156655" y="4386170"/>
            <a:ext cx="5486400" cy="365760"/>
          </a:xfrm>
          <a:prstGeom prst="rect">
            <a:avLst/>
          </a:prstGeom>
          <a:noFill/>
          <a:ln/>
        </p:spPr>
        <p:txBody>
          <a:bodyPr wrap="square" rtlCol="0" anchor="ctr"/>
          <a:lstStyle/>
          <a:p>
            <a:pPr algn="ctr" indent="0" marL="0">
              <a:buNone/>
            </a:pPr>
            <a:r>
              <a:rPr lang="en-US" altLang="en-US" sz="1100" i="1" dirty="0">
                <a:solidFill>
                  <a:srgbClr val="6B6152"/>
                </a:solidFill>
              </a:rPr>
              <a:t>Kitchen section: base and wall units</a:t>
            </a:r>
            <a:endParaRPr lang="en-US" sz="1100" dirty="0"/>
          </a:p>
        </p:txBody>
      </p:sp>
      <p:sp>
        <p:nvSpPr>
          <p:cNvPr id="6" name="Text 3"/>
          <p:cNvSpPr txBox="1"/>
          <p:nvPr/>
        </p:nvSpPr>
        <p:spPr>
          <a:xfrm>
            <a:off x="548640" y="1325880"/>
            <a:ext cx="5212080" cy="4480560"/>
          </a:xfrm>
          <a:prstGeom prst="rect">
            <a:avLst/>
          </a:prstGeom>
          <a:noFill/>
          <a:ln/>
        </p:spPr>
        <p:txBody>
          <a:bodyPr wrap="square" rtlCol="0" anchor="t"/>
          <a:lstStyle/>
          <a:p>
            <a:pPr algn="l" marL="342900" indent="-342900">
              <a:spcAft>
                <a:spcPts val="800"/>
              </a:spcAft>
              <a:buSzPct val="100000"/>
              <a:buChar char="•"/>
            </a:pPr>
            <a:r>
              <a:rPr lang="en-US" altLang="en-US" sz="1500" b="1" dirty="0">
                <a:solidFill>
                  <a:srgbClr val="2B2620"/>
                </a:solidFill>
              </a:rPr>
              <a:t>MDF</a:t>
            </a:r>
            <a:pPr algn="l" marL="342900" indent="-342900">
              <a:spcAft>
                <a:spcPts val="800"/>
              </a:spcAft>
              <a:buSzPct val="100000"/>
              <a:buChar char="•"/>
            </a:pPr>
            <a:r>
              <a:rPr lang="en-US" altLang="en-US" sz="1500" dirty="0">
                <a:solidFill>
                  <a:srgbClr val="2B2620"/>
                </a:solidFill>
              </a:rPr>
              <a:t> (smooth for paint and acrylic), </a:t>
            </a:r>
            <a:pPr algn="l" marL="342900" indent="-342900">
              <a:spcAft>
                <a:spcPts val="800"/>
              </a:spcAft>
              <a:buSzPct val="100000"/>
              <a:buChar char="•"/>
            </a:pPr>
            <a:r>
              <a:rPr lang="en-US" altLang="en-US" sz="1500" b="1" dirty="0">
                <a:solidFill>
                  <a:srgbClr val="2B2620"/>
                </a:solidFill>
              </a:rPr>
              <a:t>particleboard / melamine</a:t>
            </a:r>
            <a:pPr algn="l" marL="342900" indent="-342900">
              <a:spcAft>
                <a:spcPts val="800"/>
              </a:spcAft>
              <a:buSzPct val="100000"/>
              <a:buChar char="•"/>
            </a:pPr>
            <a:r>
              <a:rPr lang="en-US" altLang="en-US" sz="1500" dirty="0">
                <a:solidFill>
                  <a:srgbClr val="2B2620"/>
                </a:solidFill>
              </a:rPr>
              <a:t> (economical), </a:t>
            </a:r>
            <a:pPr algn="l" marL="342900" indent="-342900">
              <a:spcAft>
                <a:spcPts val="800"/>
              </a:spcAft>
              <a:buSzPct val="100000"/>
              <a:buChar char="•"/>
            </a:pPr>
            <a:r>
              <a:rPr lang="en-US" altLang="en-US" sz="1500" b="1" dirty="0">
                <a:solidFill>
                  <a:srgbClr val="2B2620"/>
                </a:solidFill>
              </a:rPr>
              <a:t>plywood</a:t>
            </a:r>
            <a:pPr algn="l" marL="342900" indent="-342900">
              <a:spcAft>
                <a:spcPts val="800"/>
              </a:spcAft>
              <a:buSzPct val="100000"/>
              <a:buChar char="•"/>
            </a:pPr>
            <a:r>
              <a:rPr lang="en-US" altLang="en-US" sz="1500" dirty="0">
                <a:solidFill>
                  <a:srgbClr val="2B2620"/>
                </a:solidFill>
              </a:rPr>
              <a:t> (stronger, more moisture resistant), …</a:t>
            </a:r>
            <a:endParaRPr lang="en-US" sz="1500" dirty="0"/>
          </a:p>
          <a:p>
            <a:pPr algn="l" marL="342900" indent="-342900">
              <a:spcAft>
                <a:spcPts val="800"/>
              </a:spcAft>
              <a:buSzPct val="100000"/>
              <a:buChar char="•"/>
            </a:pPr>
            <a:r>
              <a:rPr lang="en-US" altLang="en-US" sz="1500" b="1" dirty="0">
                <a:solidFill>
                  <a:srgbClr val="2B2620"/>
                </a:solidFill>
              </a:rPr>
              <a:t>Edge banding</a:t>
            </a:r>
            <a:pPr algn="l" marL="342900" indent="-342900">
              <a:spcAft>
                <a:spcPts val="800"/>
              </a:spcAft>
              <a:buSzPct val="100000"/>
              <a:buChar char="•"/>
            </a:pPr>
            <a:r>
              <a:rPr lang="en-US" altLang="en-US" sz="1500" dirty="0">
                <a:solidFill>
                  <a:srgbClr val="2B2620"/>
                </a:solidFill>
              </a:rPr>
              <a:t> on all exposed edges.</a:t>
            </a:r>
            <a:endParaRPr lang="en-US" sz="1500" dirty="0"/>
          </a:p>
          <a:p>
            <a:pPr algn="l" marL="342900" indent="-342900">
              <a:spcAft>
                <a:spcPts val="800"/>
              </a:spcAft>
              <a:buSzPct val="100000"/>
              <a:buChar char="•"/>
            </a:pPr>
            <a:r>
              <a:rPr lang="en-US" altLang="en-US" sz="1500" dirty="0">
                <a:solidFill>
                  <a:srgbClr val="2B2620"/>
                </a:solidFill>
              </a:rPr>
              <a:t>Hinges and runners (soft close / tandem) specified by load and cycles.</a:t>
            </a:r>
            <a:endParaRPr lang="en-US" sz="15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Furniture</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Circulation</a:t>
            </a:r>
            <a:pPr algn="l" indent="0" marL="0">
              <a:buNone/>
            </a:pPr>
            <a:r>
              <a:rPr lang="en-US" altLang="en-US" sz="1400" dirty="0">
                <a:solidFill>
                  <a:srgbClr val="2B2620"/>
                </a:solidFill>
              </a:rPr>
              <a:t>: 75–90 cm around furniture in homes, more in commercial spaces.</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Dining</a:t>
            </a:r>
            <a:pPr algn="l" indent="0" marL="0">
              <a:buNone/>
            </a:pPr>
            <a:r>
              <a:rPr lang="en-US" altLang="en-US" sz="1400" dirty="0">
                <a:solidFill>
                  <a:srgbClr val="2B2620"/>
                </a:solidFill>
              </a:rPr>
              <a:t>: 60 cm per person, 90–120 cm behind chairs.</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Living</a:t>
            </a:r>
            <a:pPr algn="l" indent="0" marL="0">
              <a:buNone/>
            </a:pPr>
            <a:r>
              <a:rPr lang="en-US" altLang="en-US" sz="1400" dirty="0">
                <a:solidFill>
                  <a:srgbClr val="2B2620"/>
                </a:solidFill>
              </a:rPr>
              <a:t>: coffee table 40–45 cm from the sofa, facing sofas about 2.4–3.0 m apart for easy conversation.</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Offices</a:t>
            </a:r>
            <a:pPr algn="l" indent="0" marL="0">
              <a:buNone/>
            </a:pPr>
            <a:r>
              <a:rPr lang="en-US" altLang="en-US" sz="1400" dirty="0">
                <a:solidFill>
                  <a:srgbClr val="2B2620"/>
                </a:solidFill>
              </a:rPr>
              <a:t>: desk 72–75 cm, 80–100 cm behind the chair.</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Lighting</a:t>
            </a:r>
            <a:endParaRPr lang="en-US" sz="3000" dirty="0"/>
          </a:p>
        </p:txBody>
      </p:sp>
      <p:sp>
        <p:nvSpPr>
          <p:cNvPr id="3" name="Text 1"/>
          <p:cNvSpPr txBox="1"/>
          <p:nvPr/>
        </p:nvSpPr>
        <p:spPr>
          <a:xfrm>
            <a:off x="548640" y="1280160"/>
            <a:ext cx="11094415" cy="822960"/>
          </a:xfrm>
          <a:prstGeom prst="rect">
            <a:avLst/>
          </a:prstGeom>
          <a:noFill/>
          <a:ln/>
        </p:spPr>
        <p:txBody>
          <a:bodyPr wrap="square" rtlCol="0" anchor="t"/>
          <a:lstStyle/>
          <a:p>
            <a:pPr algn="l" marL="342900" indent="-342900">
              <a:spcAft>
                <a:spcPts val="800"/>
              </a:spcAft>
              <a:buSzPct val="100000"/>
              <a:buChar char="•"/>
            </a:pPr>
            <a:r>
              <a:rPr lang="en-US" altLang="en-US" sz="1400" b="1" dirty="0">
                <a:solidFill>
                  <a:srgbClr val="2B2620"/>
                </a:solidFill>
              </a:rPr>
              <a:t>Ambient</a:t>
            </a:r>
            <a:pPr algn="l" marL="342900" indent="-342900">
              <a:spcAft>
                <a:spcPts val="800"/>
              </a:spcAft>
              <a:buSzPct val="100000"/>
              <a:buChar char="•"/>
            </a:pPr>
            <a:r>
              <a:rPr lang="en-US" altLang="en-US" sz="1400" dirty="0">
                <a:solidFill>
                  <a:srgbClr val="2B2620"/>
                </a:solidFill>
              </a:rPr>
              <a:t>: ceiling lights and downlights.</a:t>
            </a:r>
            <a:endParaRPr lang="en-US" sz="1400" dirty="0"/>
          </a:p>
          <a:p>
            <a:pPr algn="l" marL="342900" indent="-342900">
              <a:spcAft>
                <a:spcPts val="800"/>
              </a:spcAft>
              <a:buSzPct val="100000"/>
              <a:buChar char="•"/>
            </a:pPr>
            <a:r>
              <a:rPr lang="en-US" altLang="en-US" sz="1400" b="1" dirty="0">
                <a:solidFill>
                  <a:srgbClr val="2B2620"/>
                </a:solidFill>
              </a:rPr>
              <a:t>Task</a:t>
            </a:r>
            <a:pPr algn="l" marL="342900" indent="-342900">
              <a:spcAft>
                <a:spcPts val="800"/>
              </a:spcAft>
              <a:buSzPct val="100000"/>
              <a:buChar char="•"/>
            </a:pPr>
            <a:r>
              <a:rPr lang="en-US" altLang="en-US" sz="1400" dirty="0">
                <a:solidFill>
                  <a:srgbClr val="2B2620"/>
                </a:solidFill>
              </a:rPr>
              <a:t>: under-cabinet kitchen lights, desk lamps.</a:t>
            </a:r>
            <a:endParaRPr lang="en-US" sz="14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2194560"/>
          <a:ext cx="11094415" cy="914400"/>
        </p:xfrm>
        <a:graphic>
          <a:graphicData uri="http://schemas.openxmlformats.org/drawingml/2006/table">
            <a:tbl>
              <a:tblPr/>
              <a:tblGrid>
                <a:gridCol w="3698138"/>
                <a:gridCol w="3698138"/>
                <a:gridCol w="3698138"/>
              </a:tblGrid>
              <a:tr h="384048">
                <a:tc>
                  <a:txBody>
                    <a:bodyPr/>
                    <a:lstStyle/>
                    <a:p>
                      <a:pPr algn="l" indent="0" marL="0">
                        <a:buNone/>
                      </a:pPr>
                      <a:r>
                        <a:rPr lang="en-US" altLang="en-US" sz="1300" b="1" dirty="0">
                          <a:solidFill>
                            <a:srgbClr val="FFFFFF"/>
                          </a:solidFill>
                        </a:rPr>
                        <a:t>Space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Illuminance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c>
                  <a:txBody>
                    <a:bodyPr/>
                    <a:lstStyle/>
                    <a:p>
                      <a:pPr algn="l" indent="0" marL="0">
                        <a:buNone/>
                      </a:pPr>
                      <a:r>
                        <a:rPr lang="en-US" altLang="en-US" sz="1300" b="1" dirty="0">
                          <a:solidFill>
                            <a:srgbClr val="FFFFFF"/>
                          </a:solidFill>
                        </a:rPr>
                        <a:t>Colour temperature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2B2620"/>
                    </a:solidFill>
                  </a:tcPr>
                </a:tc>
              </a:tr>
              <a:tr h="384048">
                <a:tc>
                  <a:txBody>
                    <a:bodyPr/>
                    <a:lstStyle/>
                    <a:p>
                      <a:pPr algn="l" indent="0" marL="0">
                        <a:buNone/>
                      </a:pPr>
                      <a:r>
                        <a:rPr lang="en-US" altLang="en-US" sz="1300" dirty="0">
                          <a:solidFill>
                            <a:srgbClr val="2B2620"/>
                          </a:solidFill>
                        </a:rPr>
                        <a:t>Living and bedrooms</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150–300 lux</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2700–3000K</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Kitchen worktop</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300–500 lux</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3000–4000K</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Bathroom (mirror)</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300 lux on the face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3000–4000K</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r h="384048">
                <a:tc>
                  <a:txBody>
                    <a:bodyPr/>
                    <a:lstStyle/>
                    <a:p>
                      <a:pPr algn="l" indent="0" marL="0">
                        <a:buNone/>
                      </a:pPr>
                      <a:r>
                        <a:rPr lang="en-US" altLang="en-US" sz="1300" dirty="0">
                          <a:solidFill>
                            <a:srgbClr val="2B2620"/>
                          </a:solidFill>
                        </a:rPr>
                        <a:t>Office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500 lux</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c>
                  <a:txBody>
                    <a:bodyPr/>
                    <a:lstStyle/>
                    <a:p>
                      <a:pPr algn="l" indent="0" marL="0">
                        <a:buNone/>
                      </a:pPr>
                      <a:r>
                        <a:rPr lang="en-US" altLang="en-US" sz="1300" dirty="0">
                          <a:solidFill>
                            <a:srgbClr val="2B2620"/>
                          </a:solidFill>
                        </a:rPr>
                        <a:t>4000K</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7F2E8"/>
                    </a:solidFill>
                  </a:tcPr>
                </a:tc>
              </a:tr>
              <a:tr h="384048">
                <a:tc>
                  <a:txBody>
                    <a:bodyPr/>
                    <a:lstStyle/>
                    <a:p>
                      <a:pPr algn="l" indent="0" marL="0">
                        <a:buNone/>
                      </a:pPr>
                      <a:r>
                        <a:rPr lang="en-US" altLang="en-US" sz="1300" dirty="0">
                          <a:solidFill>
                            <a:srgbClr val="2B2620"/>
                          </a:solidFill>
                        </a:rPr>
                        <a:t>Retail display</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750–1500 lux on merchandise</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c>
                  <a:txBody>
                    <a:bodyPr/>
                    <a:lstStyle/>
                    <a:p>
                      <a:pPr algn="l" indent="0" marL="0">
                        <a:buNone/>
                      </a:pPr>
                      <a:r>
                        <a:rPr lang="en-US" altLang="en-US" sz="1300" dirty="0">
                          <a:solidFill>
                            <a:srgbClr val="2B2620"/>
                          </a:solidFill>
                        </a:rPr>
                        <a:t>product dependent</a:t>
                      </a:r>
                      <a:endParaRPr lang="en-US" sz="1300" dirty="0"/>
                    </a:p>
                  </a:txBody>
                  <a:tcPr marL="91440" marR="91440" marT="45720" marB="45720" anchor="ctr">
                    <a:lnL w="9525" cap="flat" cmpd="sng" algn="ctr">
                      <a:solidFill>
                        <a:srgbClr val="DDD3C1"/>
                      </a:solidFill>
                      <a:prstDash val="solid"/>
                      <a:round/>
                      <a:headEnd type="none" w="med" len="med"/>
                      <a:tailEnd type="none" w="med" len="med"/>
                    </a:lnL>
                    <a:lnR w="9525" cap="flat" cmpd="sng" algn="ctr">
                      <a:solidFill>
                        <a:srgbClr val="DDD3C1"/>
                      </a:solidFill>
                      <a:prstDash val="solid"/>
                      <a:round/>
                      <a:headEnd type="none" w="med" len="med"/>
                      <a:tailEnd type="none" w="med" len="med"/>
                    </a:lnR>
                    <a:lnT w="9525" cap="flat" cmpd="sng" algn="ctr">
                      <a:solidFill>
                        <a:srgbClr val="DDD3C1"/>
                      </a:solidFill>
                      <a:prstDash val="solid"/>
                      <a:round/>
                      <a:headEnd type="none" w="med" len="med"/>
                      <a:tailEnd type="none" w="med" len="med"/>
                    </a:lnT>
                    <a:lnB w="9525" cap="flat" cmpd="sng" algn="ctr">
                      <a:solidFill>
                        <a:srgbClr val="DDD3C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Acoustics</a:t>
            </a:r>
            <a:endParaRPr lang="en-US" sz="3000" dirty="0"/>
          </a:p>
        </p:txBody>
      </p:sp>
      <p:sp>
        <p:nvSpPr>
          <p:cNvPr id="3" name="card0"/>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Insulation</a:t>
            </a:r>
            <a:pPr algn="l" indent="0" marL="0">
              <a:buNone/>
            </a:pPr>
            <a:r>
              <a:rPr lang="en-US" altLang="en-US" sz="1400" dirty="0">
                <a:solidFill>
                  <a:srgbClr val="2B2620"/>
                </a:solidFill>
              </a:rPr>
              <a:t> (stopping sound passing) depends on mass, separation and airtightness.</a:t>
            </a:r>
            <a:endParaRPr lang="en-US" sz="1400" dirty="0"/>
          </a:p>
        </p:txBody>
      </p:sp>
      <p:sp>
        <p:nvSpPr>
          <p:cNvPr id="7" name="card1"/>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6415888" y="1554480"/>
            <a:ext cx="457200" cy="457200"/>
          </a:xfrm>
          <a:prstGeom prst="ellipse">
            <a:avLst/>
          </a:prstGeom>
          <a:solidFill>
            <a:schemeClr val="accent2"/>
          </a:solidFill>
          <a:ln/>
        </p:spPr>
      </p:sp>
      <p:sp>
        <p:nvSpPr>
          <p:cNvPr id="9" name="Text 7"/>
          <p:cNvSpPr txBox="1"/>
          <p:nvPr/>
        </p:nvSpPr>
        <p:spPr>
          <a:xfrm>
            <a:off x="641588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6415888" y="2103120"/>
            <a:ext cx="5044288" cy="914400"/>
          </a:xfrm>
          <a:prstGeom prst="rect">
            <a:avLst/>
          </a:prstGeom>
          <a:noFill/>
          <a:ln/>
        </p:spPr>
        <p:txBody>
          <a:bodyPr wrap="square" rtlCol="0" anchor="t"/>
          <a:lstStyle/>
          <a:p>
            <a:pPr algn="l" indent="0" marL="0">
              <a:buNone/>
            </a:pPr>
            <a:r>
              <a:rPr lang="en-US" altLang="en-US" sz="1400" b="1" dirty="0">
                <a:solidFill>
                  <a:srgbClr val="2B2620"/>
                </a:solidFill>
              </a:rPr>
              <a:t>Absorption</a:t>
            </a:r>
            <a:pPr algn="l" indent="0" marL="0">
              <a:buNone/>
            </a:pPr>
            <a:r>
              <a:rPr lang="en-US" altLang="en-US" sz="1400" dirty="0">
                <a:solidFill>
                  <a:srgbClr val="2B2620"/>
                </a:solidFill>
              </a:rPr>
              <a:t> (reducing echo) depends on porous materials: carpet, curtains, acoustic panels.</a:t>
            </a:r>
            <a:endParaRPr lang="en-US" sz="1400" dirty="0"/>
          </a:p>
        </p:txBody>
      </p:sp>
      <p:sp>
        <p:nvSpPr>
          <p:cNvPr id="11" name="card2"/>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731520" y="3566160"/>
            <a:ext cx="457200" cy="457200"/>
          </a:xfrm>
          <a:prstGeom prst="ellipse">
            <a:avLst/>
          </a:prstGeom>
          <a:solidFill>
            <a:schemeClr val="accent2"/>
          </a:solidFill>
          <a:ln/>
        </p:spPr>
      </p:sp>
      <p:sp>
        <p:nvSpPr>
          <p:cNvPr id="13" name="Text 11"/>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4114800"/>
            <a:ext cx="5044288" cy="914400"/>
          </a:xfrm>
          <a:prstGeom prst="rect">
            <a:avLst/>
          </a:prstGeom>
          <a:noFill/>
          <a:ln/>
        </p:spPr>
        <p:txBody>
          <a:bodyPr wrap="square" rtlCol="0" anchor="t"/>
          <a:lstStyle/>
          <a:p>
            <a:pPr algn="l" indent="0" marL="0">
              <a:buNone/>
            </a:pPr>
            <a:r>
              <a:rPr lang="en-US" altLang="en-US" sz="1400" dirty="0">
                <a:solidFill>
                  <a:srgbClr val="2B2620"/>
                </a:solidFill>
              </a:rPr>
              <a:t>Between dwellings: airborne sound insulation of about </a:t>
            </a:r>
            <a:pPr algn="l" indent="0" marL="0">
              <a:buNone/>
            </a:pPr>
            <a:r>
              <a:rPr lang="en-US" altLang="en-US" sz="1400" b="1" dirty="0">
                <a:solidFill>
                  <a:srgbClr val="2B2620"/>
                </a:solidFill>
              </a:rPr>
              <a:t>STC 50</a:t>
            </a:r>
            <a:pPr algn="l" indent="0" marL="0">
              <a:buNone/>
            </a:pPr>
            <a:r>
              <a:rPr lang="en-US" altLang="en-US" sz="1400" dirty="0">
                <a:solidFill>
                  <a:srgbClr val="2B2620"/>
                </a:solidFill>
              </a:rPr>
              <a:t> or more.</a:t>
            </a:r>
            <a:endParaRPr lang="en-US" sz="1400" dirty="0"/>
          </a:p>
        </p:txBody>
      </p:sp>
      <p:sp>
        <p:nvSpPr>
          <p:cNvPr id="15" name="card3"/>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6415888" y="3566160"/>
            <a:ext cx="457200" cy="457200"/>
          </a:xfrm>
          <a:prstGeom prst="ellipse">
            <a:avLst/>
          </a:prstGeom>
          <a:solidFill>
            <a:schemeClr val="accent2"/>
          </a:solidFill>
          <a:ln/>
        </p:spPr>
      </p:sp>
      <p:sp>
        <p:nvSpPr>
          <p:cNvPr id="17" name="Text 15"/>
          <p:cNvSpPr txBox="1"/>
          <p:nvPr/>
        </p:nvSpPr>
        <p:spPr>
          <a:xfrm>
            <a:off x="641588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6415888" y="4114800"/>
            <a:ext cx="5044288" cy="914400"/>
          </a:xfrm>
          <a:prstGeom prst="rect">
            <a:avLst/>
          </a:prstGeom>
          <a:noFill/>
          <a:ln/>
        </p:spPr>
        <p:txBody>
          <a:bodyPr wrap="square" rtlCol="0" anchor="t"/>
          <a:lstStyle/>
          <a:p>
            <a:pPr algn="l" indent="0" marL="0">
              <a:buNone/>
            </a:pPr>
            <a:r>
              <a:rPr lang="en-US" altLang="en-US" sz="1400" b="1" dirty="0">
                <a:solidFill>
                  <a:srgbClr val="2B2620"/>
                </a:solidFill>
              </a:rPr>
              <a:t>Back-to-back sockets</a:t>
            </a:r>
            <a:pPr algn="l" indent="0" marL="0">
              <a:buNone/>
            </a:pPr>
            <a:r>
              <a:rPr lang="en-US" altLang="en-US" sz="1400" dirty="0">
                <a:solidFill>
                  <a:srgbClr val="2B2620"/>
                </a:solidFill>
              </a:rPr>
              <a:t> in a partition must be offset so sound does not pass.</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Interiors by building type</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Separate public and private, enough storage, daylight.</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Flexible partitions, sometimes raised floors, acoustics in open plan.</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Durable finishes, fire performance, easy maintenance.</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Circulation routes, light on the product, flexibility to change displays.</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Easy-to-disinfect surfaces, coved corners, seamless floors.</a:t>
            </a:r>
            <a:endParaRPr lang="en-US" sz="14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algn="l" indent="0" marL="0">
              <a:buNone/>
            </a:pPr>
            <a:r>
              <a:rPr lang="en-US" altLang="en-US" sz="3000" b="1" dirty="0">
                <a:solidFill>
                  <a:srgbClr val="2B2620"/>
                </a:solidFill>
              </a:rPr>
              <a:t>Eng. Omar Khamis's takeaways</a:t>
            </a:r>
            <a:endParaRPr lang="en-US" sz="3000" dirty="0"/>
          </a:p>
        </p:txBody>
      </p:sp>
      <p:sp>
        <p:nvSpPr>
          <p:cNvPr id="3" name="card0"/>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731520" y="1554480"/>
            <a:ext cx="457200" cy="457200"/>
          </a:xfrm>
          <a:prstGeom prst="ellipse">
            <a:avLst/>
          </a:prstGeom>
          <a:solidFill>
            <a:schemeClr val="accent2"/>
          </a:solidFill>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731520" y="2103120"/>
            <a:ext cx="3149498" cy="914400"/>
          </a:xfrm>
          <a:prstGeom prst="rect">
            <a:avLst/>
          </a:prstGeom>
          <a:noFill/>
          <a:ln/>
        </p:spPr>
        <p:txBody>
          <a:bodyPr wrap="square" rtlCol="0" anchor="t"/>
          <a:lstStyle/>
          <a:p>
            <a:pPr algn="l" indent="0" marL="0">
              <a:buNone/>
            </a:pPr>
            <a:r>
              <a:rPr lang="en-US" altLang="en-US" sz="1400" dirty="0">
                <a:solidFill>
                  <a:srgbClr val="2B2620"/>
                </a:solidFill>
              </a:rPr>
              <a:t>Every interior decision must become a </a:t>
            </a:r>
            <a:pPr algn="l" indent="0" marL="0">
              <a:buNone/>
            </a:pPr>
            <a:r>
              <a:rPr lang="en-US" altLang="en-US" sz="1400" b="1" dirty="0">
                <a:solidFill>
                  <a:srgbClr val="2B2620"/>
                </a:solidFill>
              </a:rPr>
              <a:t>specification + detail + dimension</a:t>
            </a:r>
            <a:pPr algn="l" indent="0" marL="0">
              <a:buNone/>
            </a:pPr>
            <a:r>
              <a:rPr lang="en-US" altLang="en-US" sz="1400" dirty="0">
                <a:solidFill>
                  <a:srgbClr val="2B2620"/>
                </a:solidFill>
              </a:rPr>
              <a:t>.</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4521098" y="1554480"/>
            <a:ext cx="457200" cy="457200"/>
          </a:xfrm>
          <a:prstGeom prst="ellipse">
            <a:avLst/>
          </a:prstGeom>
          <a:solidFill>
            <a:schemeClr val="accent2"/>
          </a:solidFill>
          <a:ln/>
        </p:spPr>
      </p:sp>
      <p:sp>
        <p:nvSpPr>
          <p:cNvPr id="9" name="Text 7"/>
          <p:cNvSpPr txBox="1"/>
          <p:nvPr/>
        </p:nvSpPr>
        <p:spPr>
          <a:xfrm>
            <a:off x="452109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algn="l" indent="0" marL="0">
              <a:buNone/>
            </a:pPr>
            <a:r>
              <a:rPr lang="en-US" altLang="en-US" sz="1400" dirty="0">
                <a:solidFill>
                  <a:srgbClr val="2B2620"/>
                </a:solidFill>
              </a:rPr>
              <a:t>Put </a:t>
            </a:r>
            <a:pPr algn="l" indent="0" marL="0">
              <a:buNone/>
            </a:pPr>
            <a:r>
              <a:rPr lang="en-US" altLang="en-US" sz="1400" b="1" dirty="0">
                <a:solidFill>
                  <a:srgbClr val="2B2620"/>
                </a:solidFill>
              </a:rPr>
              <a:t>backing</a:t>
            </a:r>
            <a:pPr algn="l" indent="0" marL="0">
              <a:buNone/>
            </a:pPr>
            <a:r>
              <a:rPr lang="en-US" altLang="en-US" sz="1400" dirty="0">
                <a:solidFill>
                  <a:srgbClr val="2B2620"/>
                </a:solidFill>
              </a:rPr>
              <a:t> inside partitions before closing them.</a:t>
            </a:r>
            <a:endParaRPr lang="en-US" sz="1400" dirty="0"/>
          </a:p>
        </p:txBody>
      </p:sp>
      <p:sp>
        <p:nvSpPr>
          <p:cNvPr id="11" name="card2"/>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8310677" y="1554480"/>
            <a:ext cx="457200" cy="457200"/>
          </a:xfrm>
          <a:prstGeom prst="ellipse">
            <a:avLst/>
          </a:prstGeom>
          <a:solidFill>
            <a:schemeClr val="accent2"/>
          </a:solidFill>
          <a:ln/>
        </p:spPr>
      </p:sp>
      <p:sp>
        <p:nvSpPr>
          <p:cNvPr id="13" name="Text 11"/>
          <p:cNvSpPr txBox="1"/>
          <p:nvPr/>
        </p:nvSpPr>
        <p:spPr>
          <a:xfrm>
            <a:off x="831067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8310677" y="2103120"/>
            <a:ext cx="3149498" cy="914400"/>
          </a:xfrm>
          <a:prstGeom prst="rect">
            <a:avLst/>
          </a:prstGeom>
          <a:noFill/>
          <a:ln/>
        </p:spPr>
        <p:txBody>
          <a:bodyPr wrap="square" rtlCol="0" anchor="t"/>
          <a:lstStyle/>
          <a:p>
            <a:pPr algn="l" indent="0" marL="0">
              <a:buNone/>
            </a:pPr>
            <a:r>
              <a:rPr lang="en-US" altLang="en-US" sz="1400" dirty="0">
                <a:solidFill>
                  <a:srgbClr val="2B2620"/>
                </a:solidFill>
              </a:rPr>
              <a:t>Suspended ceilings need </a:t>
            </a:r>
            <a:pPr algn="l" indent="0" marL="0">
              <a:buNone/>
            </a:pPr>
            <a:r>
              <a:rPr lang="en-US" altLang="en-US" sz="1400" b="1" dirty="0">
                <a:solidFill>
                  <a:srgbClr val="2B2620"/>
                </a:solidFill>
              </a:rPr>
              <a:t>coordination</a:t>
            </a:r>
            <a:pPr algn="l" indent="0" marL="0">
              <a:buNone/>
            </a:pPr>
            <a:r>
              <a:rPr lang="en-US" altLang="en-US" sz="1400" dirty="0">
                <a:solidFill>
                  <a:srgbClr val="2B2620"/>
                </a:solidFill>
              </a:rPr>
              <a:t> with HVAC, lighting and fire systems.</a:t>
            </a:r>
            <a:endParaRPr lang="en-US" sz="1400" dirty="0"/>
          </a:p>
        </p:txBody>
      </p:sp>
      <p:sp>
        <p:nvSpPr>
          <p:cNvPr id="15" name="card3"/>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731520" y="3566160"/>
            <a:ext cx="457200" cy="457200"/>
          </a:xfrm>
          <a:prstGeom prst="ellipse">
            <a:avLst/>
          </a:prstGeom>
          <a:solidFill>
            <a:schemeClr val="accent2"/>
          </a:solidFill>
          <a:ln/>
        </p:spPr>
      </p:sp>
      <p:sp>
        <p:nvSpPr>
          <p:cNvPr id="17" name="Text 15"/>
          <p:cNvSpPr txBox="1"/>
          <p:nvPr/>
        </p:nvSpPr>
        <p:spPr>
          <a:xfrm>
            <a:off x="7315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3149498" cy="914400"/>
          </a:xfrm>
          <a:prstGeom prst="rect">
            <a:avLst/>
          </a:prstGeom>
          <a:noFill/>
          <a:ln/>
        </p:spPr>
        <p:txBody>
          <a:bodyPr wrap="square" rtlCol="0" anchor="t"/>
          <a:lstStyle/>
          <a:p>
            <a:pPr algn="l" indent="0" marL="0">
              <a:buNone/>
            </a:pPr>
            <a:r>
              <a:rPr lang="en-US" altLang="en-US" sz="1400" dirty="0">
                <a:solidFill>
                  <a:srgbClr val="2B2620"/>
                </a:solidFill>
              </a:rPr>
              <a:t>Finishes on escape routes must meet the </a:t>
            </a:r>
            <a:pPr algn="l" indent="0" marL="0">
              <a:buNone/>
            </a:pPr>
            <a:r>
              <a:rPr lang="en-US" altLang="en-US" sz="1400" b="1" dirty="0">
                <a:solidFill>
                  <a:srgbClr val="2B2620"/>
                </a:solidFill>
              </a:rPr>
              <a:t>fire code</a:t>
            </a:r>
            <a:pPr algn="l" indent="0" marL="0">
              <a:buNone/>
            </a:pPr>
            <a:r>
              <a:rPr lang="en-US" altLang="en-US" sz="1400" dirty="0">
                <a:solidFill>
                  <a:srgbClr val="2B2620"/>
                </a:solidFill>
              </a:rPr>
              <a:t>.</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4521098" y="3566160"/>
            <a:ext cx="457200" cy="457200"/>
          </a:xfrm>
          <a:prstGeom prst="ellipse">
            <a:avLst/>
          </a:prstGeom>
          <a:solidFill>
            <a:schemeClr val="accent2"/>
          </a:solidFill>
          <a:ln/>
        </p:spPr>
      </p:sp>
      <p:sp>
        <p:nvSpPr>
          <p:cNvPr id="21" name="Text 19"/>
          <p:cNvSpPr txBox="1"/>
          <p:nvPr/>
        </p:nvSpPr>
        <p:spPr>
          <a:xfrm>
            <a:off x="452109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algn="l" indent="0" marL="0">
              <a:buNone/>
            </a:pPr>
            <a:r>
              <a:rPr lang="en-US" altLang="en-US" sz="1400" dirty="0">
                <a:solidFill>
                  <a:srgbClr val="2B2620"/>
                </a:solidFill>
              </a:rPr>
              <a:t>Lighting is </a:t>
            </a:r>
            <a:pPr algn="l" indent="0" marL="0">
              <a:buNone/>
            </a:pPr>
            <a:r>
              <a:rPr lang="en-US" altLang="en-US" sz="1400" b="1" dirty="0">
                <a:solidFill>
                  <a:srgbClr val="2B2620"/>
                </a:solidFill>
              </a:rPr>
              <a:t>layers</a:t>
            </a:r>
            <a:pPr algn="l" indent="0" marL="0">
              <a:buNone/>
            </a:pPr>
            <a:r>
              <a:rPr lang="en-US" altLang="en-US" sz="1400" dirty="0">
                <a:solidFill>
                  <a:srgbClr val="2B2620"/>
                </a:solidFill>
              </a:rPr>
              <a:t>; acoustics is </a:t>
            </a:r>
            <a:pPr algn="l" indent="0" marL="0">
              <a:buNone/>
            </a:pPr>
            <a:r>
              <a:rPr lang="en-US" altLang="en-US" sz="1400" b="1" dirty="0">
                <a:solidFill>
                  <a:srgbClr val="2B2620"/>
                </a:solidFill>
              </a:rPr>
              <a:t>insulation + absorption</a:t>
            </a:r>
            <a:pPr algn="l" indent="0" marL="0">
              <a:buNone/>
            </a:pPr>
            <a:r>
              <a:rPr lang="en-US" altLang="en-US" sz="1400" dirty="0">
                <a:solidFill>
                  <a:srgbClr val="2B2620"/>
                </a:solidFill>
              </a:rPr>
              <a:t>.</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algn="l" indent="0" marL="0">
              <a:buNone/>
            </a:pPr>
            <a:r>
              <a:rPr lang="en-US" altLang="en-US" sz="1200" i="1" dirty="0">
                <a:solidFill>
                  <a:srgbClr val="8A5A10"/>
                </a:solidFill>
              </a:rPr>
              <a:t>Summary by Eng. Omar Khamis — Omar Khamis Library for SketchUp.</a:t>
            </a:r>
            <a:endParaRPr lang="en-US" sz="1200" dirty="0"/>
          </a:p>
        </p:txBody>
      </p:sp>
      <p:sp>
        <p:nvSpPr>
          <p:cNvPr id="25" name="Slide Number Placeholder 0"/>
          <p:cNvSpPr>
            <a:spLocks noGrp="1"/>
          </p:cNvSpPr>
          <p:nvPr>
            <p:ph type="sldNum" sz="quarter" idx="4294967295"/>
          </p:nvPr>
        </p:nvSpPr>
        <p:spPr>
          <a:xfrm>
            <a:off x="11185855"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algn="ctr" indent="0" marL="0">
              <a:buNone/>
            </a:pPr>
            <a:r>
              <a:rPr lang="en-US" altLang="en-US" sz="4000" b="1" dirty="0">
                <a:solidFill>
                  <a:srgbClr val="FFFFFF"/>
                </a:solidFill>
              </a:rPr>
              <a:t>Thank you</a:t>
            </a: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algn="ctr" indent="0" marL="0">
              <a:buNone/>
            </a:pPr>
            <a:r>
              <a:rPr lang="en-US" altLang="en-US" sz="1800" dirty="0">
                <a:solidFill>
                  <a:srgbClr val="E3C278"/>
                </a:solidFill>
              </a:rPr>
              <a:t>Summary by Eng. Omar Khamis  •  +20 100 543 3170</a:t>
            </a:r>
            <a:endParaRPr lang="en-US" sz="1800" dirty="0"/>
          </a:p>
        </p:txBody>
      </p:sp>
      <p:sp>
        <p:nvSpPr>
          <p:cNvPr id="4" name="Text 2"/>
          <p:cNvSpPr txBox="1"/>
          <p:nvPr/>
        </p:nvSpPr>
        <p:spPr>
          <a:xfrm>
            <a:off x="914400" y="5577840"/>
            <a:ext cx="10362895" cy="548640"/>
          </a:xfrm>
          <a:prstGeom prst="rect">
            <a:avLst/>
          </a:prstGeom>
          <a:noFill/>
          <a:ln/>
        </p:spPr>
        <p:txBody>
          <a:bodyPr wrap="square" rtlCol="0" anchor="ctr"/>
          <a:lstStyle/>
          <a:p>
            <a:pPr algn="ctr" indent="0" marL="0">
              <a:buNone/>
            </a:pPr>
            <a:r>
              <a:rPr lang="en-US" altLang="en-US" sz="1400" dirty="0">
                <a:solidFill>
                  <a:srgbClr val="E3C278"/>
                </a:solidFill>
              </a:rPr>
              <a:t>Omar Khamis Library for SketchUp</a:t>
            </a:r>
            <a:endParaRPr lang="en-US"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7A3E65"/>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Summary: Interior Graphic Standards</dc:title>
  <dc:subject>PptxGenJS Presentation</dc:subject>
  <dc:creator>Eng. Omar Khamis</dc:creator>
  <cp:lastModifiedBy>Eng. Omar Khamis</cp:lastModifiedBy>
  <cp:revision>1</cp:revision>
  <dcterms:created xsi:type="dcterms:W3CDTF">2026-10-15T12:37:11Z</dcterms:created>
  <dcterms:modified xsi:type="dcterms:W3CDTF">2026-10-15T12:37:11Z</dcterms:modified>
</cp:coreProperties>
</file>