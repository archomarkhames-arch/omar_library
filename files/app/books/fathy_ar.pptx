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بداية" id="{208dc046-54d3-5963-f365-b94229e83a1a}">
          <p14:sldIdLst>
            <p14:sldId id="256"/>
          </p14:sldIdLst>
        </p14:section>
        <p14:section name="المحتوى" id="{83f43357-1d29-d143-ab6d-9357e8b7c887}">
          <p14:sldIdLst>
            <p14:sldId id="257"/>
          </p14:sldIdLst>
        </p14:section>
        <p14:section name="الملخص" id="{70c21ba7-7c79-67c6-5b28-2b1a6729fd84}">
          <p14:sldIdLst>
            <p14:sldId id="258"/>
            <p14:sldId id="259"/>
            <p14:sldId id="260"/>
            <p14:sldId id="261"/>
            <p14:sldId id="262"/>
            <p14:sldId id="263"/>
            <p14:sldId id="264"/>
            <p14:sldId id="265"/>
            <p14:sldId id="266"/>
            <p14:sldId id="267"/>
            <p14:sldId id="268"/>
            <p14:sldId id="269"/>
            <p14:sldId id="270"/>
          </p14:sldIdLst>
        </p14:section>
        <p14:section name="الختام" id="{4160817e-5cc3-5b25-2955-21f260101f7a}">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«عمارة الفقراء: تجربة في ريف مصر» للمعماري المصري حسن فتحي (1900–1989). نُشر أولاً في القاهرة سنة 1969 بعنوان «القرنة: قصة قريتين»، وبعدها بالإنجليزي من University of Chicago Press سنة 1973. بيحكي تجربة بناء قرية القرنة الجديدة غرب الأقصر بين 1946 و1952.
ليه الكتاب مهم؟
أول كتاب عربي في العمارة يوصل للعالم كله ويتترجم لأكتر من لغة.
بيطرح سؤال لسه قائم: إزاي نبني بيوت كويسة للناس بتكلفة يقدروا عليها؟
أساس فكري لحركة العمارة البيئية والمستدامة في العالم العربي.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ملايين الفلاحين في مصر في الأربعينات كانوا عايشين في بيوت متدهورة.
المواد «الحديثة» (الأسمنت والحديد والخشب المستورد) غالية عليهم.
الحل الحكومي التقليدي: مباني نمطية بالخرسانة، مكلفة ومش مناسبة للمناخ ولا لطريقة الحياة.
حسن فتحي شاف إن الحل في المواد المحلية والحِرفة التقليدية ومشاركة الناس.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أهالي القرنة القديمة كانوا ساكنين فوق مقابر طيبة الأثرية، والحكومة قررت نقلهم لقرية جديدة.
حسن فتحي اتكلف بتصميم القرية الجديدة بالطوب اللبن.
اتبنى جزء كبير: السوق، الجامع، الخان، المسرح، مدرسة، وعدد من البيوت.
المشروع ماكملش: مشاكل إدارية وتمويلية، ورفض جزء من الأهالي ترك مكانهم القديم.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المكونات والتصنيع
طين + تبن (قش) + مية، يتخلط ويتساب يتخمر، ويتشكل في قوالب خشب ويتساب ينشف في الشمس.
مفيش حريق = طاقة شبه معدومة وتكلفة قليلة.
المميزات
العيوب وطريقة الحماية
المية عدو الطوب اللبن: قاعدة حجر أو طوب محروق، بروز للسقف، بياض جيري يتجدد.
مقاومة الضغط أقل من الطوب الأحمر — مناسب للمباني الواطية (دور أو اتنين).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البنّاءين النوبيين في أسوان كانوا بيبنوا أقبية من غير شدات خشب: الطوب بيتحط مايل ويتسند على حائط خلفي، وكل مدماك بيمسك اللي قبله.
ده حل مشكلة غلاء الخشب في مصر (كان مستورد).
الشكل المنحني (قوس قريب من القطع المكافئ) بيخلي الحمل ضغط بس، والطوب اللبن قوي في الضغط.
القبة فوق غرفة مربعة بتنتقل عن طريق المثلثات الكروية (Pendentives) في الأركان.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البيت بيتجمّع حوالين فناء مفتوح للسما.
الفناء بيخزّن هوا الليل البارد وبيوزعه على الغرف الصبح.
بيدي ظل وخصوصية للأسرة، ومكان للعيال والزرع.
نسبة الفناء للارتفاع مهمة: فناء ضيق وعالي = ظل أكتر.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الملقف برج على السقف مفتوح ناحية الريح السائدة (الشمال الغربي في مصر).
بيلقط الهوا النظيف من فوق (أنضف وأبرد من هوا الشارع) وينزّله للغرف.
ممكن يتحط فيه فخار مبلول أو فحم عشان الهوا يترطب ويبرد بالتبخير.
مع الشخشيخة (فتحة في السقف للهوا السخن يطلع) بيعمل دورة تهوية كاملة.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خشب مخروط بفتحات صغيرة على الشبابيك.
تكسر الشمس المباشرة وتقلل الوهج.
خصوصية: اللي جوه يشوف برا والعكس لأ.
بتسمح بمرور الهوا، وزمان كان بيتحط وراها قلل مية للتبريد.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حسن فتحي كان شايف إن الناس لازم يشاركوا في بناء بيوتهم: يتعلموا الحرفة ويشتغلوا بإيديهم.
المعماري دوره يفهم احتياجات كل أسرة (عدد الأفراد، الشغل، المواشي، العادات) ويصمم لها.
كل بيت في القرنة كان مختلف حسب أسرته — ضد فكرة الوحدة النمطية المتكررة.
التدريب: نقل حرفة البنائين النوبيين للأهالي.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استخدام الطين المحلي والبناء من غير شدات قلل التكلفة جداً مقارنة بالخرسانة.
العمالة من الأهالي نفسهم = فلوس بتفضل في القرية.
حسن فتحي بيحسب إن التكلفة الحقيقية للبيت مش بس فلوس المواد — فيها كمان الراحة الحرارية وعمر المبنى والصيانة.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ليه المشروع مانجحش بالكامل؟
البيروقراطية وتغيير المسؤولين.
الأهالي كانوا مرتبطين بمكانهم القديم ومصدر رزقهم.
بعض الناس شافوا الطوب اللبن «عمارة فقر» وكانوا عايزين الخرسانة «الحديثة».
الدروس لينا النهارده
التصميم للمناخ أولاً: توجيه، ظل، تهوية طبيعية، كتلة حرارية.
المواد المحلية قليلة الطاقة لما تكون مناسبة.
المستخدم شريك في التصميم.
الحِرفة التقليدية ممكن تتطور بدل ما تتلغي.
التكلفة القليلة مش معناها عمارة فقيرة.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حصل على جائزة نوبل البديلة (Right Livelihood) وجائزة الآغا خان للعمارة.
قرية القرنة الجديدة النهارده على قائمة الاهتمام الدولي للحفاظ على التراث.
أفكاره أثّرت في معماريين في مصر والسعودية والعالم كله، وفي حركة العمارة الطينية الحديثة.
مشاريع زي قرية باريس في الواحات الخارجة ودار الإسلام في نيو مكسيكو امتداد لأفكاره.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العمارة الجيدة مش مرتبطة بالغلا — مرتبطة بالفهم.
المناخ الحار في مصر والسعودية محتاج: حوائط سميكة، فناء، ملقف، مشربية، فتحات قليلة على الغرب.
أي مشروع إسكان لازم يحسب العامل الاجتماعي مش بس الإنشائي.
الحرفة التقليدية كنز — نطورها بالتقنيات الحديثة.
اقرا الكتاب الأصلي — فيه روح ومعنى أكبر من أي ملخص.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K_TITLE">
    <p:bg>
      <p:bgPr>
        <a:solidFill>
          <a:srgbClr val="2B262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lvl1pPr algn="ctr" indent="0" marL="0">
              <a:buNone/>
              <a:defRPr lang="en-US" sz="1800" dirty="0">
                <a:solidFill>
                  <a:srgbClr val="E3C278"/>
                </a:solidFill>
              </a:defRPr>
            </a:lvl1pPr>
          </a:lstStyle>
          <a:p>
            <a:pPr algn="ct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K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r" indent="0" marL="0">
              <a:buNone/>
              <a:defRPr lang="en-US" sz="3000" b="1" dirty="0">
                <a:solidFill>
                  <a:srgbClr val="2B2620"/>
                </a:solidFill>
              </a:defRPr>
            </a:lvl1pPr>
          </a:lstStyle>
          <a:p>
            <a:pPr algn="r" indent="0" marL="0">
              <a:buNone/>
            </a:pPr>
            <a:endParaRPr lang="en-US" sz="3000" dirty="0"/>
          </a:p>
        </p:txBody>
      </p:sp>
      <p:sp>
        <p:nvSpPr>
          <p:cNvPr id="3" name="Text 0"/>
          <p:cNvSpPr/>
          <p:nvPr/>
        </p:nvSpPr>
        <p:spPr>
          <a:xfrm>
            <a:off x="4327855" y="6400800"/>
            <a:ext cx="7315200" cy="320040"/>
          </a:xfrm>
          <a:prstGeom prst="rect">
            <a:avLst/>
          </a:prstGeom>
          <a:noFill/>
          <a:ln/>
        </p:spPr>
        <p:txBody>
          <a:bodyPr wrap="square" rtlCol="0" anchor="ctr"/>
          <a:lstStyle/>
          <a:p>
            <a:pPr algn="r" indent="0" marL="0">
              <a:buNone/>
            </a:pPr>
            <a:r>
              <a:rPr lang="ar-EG" altLang="en-US" sz="1000" dirty="0">
                <a:solidFill>
                  <a:srgbClr val="8A7E6A"/>
                </a:solidFill>
              </a:rPr>
              <a:t>مختصر وتلخيص م. عمر خميس  —  +20 100 543 3170</a:t>
            </a:r>
            <a:endParaRPr lang="ar-EG" sz="10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ملخص: عمارة الفقراء — حسن فتحي</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مكتبة م. عمر خميس — 2026</a:t>
            </a:r>
            <a:endParaRPr lang="ar-EG" sz="1800" dirty="0"/>
          </a:p>
        </p:txBody>
      </p:sp>
      <p:sp>
        <p:nvSpPr>
          <p:cNvPr id="4" name="logo-circle"/>
          <p:cNvSpPr/>
          <p:nvPr/>
        </p:nvSpPr>
        <p:spPr>
          <a:xfrm>
            <a:off x="5592928" y="731520"/>
            <a:ext cx="1005840" cy="1005840"/>
          </a:xfrm>
          <a:prstGeom prst="ellipse">
            <a:avLst/>
          </a:prstGeom>
          <a:solidFill>
            <a:srgbClr val="C9A24A"/>
          </a:solidFill>
          <a:ln/>
        </p:spPr>
      </p:sp>
      <p:sp>
        <p:nvSpPr>
          <p:cNvPr id="5" name="logo"/>
          <p:cNvSpPr txBox="1"/>
          <p:nvPr/>
        </p:nvSpPr>
        <p:spPr>
          <a:xfrm>
            <a:off x="5592928" y="731520"/>
            <a:ext cx="1005840" cy="1005840"/>
          </a:xfrm>
          <a:prstGeom prst="rect">
            <a:avLst/>
          </a:prstGeom>
          <a:noFill/>
          <a:ln/>
        </p:spPr>
        <p:txBody>
          <a:bodyPr wrap="square" rtlCol="0" anchor="ctr"/>
          <a:lstStyle/>
          <a:p>
            <a:pPr algn="ctr" indent="0" marL="0">
              <a:buNone/>
            </a:pPr>
            <a:r>
              <a:rPr lang="en-US" sz="2800" b="1" dirty="0">
                <a:solidFill>
                  <a:srgbClr val="2B2620"/>
                </a:solidFill>
              </a:rPr>
              <a:t>OK</a:t>
            </a:r>
            <a:endParaRPr lang="en-US" sz="2800" dirty="0"/>
          </a:p>
        </p:txBody>
      </p:sp>
      <p:sp>
        <p:nvSpPr>
          <p:cNvPr id="6" name="Text 4"/>
          <p:cNvSpPr txBox="1"/>
          <p:nvPr/>
        </p:nvSpPr>
        <p:spPr>
          <a:xfrm>
            <a:off x="914400" y="5760720"/>
            <a:ext cx="10362895" cy="457200"/>
          </a:xfrm>
          <a:prstGeom prst="rect">
            <a:avLst/>
          </a:prstGeom>
          <a:noFill/>
          <a:ln/>
        </p:spPr>
        <p:txBody>
          <a:bodyPr wrap="square" rtlCol="0" anchor="ctr"/>
          <a:lstStyle/>
          <a:p>
            <a:pPr rtl="1" algn="ctr" indent="0" marL="0">
              <a:buNone/>
            </a:pPr>
            <a:r>
              <a:rPr lang="ar-EG" altLang="en-US" sz="1200" dirty="0">
                <a:solidFill>
                  <a:srgbClr val="B9AE97"/>
                </a:solidFill>
              </a:rPr>
              <a:t>ملخص للتعلم — لا يغني عن الكتاب الأصلي</a:t>
            </a:r>
            <a:endParaRPr lang="ar-EG"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محتوى العرض</a:t>
            </a:r>
            <a:endParaRPr lang="ar-EG" sz="3000" dirty="0"/>
          </a:p>
        </p:txBody>
      </p:sp>
      <p:sp>
        <p:nvSpPr>
          <p:cNvPr id="3" name="n1"/>
          <p:cNvSpPr/>
          <p:nvPr/>
        </p:nvSpPr>
        <p:spPr>
          <a:xfrm>
            <a:off x="11094415" y="1362456"/>
            <a:ext cx="384048" cy="384048"/>
          </a:xfrm>
          <a:prstGeom prst="ellipse">
            <a:avLst/>
          </a:prstGeom>
          <a:solidFill>
            <a:schemeClr val="accent1"/>
          </a:solidFill>
          <a:ln/>
        </p:spPr>
      </p:sp>
      <p:sp>
        <p:nvSpPr>
          <p:cNvPr id="4" name="Text 2"/>
          <p:cNvSpPr txBox="1"/>
          <p:nvPr/>
        </p:nvSpPr>
        <p:spPr>
          <a:xfrm>
            <a:off x="11094415"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6187288"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مقدمة: كتاب غيّر نظرة العالم للعمارة البيئية</a:t>
            </a:r>
            <a:endParaRPr lang="ar-EG" sz="1500" dirty="0"/>
          </a:p>
        </p:txBody>
      </p:sp>
      <p:sp>
        <p:nvSpPr>
          <p:cNvPr id="6" name="n2"/>
          <p:cNvSpPr/>
          <p:nvPr/>
        </p:nvSpPr>
        <p:spPr>
          <a:xfrm>
            <a:off x="11094415" y="1874520"/>
            <a:ext cx="384048" cy="384048"/>
          </a:xfrm>
          <a:prstGeom prst="ellipse">
            <a:avLst/>
          </a:prstGeom>
          <a:solidFill>
            <a:schemeClr val="accent1"/>
          </a:solidFill>
          <a:ln/>
        </p:spPr>
      </p:sp>
      <p:sp>
        <p:nvSpPr>
          <p:cNvPr id="7" name="Text 5"/>
          <p:cNvSpPr txBox="1"/>
          <p:nvPr/>
        </p:nvSpPr>
        <p:spPr>
          <a:xfrm>
            <a:off x="11094415"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Text 6"/>
          <p:cNvSpPr txBox="1"/>
          <p:nvPr/>
        </p:nvSpPr>
        <p:spPr>
          <a:xfrm>
            <a:off x="6187288"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المشكلة: الفقر والسكن</a:t>
            </a:r>
            <a:endParaRPr lang="ar-EG" sz="1500" dirty="0"/>
          </a:p>
        </p:txBody>
      </p:sp>
      <p:sp>
        <p:nvSpPr>
          <p:cNvPr id="9" name="n3"/>
          <p:cNvSpPr/>
          <p:nvPr/>
        </p:nvSpPr>
        <p:spPr>
          <a:xfrm>
            <a:off x="11094415" y="2386584"/>
            <a:ext cx="384048" cy="384048"/>
          </a:xfrm>
          <a:prstGeom prst="ellipse">
            <a:avLst/>
          </a:prstGeom>
          <a:solidFill>
            <a:schemeClr val="accent1"/>
          </a:solidFill>
          <a:ln/>
        </p:spPr>
      </p:sp>
      <p:sp>
        <p:nvSpPr>
          <p:cNvPr id="10" name="Text 8"/>
          <p:cNvSpPr txBox="1"/>
          <p:nvPr/>
        </p:nvSpPr>
        <p:spPr>
          <a:xfrm>
            <a:off x="11094415"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Text 9"/>
          <p:cNvSpPr txBox="1"/>
          <p:nvPr/>
        </p:nvSpPr>
        <p:spPr>
          <a:xfrm>
            <a:off x="6187288"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قصة القرنة</a:t>
            </a:r>
            <a:endParaRPr lang="ar-EG" sz="1500" dirty="0"/>
          </a:p>
        </p:txBody>
      </p:sp>
      <p:sp>
        <p:nvSpPr>
          <p:cNvPr id="12" name="n4"/>
          <p:cNvSpPr/>
          <p:nvPr/>
        </p:nvSpPr>
        <p:spPr>
          <a:xfrm>
            <a:off x="11094415" y="2898648"/>
            <a:ext cx="384048" cy="384048"/>
          </a:xfrm>
          <a:prstGeom prst="ellipse">
            <a:avLst/>
          </a:prstGeom>
          <a:solidFill>
            <a:schemeClr val="accent1"/>
          </a:solidFill>
          <a:ln/>
        </p:spPr>
      </p:sp>
      <p:sp>
        <p:nvSpPr>
          <p:cNvPr id="13" name="Text 11"/>
          <p:cNvSpPr txBox="1"/>
          <p:nvPr/>
        </p:nvSpPr>
        <p:spPr>
          <a:xfrm>
            <a:off x="11094415"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4" name="Text 12"/>
          <p:cNvSpPr txBox="1"/>
          <p:nvPr/>
        </p:nvSpPr>
        <p:spPr>
          <a:xfrm>
            <a:off x="6187288"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الطوب اللبن</a:t>
            </a:r>
            <a:endParaRPr lang="ar-EG" sz="1500" dirty="0"/>
          </a:p>
        </p:txBody>
      </p:sp>
      <p:sp>
        <p:nvSpPr>
          <p:cNvPr id="15" name="n5"/>
          <p:cNvSpPr/>
          <p:nvPr/>
        </p:nvSpPr>
        <p:spPr>
          <a:xfrm>
            <a:off x="11094415" y="3410712"/>
            <a:ext cx="384048" cy="384048"/>
          </a:xfrm>
          <a:prstGeom prst="ellipse">
            <a:avLst/>
          </a:prstGeom>
          <a:solidFill>
            <a:schemeClr val="accent1"/>
          </a:solidFill>
          <a:ln/>
        </p:spPr>
      </p:sp>
      <p:sp>
        <p:nvSpPr>
          <p:cNvPr id="16" name="Text 14"/>
          <p:cNvSpPr txBox="1"/>
          <p:nvPr/>
        </p:nvSpPr>
        <p:spPr>
          <a:xfrm>
            <a:off x="11094415"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17" name="Text 15"/>
          <p:cNvSpPr txBox="1"/>
          <p:nvPr/>
        </p:nvSpPr>
        <p:spPr>
          <a:xfrm>
            <a:off x="6187288"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القبو والقبة النوبية</a:t>
            </a:r>
            <a:endParaRPr lang="ar-EG" sz="1500" dirty="0"/>
          </a:p>
        </p:txBody>
      </p:sp>
      <p:sp>
        <p:nvSpPr>
          <p:cNvPr id="18" name="n6"/>
          <p:cNvSpPr/>
          <p:nvPr/>
        </p:nvSpPr>
        <p:spPr>
          <a:xfrm>
            <a:off x="11094415" y="3922776"/>
            <a:ext cx="384048" cy="384048"/>
          </a:xfrm>
          <a:prstGeom prst="ellipse">
            <a:avLst/>
          </a:prstGeom>
          <a:solidFill>
            <a:schemeClr val="accent1"/>
          </a:solidFill>
          <a:ln/>
        </p:spPr>
      </p:sp>
      <p:sp>
        <p:nvSpPr>
          <p:cNvPr id="19" name="Text 17"/>
          <p:cNvSpPr txBox="1"/>
          <p:nvPr/>
        </p:nvSpPr>
        <p:spPr>
          <a:xfrm>
            <a:off x="11094415"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0" name="Text 18"/>
          <p:cNvSpPr txBox="1"/>
          <p:nvPr/>
        </p:nvSpPr>
        <p:spPr>
          <a:xfrm>
            <a:off x="6187288"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الفناء الداخلي (الحوش)</a:t>
            </a:r>
            <a:endParaRPr lang="ar-EG" sz="1500" dirty="0"/>
          </a:p>
        </p:txBody>
      </p:sp>
      <p:sp>
        <p:nvSpPr>
          <p:cNvPr id="21" name="n7"/>
          <p:cNvSpPr/>
          <p:nvPr/>
        </p:nvSpPr>
        <p:spPr>
          <a:xfrm>
            <a:off x="11094415" y="4434840"/>
            <a:ext cx="384048" cy="384048"/>
          </a:xfrm>
          <a:prstGeom prst="ellipse">
            <a:avLst/>
          </a:prstGeom>
          <a:solidFill>
            <a:schemeClr val="accent1"/>
          </a:solidFill>
          <a:ln/>
        </p:spPr>
      </p:sp>
      <p:sp>
        <p:nvSpPr>
          <p:cNvPr id="22" name="Text 20"/>
          <p:cNvSpPr txBox="1"/>
          <p:nvPr/>
        </p:nvSpPr>
        <p:spPr>
          <a:xfrm>
            <a:off x="11094415" y="4434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23" name="Text 21"/>
          <p:cNvSpPr txBox="1"/>
          <p:nvPr/>
        </p:nvSpPr>
        <p:spPr>
          <a:xfrm>
            <a:off x="6187288" y="439826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الملقف والتهوية الطبيعية</a:t>
            </a:r>
            <a:endParaRPr lang="ar-EG" sz="1500" dirty="0"/>
          </a:p>
        </p:txBody>
      </p:sp>
      <p:sp>
        <p:nvSpPr>
          <p:cNvPr id="24" name="n8"/>
          <p:cNvSpPr/>
          <p:nvPr/>
        </p:nvSpPr>
        <p:spPr>
          <a:xfrm>
            <a:off x="5455768" y="1362456"/>
            <a:ext cx="384048" cy="384048"/>
          </a:xfrm>
          <a:prstGeom prst="ellipse">
            <a:avLst/>
          </a:prstGeom>
          <a:solidFill>
            <a:schemeClr val="accent1"/>
          </a:solidFill>
          <a:ln/>
        </p:spPr>
      </p:sp>
      <p:sp>
        <p:nvSpPr>
          <p:cNvPr id="25" name="Text 23"/>
          <p:cNvSpPr txBox="1"/>
          <p:nvPr/>
        </p:nvSpPr>
        <p:spPr>
          <a:xfrm>
            <a:off x="5455768" y="13624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8</a:t>
            </a:r>
            <a:endParaRPr lang="en-US" sz="1300" dirty="0"/>
          </a:p>
        </p:txBody>
      </p:sp>
      <p:sp>
        <p:nvSpPr>
          <p:cNvPr id="26" name="Text 24"/>
          <p:cNvSpPr txBox="1"/>
          <p:nvPr/>
        </p:nvSpPr>
        <p:spPr>
          <a:xfrm>
            <a:off x="548640" y="1325880"/>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المشربية</a:t>
            </a:r>
            <a:endParaRPr lang="ar-EG" sz="1500" dirty="0"/>
          </a:p>
        </p:txBody>
      </p:sp>
      <p:sp>
        <p:nvSpPr>
          <p:cNvPr id="27" name="n9"/>
          <p:cNvSpPr/>
          <p:nvPr/>
        </p:nvSpPr>
        <p:spPr>
          <a:xfrm>
            <a:off x="5455768" y="1874520"/>
            <a:ext cx="384048" cy="384048"/>
          </a:xfrm>
          <a:prstGeom prst="ellipse">
            <a:avLst/>
          </a:prstGeom>
          <a:solidFill>
            <a:schemeClr val="accent1"/>
          </a:solidFill>
          <a:ln/>
        </p:spPr>
      </p:sp>
      <p:sp>
        <p:nvSpPr>
          <p:cNvPr id="28" name="Text 26"/>
          <p:cNvSpPr txBox="1"/>
          <p:nvPr/>
        </p:nvSpPr>
        <p:spPr>
          <a:xfrm>
            <a:off x="5455768" y="1874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9</a:t>
            </a:r>
            <a:endParaRPr lang="en-US" sz="1300" dirty="0"/>
          </a:p>
        </p:txBody>
      </p:sp>
      <p:sp>
        <p:nvSpPr>
          <p:cNvPr id="29" name="Text 27"/>
          <p:cNvSpPr txBox="1"/>
          <p:nvPr/>
        </p:nvSpPr>
        <p:spPr>
          <a:xfrm>
            <a:off x="548640" y="1837944"/>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البناء التعاوني ومشاركة الأهالي</a:t>
            </a:r>
            <a:endParaRPr lang="ar-EG" sz="1500" dirty="0"/>
          </a:p>
        </p:txBody>
      </p:sp>
      <p:sp>
        <p:nvSpPr>
          <p:cNvPr id="30" name="n10"/>
          <p:cNvSpPr/>
          <p:nvPr/>
        </p:nvSpPr>
        <p:spPr>
          <a:xfrm>
            <a:off x="5455768" y="2386584"/>
            <a:ext cx="384048" cy="384048"/>
          </a:xfrm>
          <a:prstGeom prst="ellipse">
            <a:avLst/>
          </a:prstGeom>
          <a:solidFill>
            <a:schemeClr val="accent1"/>
          </a:solidFill>
          <a:ln/>
        </p:spPr>
      </p:sp>
      <p:sp>
        <p:nvSpPr>
          <p:cNvPr id="31" name="Text 29"/>
          <p:cNvSpPr txBox="1"/>
          <p:nvPr/>
        </p:nvSpPr>
        <p:spPr>
          <a:xfrm>
            <a:off x="5455768" y="23865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10</a:t>
            </a:r>
            <a:endParaRPr lang="en-US" sz="1300" dirty="0"/>
          </a:p>
        </p:txBody>
      </p:sp>
      <p:sp>
        <p:nvSpPr>
          <p:cNvPr id="32" name="Text 30"/>
          <p:cNvSpPr txBox="1"/>
          <p:nvPr/>
        </p:nvSpPr>
        <p:spPr>
          <a:xfrm>
            <a:off x="548640" y="2350008"/>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التكلفة والاقتصاد</a:t>
            </a:r>
            <a:endParaRPr lang="ar-EG" sz="1500" dirty="0"/>
          </a:p>
        </p:txBody>
      </p:sp>
      <p:sp>
        <p:nvSpPr>
          <p:cNvPr id="33" name="n11"/>
          <p:cNvSpPr/>
          <p:nvPr/>
        </p:nvSpPr>
        <p:spPr>
          <a:xfrm>
            <a:off x="5455768" y="2898648"/>
            <a:ext cx="384048" cy="384048"/>
          </a:xfrm>
          <a:prstGeom prst="ellipse">
            <a:avLst/>
          </a:prstGeom>
          <a:solidFill>
            <a:schemeClr val="accent1"/>
          </a:solidFill>
          <a:ln/>
        </p:spPr>
      </p:sp>
      <p:sp>
        <p:nvSpPr>
          <p:cNvPr id="34" name="Text 32"/>
          <p:cNvSpPr txBox="1"/>
          <p:nvPr/>
        </p:nvSpPr>
        <p:spPr>
          <a:xfrm>
            <a:off x="5455768" y="2898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11</a:t>
            </a:r>
            <a:endParaRPr lang="en-US" sz="1300" dirty="0"/>
          </a:p>
        </p:txBody>
      </p:sp>
      <p:sp>
        <p:nvSpPr>
          <p:cNvPr id="35" name="Text 33"/>
          <p:cNvSpPr txBox="1"/>
          <p:nvPr/>
        </p:nvSpPr>
        <p:spPr>
          <a:xfrm>
            <a:off x="548640" y="2862072"/>
            <a:ext cx="4907128" cy="457200"/>
          </a:xfrm>
          <a:prstGeom prst="rect">
            <a:avLst/>
          </a:prstGeom>
          <a:noFill/>
          <a:ln/>
        </p:spPr>
        <p:txBody>
          <a:bodyPr wrap="square" rtlCol="0" anchor="ctr"/>
          <a:lstStyle/>
          <a:p>
            <a:pPr rtl="1" algn="r" indent="0" marL="0">
              <a:buNone/>
            </a:pPr>
            <a:r>
              <a:rPr lang="ar-EG" altLang="en-US" sz="1500" dirty="0">
                <a:solidFill>
                  <a:schemeClr val="tx1"/>
                </a:solidFill>
              </a:rPr>
              <a:t>النقد والدروس</a:t>
            </a:r>
            <a:endParaRPr lang="ar-EG" sz="1500" dirty="0"/>
          </a:p>
        </p:txBody>
      </p:sp>
      <p:sp>
        <p:nvSpPr>
          <p:cNvPr id="36" name="n12"/>
          <p:cNvSpPr/>
          <p:nvPr/>
        </p:nvSpPr>
        <p:spPr>
          <a:xfrm>
            <a:off x="5455768" y="3410712"/>
            <a:ext cx="384048" cy="384048"/>
          </a:xfrm>
          <a:prstGeom prst="ellipse">
            <a:avLst/>
          </a:prstGeom>
          <a:solidFill>
            <a:schemeClr val="accent1"/>
          </a:solidFill>
          <a:ln/>
        </p:spPr>
      </p:sp>
      <p:sp>
        <p:nvSpPr>
          <p:cNvPr id="37" name="Text 35"/>
          <p:cNvSpPr txBox="1"/>
          <p:nvPr/>
        </p:nvSpPr>
        <p:spPr>
          <a:xfrm>
            <a:off x="5455768" y="34107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12</a:t>
            </a:r>
            <a:endParaRPr lang="en-US" sz="1300" dirty="0"/>
          </a:p>
        </p:txBody>
      </p:sp>
      <p:sp>
        <p:nvSpPr>
          <p:cNvPr id="38" name="Text 36"/>
          <p:cNvSpPr txBox="1"/>
          <p:nvPr/>
        </p:nvSpPr>
        <p:spPr>
          <a:xfrm>
            <a:off x="548640" y="3374136"/>
            <a:ext cx="4907128" cy="457200"/>
          </a:xfrm>
          <a:prstGeom prst="rect">
            <a:avLst/>
          </a:prstGeom>
          <a:noFill/>
          <a:ln/>
        </p:spPr>
        <p:txBody>
          <a:bodyPr wrap="square" rtlCol="0" anchor="ctr"/>
          <a:lstStyle/>
          <a:p>
            <a:pPr rtl="1" algn="r" indent="0" marL="0">
              <a:buNone/>
            </a:pPr>
            <a:r>
              <a:rPr lang="ar-EG" altLang="en-US" sz="1500" dirty="0">
                <a:solidFill>
                  <a:schemeClr val="tx1"/>
                </a:solidFill>
              </a:rPr>
              <a:t>تأثير حسن فتحي</a:t>
            </a:r>
            <a:endParaRPr lang="ar-EG" sz="1500" dirty="0"/>
          </a:p>
        </p:txBody>
      </p:sp>
      <p:sp>
        <p:nvSpPr>
          <p:cNvPr id="39" name="n13"/>
          <p:cNvSpPr/>
          <p:nvPr/>
        </p:nvSpPr>
        <p:spPr>
          <a:xfrm>
            <a:off x="5455768" y="3922776"/>
            <a:ext cx="384048" cy="384048"/>
          </a:xfrm>
          <a:prstGeom prst="ellipse">
            <a:avLst/>
          </a:prstGeom>
          <a:solidFill>
            <a:schemeClr val="accent1"/>
          </a:solidFill>
          <a:ln/>
        </p:spPr>
      </p:sp>
      <p:sp>
        <p:nvSpPr>
          <p:cNvPr id="40" name="Text 38"/>
          <p:cNvSpPr txBox="1"/>
          <p:nvPr/>
        </p:nvSpPr>
        <p:spPr>
          <a:xfrm>
            <a:off x="5455768" y="39227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13</a:t>
            </a:r>
            <a:endParaRPr lang="en-US" sz="1300" dirty="0"/>
          </a:p>
        </p:txBody>
      </p:sp>
      <p:sp>
        <p:nvSpPr>
          <p:cNvPr id="41" name="Text 39"/>
          <p:cNvSpPr txBox="1"/>
          <p:nvPr/>
        </p:nvSpPr>
        <p:spPr>
          <a:xfrm>
            <a:off x="548640" y="3886200"/>
            <a:ext cx="4907128" cy="457200"/>
          </a:xfrm>
          <a:prstGeom prst="rect">
            <a:avLst/>
          </a:prstGeom>
          <a:noFill/>
          <a:ln/>
        </p:spPr>
        <p:txBody>
          <a:bodyPr wrap="square" rtlCol="0" anchor="ctr"/>
          <a:lstStyle/>
          <a:p>
            <a:pPr rtl="1" algn="r" indent="0" marL="0">
              <a:buNone/>
            </a:pPr>
            <a:r>
              <a:rPr lang="ar-EG" altLang="en-US" sz="1500" dirty="0">
                <a:solidFill>
                  <a:schemeClr val="tx1"/>
                </a:solidFill>
              </a:rPr>
              <a:t>خلاصة م. عمر خميس</a:t>
            </a:r>
            <a:endParaRPr lang="ar-EG"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مقدمة: كتاب غيّر نظرة العالم للعمارة البيئية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«عمارة الفقراء: تجربة في ريف مصر» للمعماري المصري حسن فتحي (1900–1989). نُشر أولاً في القاهرة سنة 1969 بعنوان «القرنة: قصة قريتين»، …</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أول كتاب عربي في العمارة يوصل للعالم كله ويتترجم لأكتر من لغة.</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بيطرح سؤال لسه قائم: </a:t>
            </a:r>
            <a:pPr rtl="1" algn="r" indent="0" marL="0">
              <a:buNone/>
            </a:pPr>
            <a:r>
              <a:rPr lang="ar-EG" altLang="en-US" sz="1400" b="1" dirty="0">
                <a:solidFill>
                  <a:srgbClr val="2B2620"/>
                </a:solidFill>
              </a:rPr>
              <a:t>إزاي نبني بيوت كويسة للناس بتكلفة يقدروا عليها؟</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أساس فكري لحركة </a:t>
            </a:r>
            <a:pPr rtl="1" algn="r" indent="0" marL="0">
              <a:buNone/>
            </a:pPr>
            <a:r>
              <a:rPr lang="ar-EG" altLang="en-US" sz="1400" b="1" dirty="0">
                <a:solidFill>
                  <a:srgbClr val="2B2620"/>
                </a:solidFill>
              </a:rPr>
              <a:t>العمارة البيئية والمستدامة</a:t>
            </a:r>
            <a:pPr rtl="1" algn="r" indent="0" marL="0">
              <a:buNone/>
            </a:pPr>
            <a:r>
              <a:rPr lang="ar-EG" altLang="en-US" sz="1400" dirty="0">
                <a:solidFill>
                  <a:srgbClr val="2B2620"/>
                </a:solidFill>
              </a:rPr>
              <a:t> في العالم العربي.</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الملخص ده بصياغة م. عمر خميس للتعلم، ومش بديل عن قراءة الكتاب الأصلي.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المشكلة: الفقر والسكن</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ملايين الفلاحين في مصر في الأربعينات كانوا عايشين في بيوت متدهورة.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المواد «الحديثة» (الأسمنت والحديد والخشب المستورد) </a:t>
            </a:r>
            <a:pPr rtl="1" algn="r" indent="0" marL="0">
              <a:buNone/>
            </a:pPr>
            <a:r>
              <a:rPr lang="ar-EG" altLang="en-US" sz="1400" b="1" dirty="0">
                <a:solidFill>
                  <a:srgbClr val="2B2620"/>
                </a:solidFill>
              </a:rPr>
              <a:t>غالية</a:t>
            </a:r>
            <a:pPr rtl="1" algn="r" indent="0" marL="0">
              <a:buNone/>
            </a:pPr>
            <a:r>
              <a:rPr lang="ar-EG" altLang="en-US" sz="1400" dirty="0">
                <a:solidFill>
                  <a:srgbClr val="2B2620"/>
                </a:solidFill>
              </a:rPr>
              <a:t> عليهم.</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الحل الحكومي التقليدي: مباني نمطية بالخرسانة، </a:t>
            </a:r>
            <a:pPr rtl="1" algn="r" indent="0" marL="0">
              <a:buNone/>
            </a:pPr>
            <a:r>
              <a:rPr lang="ar-EG" altLang="en-US" sz="1400" b="1" dirty="0">
                <a:solidFill>
                  <a:srgbClr val="2B2620"/>
                </a:solidFill>
              </a:rPr>
              <a:t>مكلفة ومش مناسبة</a:t>
            </a:r>
            <a:pPr rtl="1" algn="r" indent="0" marL="0">
              <a:buNone/>
            </a:pPr>
            <a:r>
              <a:rPr lang="ar-EG" altLang="en-US" sz="1400" dirty="0">
                <a:solidFill>
                  <a:srgbClr val="2B2620"/>
                </a:solidFill>
              </a:rPr>
              <a:t> للمناخ ولا لطريقة الحياة.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حسن فتحي شاف إن الحل في </a:t>
            </a:r>
            <a:pPr rtl="1" algn="r" indent="0" marL="0">
              <a:buNone/>
            </a:pPr>
            <a:r>
              <a:rPr lang="ar-EG" altLang="en-US" sz="1400" b="1" dirty="0">
                <a:solidFill>
                  <a:srgbClr val="2B2620"/>
                </a:solidFill>
              </a:rPr>
              <a:t>المواد المحلية</a:t>
            </a:r>
            <a:pPr rtl="1" algn="r" indent="0" marL="0">
              <a:buNone/>
            </a:pPr>
            <a:r>
              <a:rPr lang="ar-EG" altLang="en-US" sz="1400" dirty="0">
                <a:solidFill>
                  <a:srgbClr val="2B2620"/>
                </a:solidFill>
              </a:rPr>
              <a:t> و</a:t>
            </a:r>
            <a:pPr rtl="1" algn="r" indent="0" marL="0">
              <a:buNone/>
            </a:pPr>
            <a:r>
              <a:rPr lang="ar-EG" altLang="en-US" sz="1400" b="1" dirty="0">
                <a:solidFill>
                  <a:srgbClr val="2B2620"/>
                </a:solidFill>
              </a:rPr>
              <a:t>الحِرفة التقليدية</a:t>
            </a:r>
            <a:pPr rtl="1" algn="r" indent="0" marL="0">
              <a:buNone/>
            </a:pPr>
            <a:r>
              <a:rPr lang="ar-EG" altLang="en-US" sz="1400" dirty="0">
                <a:solidFill>
                  <a:srgbClr val="2B2620"/>
                </a:solidFill>
              </a:rPr>
              <a:t> و</a:t>
            </a:r>
            <a:pPr rtl="1" algn="r" indent="0" marL="0">
              <a:buNone/>
            </a:pPr>
            <a:r>
              <a:rPr lang="ar-EG" altLang="en-US" sz="1400" b="1" dirty="0">
                <a:solidFill>
                  <a:srgbClr val="2B2620"/>
                </a:solidFill>
              </a:rPr>
              <a:t>مشاركة الناس</a:t>
            </a:r>
            <a:pPr rtl="1" algn="r" indent="0" marL="0">
              <a:buNone/>
            </a:pPr>
            <a:r>
              <a:rPr lang="ar-EG" altLang="en-US" sz="1400" dirty="0">
                <a:solidFill>
                  <a:srgbClr val="2B2620"/>
                </a:solidFill>
              </a:rPr>
              <a:t>.</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قصة القرنة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أهالي القرنة القديمة كانوا ساكنين فوق مقابر طيبة الأثرية، والحكومة قررت نقلهم لقرية جديدة.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حسن فتحي اتكلف بتصميم القرية الجديدة </a:t>
            </a:r>
            <a:pPr rtl="1" algn="r" indent="0" marL="0">
              <a:buNone/>
            </a:pPr>
            <a:r>
              <a:rPr lang="ar-EG" altLang="en-US" sz="1400" b="1" dirty="0">
                <a:solidFill>
                  <a:srgbClr val="2B2620"/>
                </a:solidFill>
              </a:rPr>
              <a:t>بالطوب اللبن</a:t>
            </a:r>
            <a:pPr rtl="1" algn="r" indent="0" marL="0">
              <a:buNone/>
            </a:pPr>
            <a:r>
              <a:rPr lang="ar-EG" altLang="en-US" sz="1400" dirty="0">
                <a:solidFill>
                  <a:srgbClr val="2B2620"/>
                </a:solidFill>
              </a:rPr>
              <a:t>.</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اتبنى جزء كبير: السوق، الجامع، الخان، المسرح، مدرسة، وعدد من البيوت.</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المشروع </a:t>
            </a:r>
            <a:pPr rtl="1" algn="r" indent="0" marL="0">
              <a:buNone/>
            </a:pPr>
            <a:r>
              <a:rPr lang="ar-EG" altLang="en-US" sz="1400" b="1" dirty="0">
                <a:solidFill>
                  <a:srgbClr val="2B2620"/>
                </a:solidFill>
              </a:rPr>
              <a:t>ماكملش</a:t>
            </a:r>
            <a:pPr rtl="1" algn="r" indent="0" marL="0">
              <a:buNone/>
            </a:pPr>
            <a:r>
              <a:rPr lang="ar-EG" altLang="en-US" sz="1400" dirty="0">
                <a:solidFill>
                  <a:srgbClr val="2B2620"/>
                </a:solidFill>
              </a:rPr>
              <a:t>: مشاكل إدارية وتمويلية، ورفض جزء من الأهالي ترك مكانهم القديم.</a:t>
            </a:r>
            <a:endParaRPr lang="en-US" sz="1400" dirty="0"/>
          </a:p>
        </p:txBody>
      </p:sp>
      <p:sp>
        <p:nvSpPr>
          <p:cNvPr id="19" name="Text 17"/>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الدرس: نجاح أي مشروع إسكان مش بالتصميم بس — لازم توافق اجتماعي ودعم إداري.</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الطوب اللبن</a:t>
            </a:r>
            <a:endParaRPr lang="ar-EG" sz="3000" dirty="0"/>
          </a:p>
        </p:txBody>
      </p:sp>
      <p:sp>
        <p:nvSpPr>
          <p:cNvPr id="3" name="figure-frame"/>
          <p:cNvSpPr/>
          <p:nvPr/>
        </p:nvSpPr>
        <p:spPr>
          <a:xfrm>
            <a:off x="457200" y="1325880"/>
            <a:ext cx="5669280" cy="3122023"/>
          </a:xfrm>
          <a:prstGeom prst="roundRect">
            <a:avLst>
              <a:gd name="adj" fmla="val 2929"/>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939143"/>
          </a:xfrm>
          <a:prstGeom prst="rect">
            <a:avLst/>
          </a:prstGeom>
        </p:spPr>
      </p:pic>
      <p:sp>
        <p:nvSpPr>
          <p:cNvPr id="5" name="Text 2"/>
          <p:cNvSpPr txBox="1"/>
          <p:nvPr/>
        </p:nvSpPr>
        <p:spPr>
          <a:xfrm>
            <a:off x="548640" y="4493623"/>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حماية حائط الطوب اللبن من المية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طين + تبن (قش) + مية، يتخلط ويتساب يتخمر، ويتشكل في قوالب خشب ويتساب ينشف في الشمس.</a:t>
            </a:r>
            <a:endParaRPr lang="en-US" sz="1500" dirty="0"/>
          </a:p>
          <a:p>
            <a:pPr rtl="1" algn="r" marL="342900" indent="-342900">
              <a:spcAft>
                <a:spcPts val="800"/>
              </a:spcAft>
              <a:buSzPct val="100000"/>
              <a:buChar char="•"/>
            </a:pPr>
            <a:r>
              <a:rPr lang="ar-EG" altLang="en-US" sz="1500" b="1" dirty="0">
                <a:solidFill>
                  <a:srgbClr val="2B2620"/>
                </a:solidFill>
              </a:rPr>
              <a:t>مفيش حريق</a:t>
            </a:r>
            <a:pPr rtl="1" algn="r" marL="342900" indent="-342900">
              <a:spcAft>
                <a:spcPts val="800"/>
              </a:spcAft>
              <a:buSzPct val="100000"/>
              <a:buChar char="•"/>
            </a:pPr>
            <a:r>
              <a:rPr lang="ar-EG" altLang="en-US" sz="1500" dirty="0">
                <a:solidFill>
                  <a:srgbClr val="2B2620"/>
                </a:solidFill>
              </a:rPr>
              <a:t> = طاقة شبه معدومة وتكلفة قليلة.</a:t>
            </a:r>
            <a:endParaRPr lang="en-US" sz="1500" dirty="0"/>
          </a:p>
          <a:p>
            <a:pPr rtl="1" algn="r" marL="342900" indent="-342900">
              <a:spcAft>
                <a:spcPts val="800"/>
              </a:spcAft>
              <a:buSzPct val="100000"/>
              <a:buChar char="•"/>
            </a:pPr>
            <a:r>
              <a:rPr lang="ar-EG" altLang="en-US" sz="1500" b="1" dirty="0">
                <a:solidFill>
                  <a:srgbClr val="2B2620"/>
                </a:solidFill>
              </a:rPr>
              <a:t>المية</a:t>
            </a:r>
            <a:pPr rtl="1" algn="r" marL="342900" indent="-342900">
              <a:spcAft>
                <a:spcPts val="800"/>
              </a:spcAft>
              <a:buSzPct val="100000"/>
              <a:buChar char="•"/>
            </a:pPr>
            <a:r>
              <a:rPr lang="ar-EG" altLang="en-US" sz="1500" dirty="0">
                <a:solidFill>
                  <a:srgbClr val="2B2620"/>
                </a:solidFill>
              </a:rPr>
              <a:t> عدو الطوب اللبن: قاعدة حجر أو طوب محروق، بروز للسقف، بياض جيري يتجدد.</a:t>
            </a:r>
            <a:endParaRPr lang="en-US" sz="1500" dirty="0"/>
          </a:p>
          <a:p>
            <a:pPr rtl="1" algn="r" marL="342900" indent="-342900">
              <a:spcAft>
                <a:spcPts val="800"/>
              </a:spcAft>
              <a:buSzPct val="100000"/>
              <a:buChar char="•"/>
            </a:pPr>
            <a:r>
              <a:rPr lang="ar-EG" altLang="en-US" sz="1500" dirty="0">
                <a:solidFill>
                  <a:srgbClr val="2B2620"/>
                </a:solidFill>
              </a:rPr>
              <a:t>مقاومة الضغط أقل من الطوب الأحمر — مناسب للمباني الواطية (دور أو اتنين).</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القبو والقبة النوبية</a:t>
            </a:r>
            <a:endParaRPr lang="ar-EG" sz="3000" dirty="0"/>
          </a:p>
        </p:txBody>
      </p:sp>
      <p:sp>
        <p:nvSpPr>
          <p:cNvPr id="3" name="figure-frame"/>
          <p:cNvSpPr/>
          <p:nvPr/>
        </p:nvSpPr>
        <p:spPr>
          <a:xfrm>
            <a:off x="457200"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926080"/>
          </a:xfrm>
          <a:prstGeom prst="rect">
            <a:avLst/>
          </a:prstGeom>
        </p:spPr>
      </p:pic>
      <p:sp>
        <p:nvSpPr>
          <p:cNvPr id="5" name="Text 2"/>
          <p:cNvSpPr txBox="1"/>
          <p:nvPr/>
        </p:nvSpPr>
        <p:spPr>
          <a:xfrm>
            <a:off x="548640" y="448056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قبو نوبي بيتبني بمداميك مايلة من غير شدة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dirty="0">
                <a:solidFill>
                  <a:srgbClr val="2B2620"/>
                </a:solidFill>
              </a:rPr>
              <a:t>البنّاءين النوبيين في أسوان كانوا بيبنوا </a:t>
            </a:r>
            <a:pPr rtl="1" algn="r" marL="342900" indent="-342900">
              <a:spcAft>
                <a:spcPts val="800"/>
              </a:spcAft>
              <a:buSzPct val="100000"/>
              <a:buChar char="•"/>
            </a:pPr>
            <a:r>
              <a:rPr lang="ar-EG" altLang="en-US" sz="1500" b="1" dirty="0">
                <a:solidFill>
                  <a:srgbClr val="2B2620"/>
                </a:solidFill>
              </a:rPr>
              <a:t>أقبية من غير شدات خشب</a:t>
            </a:r>
            <a:pPr rtl="1" algn="r" marL="342900" indent="-342900">
              <a:spcAft>
                <a:spcPts val="800"/>
              </a:spcAft>
              <a:buSzPct val="100000"/>
              <a:buChar char="•"/>
            </a:pPr>
            <a:r>
              <a:rPr lang="ar-EG" altLang="en-US" sz="1500" dirty="0">
                <a:solidFill>
                  <a:srgbClr val="2B2620"/>
                </a:solidFill>
              </a:rPr>
              <a:t>: الطوب بيتحط مايل ويتسند على حائط خلفي، وكل مدماك بيمسك اللي قبله.</a:t>
            </a:r>
            <a:endParaRPr lang="en-US" sz="1500" dirty="0"/>
          </a:p>
          <a:p>
            <a:pPr rtl="1" algn="r" marL="342900" indent="-342900">
              <a:spcAft>
                <a:spcPts val="800"/>
              </a:spcAft>
              <a:buSzPct val="100000"/>
              <a:buChar char="•"/>
            </a:pPr>
            <a:r>
              <a:rPr lang="ar-EG" altLang="en-US" sz="1500" dirty="0">
                <a:solidFill>
                  <a:srgbClr val="2B2620"/>
                </a:solidFill>
              </a:rPr>
              <a:t>ده حل مشكلة </a:t>
            </a:r>
            <a:pPr rtl="1" algn="r" marL="342900" indent="-342900">
              <a:spcAft>
                <a:spcPts val="800"/>
              </a:spcAft>
              <a:buSzPct val="100000"/>
              <a:buChar char="•"/>
            </a:pPr>
            <a:r>
              <a:rPr lang="ar-EG" altLang="en-US" sz="1500" b="1" dirty="0">
                <a:solidFill>
                  <a:srgbClr val="2B2620"/>
                </a:solidFill>
              </a:rPr>
              <a:t>غلاء الخشب</a:t>
            </a:r>
            <a:pPr rtl="1" algn="r" marL="342900" indent="-342900">
              <a:spcAft>
                <a:spcPts val="800"/>
              </a:spcAft>
              <a:buSzPct val="100000"/>
              <a:buChar char="•"/>
            </a:pPr>
            <a:r>
              <a:rPr lang="ar-EG" altLang="en-US" sz="1500" dirty="0">
                <a:solidFill>
                  <a:srgbClr val="2B2620"/>
                </a:solidFill>
              </a:rPr>
              <a:t> في مصر (كان مستورد).</a:t>
            </a:r>
            <a:endParaRPr lang="en-US" sz="1500" dirty="0"/>
          </a:p>
          <a:p>
            <a:pPr rtl="1" algn="r" marL="342900" indent="-342900">
              <a:spcAft>
                <a:spcPts val="800"/>
              </a:spcAft>
              <a:buSzPct val="100000"/>
              <a:buChar char="•"/>
            </a:pPr>
            <a:r>
              <a:rPr lang="ar-EG" altLang="en-US" sz="1500" dirty="0">
                <a:solidFill>
                  <a:srgbClr val="2B2620"/>
                </a:solidFill>
              </a:rPr>
              <a:t>الشكل المنحني (قوس قريب من القطع المكافئ) بيخلي الحمل </a:t>
            </a:r>
            <a:pPr rtl="1" algn="r" marL="342900" indent="-342900">
              <a:spcAft>
                <a:spcPts val="800"/>
              </a:spcAft>
              <a:buSzPct val="100000"/>
              <a:buChar char="•"/>
            </a:pPr>
            <a:r>
              <a:rPr lang="ar-EG" altLang="en-US" sz="1500" b="1" dirty="0">
                <a:solidFill>
                  <a:srgbClr val="2B2620"/>
                </a:solidFill>
              </a:rPr>
              <a:t>ضغط بس</a:t>
            </a:r>
            <a:pPr rtl="1" algn="r" marL="342900" indent="-342900">
              <a:spcAft>
                <a:spcPts val="800"/>
              </a:spcAft>
              <a:buSzPct val="100000"/>
              <a:buChar char="•"/>
            </a:pPr>
            <a:r>
              <a:rPr lang="ar-EG" altLang="en-US" sz="1500" dirty="0">
                <a:solidFill>
                  <a:srgbClr val="2B2620"/>
                </a:solidFill>
              </a:rPr>
              <a:t>، والطوب اللبن قوي في الضغط.</a:t>
            </a:r>
            <a:endParaRPr lang="en-US" sz="1500" dirty="0"/>
          </a:p>
          <a:p>
            <a:pPr rtl="1" algn="r" marL="342900" indent="-342900">
              <a:spcAft>
                <a:spcPts val="800"/>
              </a:spcAft>
              <a:buSzPct val="100000"/>
              <a:buChar char="•"/>
            </a:pPr>
            <a:r>
              <a:rPr lang="ar-EG" altLang="en-US" sz="1500" b="1" dirty="0">
                <a:solidFill>
                  <a:srgbClr val="2B2620"/>
                </a:solidFill>
              </a:rPr>
              <a:t>القبة</a:t>
            </a:r>
            <a:pPr rtl="1" algn="r" marL="342900" indent="-342900">
              <a:spcAft>
                <a:spcPts val="800"/>
              </a:spcAft>
              <a:buSzPct val="100000"/>
              <a:buChar char="•"/>
            </a:pPr>
            <a:r>
              <a:rPr lang="ar-EG" altLang="en-US" sz="1500" dirty="0">
                <a:solidFill>
                  <a:srgbClr val="2B2620"/>
                </a:solidFill>
              </a:rPr>
              <a:t> فوق غرفة مربعة بتنتقل عن طريق </a:t>
            </a:r>
            <a:pPr rtl="1" algn="r" marL="342900" indent="-342900">
              <a:spcAft>
                <a:spcPts val="800"/>
              </a:spcAft>
              <a:buSzPct val="100000"/>
              <a:buChar char="•"/>
            </a:pPr>
            <a:r>
              <a:rPr lang="ar-EG" altLang="en-US" sz="1500" b="1" dirty="0">
                <a:solidFill>
                  <a:srgbClr val="2B2620"/>
                </a:solidFill>
              </a:rPr>
              <a:t>المثلثات الكروية (Pendentives)</a:t>
            </a:r>
            <a:pPr rtl="1" algn="r" marL="342900" indent="-342900">
              <a:spcAft>
                <a:spcPts val="800"/>
              </a:spcAft>
              <a:buSzPct val="100000"/>
              <a:buChar char="•"/>
            </a:pPr>
            <a:r>
              <a:rPr lang="ar-EG" altLang="en-US" sz="1500" dirty="0">
                <a:solidFill>
                  <a:srgbClr val="2B2620"/>
                </a:solidFill>
              </a:rPr>
              <a:t> في الأركان.</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الفناء الداخلي (الحوش)</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البيت بيتجمّع حوالين </a:t>
            </a:r>
            <a:pPr rtl="1" algn="r" indent="0" marL="0">
              <a:buNone/>
            </a:pPr>
            <a:r>
              <a:rPr lang="ar-EG" altLang="en-US" sz="1400" b="1" dirty="0">
                <a:solidFill>
                  <a:srgbClr val="2B2620"/>
                </a:solidFill>
              </a:rPr>
              <a:t>فناء</a:t>
            </a:r>
            <a:pPr rtl="1" algn="r" indent="0" marL="0">
              <a:buNone/>
            </a:pPr>
            <a:r>
              <a:rPr lang="ar-EG" altLang="en-US" sz="1400" dirty="0">
                <a:solidFill>
                  <a:srgbClr val="2B2620"/>
                </a:solidFill>
              </a:rPr>
              <a:t> مفتوح للسما.</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الفناء بيخزّن </a:t>
            </a:r>
            <a:pPr rtl="1" algn="r" indent="0" marL="0">
              <a:buNone/>
            </a:pPr>
            <a:r>
              <a:rPr lang="ar-EG" altLang="en-US" sz="1400" b="1" dirty="0">
                <a:solidFill>
                  <a:srgbClr val="2B2620"/>
                </a:solidFill>
              </a:rPr>
              <a:t>هوا الليل البارد</a:t>
            </a:r>
            <a:pPr rtl="1" algn="r" indent="0" marL="0">
              <a:buNone/>
            </a:pPr>
            <a:r>
              <a:rPr lang="ar-EG" altLang="en-US" sz="1400" dirty="0">
                <a:solidFill>
                  <a:srgbClr val="2B2620"/>
                </a:solidFill>
              </a:rPr>
              <a:t> وبيوزعه على الغرف الصبح.</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بيدي </a:t>
            </a:r>
            <a:pPr rtl="1" algn="r" indent="0" marL="0">
              <a:buNone/>
            </a:pPr>
            <a:r>
              <a:rPr lang="ar-EG" altLang="en-US" sz="1400" b="1" dirty="0">
                <a:solidFill>
                  <a:srgbClr val="2B2620"/>
                </a:solidFill>
              </a:rPr>
              <a:t>ظل</a:t>
            </a:r>
            <a:pPr rtl="1" algn="r" indent="0" marL="0">
              <a:buNone/>
            </a:pPr>
            <a:r>
              <a:rPr lang="ar-EG" altLang="en-US" sz="1400" dirty="0">
                <a:solidFill>
                  <a:srgbClr val="2B2620"/>
                </a:solidFill>
              </a:rPr>
              <a:t> و</a:t>
            </a:r>
            <a:pPr rtl="1" algn="r" indent="0" marL="0">
              <a:buNone/>
            </a:pPr>
            <a:r>
              <a:rPr lang="ar-EG" altLang="en-US" sz="1400" b="1" dirty="0">
                <a:solidFill>
                  <a:srgbClr val="2B2620"/>
                </a:solidFill>
              </a:rPr>
              <a:t>خصوصية</a:t>
            </a:r>
            <a:pPr rtl="1" algn="r" indent="0" marL="0">
              <a:buNone/>
            </a:pPr>
            <a:r>
              <a:rPr lang="ar-EG" altLang="en-US" sz="1400" dirty="0">
                <a:solidFill>
                  <a:srgbClr val="2B2620"/>
                </a:solidFill>
              </a:rPr>
              <a:t> للأسرة، ومكان للعيال والزرع.</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نسبة الفناء للارتفاع مهمة: فناء ضيق وعالي = ظل أكتر.</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الملقف والتهوية الطبيعية</a:t>
            </a:r>
            <a:endParaRPr lang="ar-EG" sz="3000" dirty="0"/>
          </a:p>
        </p:txBody>
      </p:sp>
      <p:sp>
        <p:nvSpPr>
          <p:cNvPr id="3" name="figure-frame"/>
          <p:cNvSpPr/>
          <p:nvPr/>
        </p:nvSpPr>
        <p:spPr>
          <a:xfrm>
            <a:off x="457200" y="1325880"/>
            <a:ext cx="5669280" cy="3108960"/>
          </a:xfrm>
          <a:prstGeom prst="roundRect">
            <a:avLst>
              <a:gd name="adj" fmla="val 2941"/>
            </a:avLst>
          </a:prstGeom>
          <a:solidFill>
            <a:srgbClr val="FFFFFF"/>
          </a:solidFill>
          <a:ln w="12700">
            <a:solidFill>
              <a:srgbClr val="E6DFD1"/>
            </a:solidFill>
            <a:prstDash val="solid"/>
          </a:ln>
          <a:effectLst>
            <a:outerShdw sx="100000" sy="100000" kx="0" ky="0" algn="bl" rotWithShape="0" blurRad="76200" dist="25400" dir="5400000">
              <a:srgbClr val="000000">
                <a:alpha val="12000"/>
              </a:srgbClr>
            </a:outerShdw>
          </a:effectLst>
        </p:spPr>
      </p:sp>
      <p:pic>
        <p:nvPicPr>
          <p:cNvPr id="4" name="figure" descr="preencoded.png">    </p:cNvPr>
          <p:cNvPicPr>
            <a:picLocks noChangeAspect="1"/>
          </p:cNvPicPr>
          <p:nvPr/>
        </p:nvPicPr>
        <p:blipFill>
          <a:blip r:embed="rId1"/>
          <a:stretch>
            <a:fillRect/>
          </a:stretch>
        </p:blipFill>
        <p:spPr>
          <a:xfrm>
            <a:off x="548640" y="1417320"/>
            <a:ext cx="5486400" cy="2926080"/>
          </a:xfrm>
          <a:prstGeom prst="rect">
            <a:avLst/>
          </a:prstGeom>
        </p:spPr>
      </p:pic>
      <p:sp>
        <p:nvSpPr>
          <p:cNvPr id="5" name="Text 2"/>
          <p:cNvSpPr txBox="1"/>
          <p:nvPr/>
        </p:nvSpPr>
        <p:spPr>
          <a:xfrm>
            <a:off x="548640" y="4480560"/>
            <a:ext cx="5486400" cy="365760"/>
          </a:xfrm>
          <a:prstGeom prst="rect">
            <a:avLst/>
          </a:prstGeom>
          <a:noFill/>
          <a:ln/>
        </p:spPr>
        <p:txBody>
          <a:bodyPr wrap="square" rtlCol="0" anchor="ctr"/>
          <a:lstStyle/>
          <a:p>
            <a:pPr rtl="1" algn="ctr" indent="0" marL="0">
              <a:buNone/>
            </a:pPr>
            <a:r>
              <a:rPr lang="ar-EG" altLang="en-US" sz="1100" i="1" dirty="0">
                <a:solidFill>
                  <a:srgbClr val="6B6152"/>
                </a:solidFill>
              </a:rPr>
              <a:t>دورة التهوية بالملقف والشخشيخة</a:t>
            </a:r>
            <a:endParaRPr lang="ar-EG" sz="1100" dirty="0"/>
          </a:p>
        </p:txBody>
      </p:sp>
      <p:sp>
        <p:nvSpPr>
          <p:cNvPr id="6" name="Text 3"/>
          <p:cNvSpPr txBox="1"/>
          <p:nvPr/>
        </p:nvSpPr>
        <p:spPr>
          <a:xfrm>
            <a:off x="6430975" y="1325880"/>
            <a:ext cx="5212080" cy="4480560"/>
          </a:xfrm>
          <a:prstGeom prst="rect">
            <a:avLst/>
          </a:prstGeom>
          <a:noFill/>
          <a:ln/>
        </p:spPr>
        <p:txBody>
          <a:bodyPr wrap="square" rtlCol="0" anchor="t"/>
          <a:lstStyle/>
          <a:p>
            <a:pPr rtl="1" algn="r" marL="342900" indent="-342900">
              <a:spcAft>
                <a:spcPts val="800"/>
              </a:spcAft>
              <a:buSzPct val="100000"/>
              <a:buChar char="•"/>
            </a:pPr>
            <a:r>
              <a:rPr lang="ar-EG" altLang="en-US" sz="1500" b="1" dirty="0">
                <a:solidFill>
                  <a:srgbClr val="2B2620"/>
                </a:solidFill>
              </a:rPr>
              <a:t>الملقف</a:t>
            </a:r>
            <a:pPr rtl="1" algn="r" marL="342900" indent="-342900">
              <a:spcAft>
                <a:spcPts val="800"/>
              </a:spcAft>
              <a:buSzPct val="100000"/>
              <a:buChar char="•"/>
            </a:pPr>
            <a:r>
              <a:rPr lang="ar-EG" altLang="en-US" sz="1500" dirty="0">
                <a:solidFill>
                  <a:srgbClr val="2B2620"/>
                </a:solidFill>
              </a:rPr>
              <a:t> برج على السقف مفتوح ناحية </a:t>
            </a:r>
            <a:pPr rtl="1" algn="r" marL="342900" indent="-342900">
              <a:spcAft>
                <a:spcPts val="800"/>
              </a:spcAft>
              <a:buSzPct val="100000"/>
              <a:buChar char="•"/>
            </a:pPr>
            <a:r>
              <a:rPr lang="ar-EG" altLang="en-US" sz="1500" b="1" dirty="0">
                <a:solidFill>
                  <a:srgbClr val="2B2620"/>
                </a:solidFill>
              </a:rPr>
              <a:t>الريح السائدة</a:t>
            </a:r>
            <a:pPr rtl="1" algn="r" marL="342900" indent="-342900">
              <a:spcAft>
                <a:spcPts val="800"/>
              </a:spcAft>
              <a:buSzPct val="100000"/>
              <a:buChar char="•"/>
            </a:pPr>
            <a:r>
              <a:rPr lang="ar-EG" altLang="en-US" sz="1500" dirty="0">
                <a:solidFill>
                  <a:srgbClr val="2B2620"/>
                </a:solidFill>
              </a:rPr>
              <a:t> (الشمال الغربي في مصر).</a:t>
            </a:r>
            <a:endParaRPr lang="en-US" sz="1500" dirty="0"/>
          </a:p>
          <a:p>
            <a:pPr rtl="1" algn="r" marL="342900" indent="-342900">
              <a:spcAft>
                <a:spcPts val="800"/>
              </a:spcAft>
              <a:buSzPct val="100000"/>
              <a:buChar char="•"/>
            </a:pPr>
            <a:r>
              <a:rPr lang="ar-EG" altLang="en-US" sz="1500" dirty="0">
                <a:solidFill>
                  <a:srgbClr val="2B2620"/>
                </a:solidFill>
              </a:rPr>
              <a:t>بيلقط الهوا النظيف من فوق (أنضف وأبرد من هوا الشارع) وينزّله للغرف.</a:t>
            </a:r>
            <a:endParaRPr lang="en-US" sz="1500" dirty="0"/>
          </a:p>
          <a:p>
            <a:pPr rtl="1" algn="r" marL="342900" indent="-342900">
              <a:spcAft>
                <a:spcPts val="800"/>
              </a:spcAft>
              <a:buSzPct val="100000"/>
              <a:buChar char="•"/>
            </a:pPr>
            <a:r>
              <a:rPr lang="ar-EG" altLang="en-US" sz="1500" dirty="0">
                <a:solidFill>
                  <a:srgbClr val="2B2620"/>
                </a:solidFill>
              </a:rPr>
              <a:t>ممكن يتحط فيه </a:t>
            </a:r>
            <a:pPr rtl="1" algn="r" marL="342900" indent="-342900">
              <a:spcAft>
                <a:spcPts val="800"/>
              </a:spcAft>
              <a:buSzPct val="100000"/>
              <a:buChar char="•"/>
            </a:pPr>
            <a:r>
              <a:rPr lang="ar-EG" altLang="en-US" sz="1500" b="1" dirty="0">
                <a:solidFill>
                  <a:srgbClr val="2B2620"/>
                </a:solidFill>
              </a:rPr>
              <a:t>فخار مبلول أو فحم</a:t>
            </a:r>
            <a:pPr rtl="1" algn="r" marL="342900" indent="-342900">
              <a:spcAft>
                <a:spcPts val="800"/>
              </a:spcAft>
              <a:buSzPct val="100000"/>
              <a:buChar char="•"/>
            </a:pPr>
            <a:r>
              <a:rPr lang="ar-EG" altLang="en-US" sz="1500" dirty="0">
                <a:solidFill>
                  <a:srgbClr val="2B2620"/>
                </a:solidFill>
              </a:rPr>
              <a:t> عشان الهوا يترطب ويبرد بالتبخير.</a:t>
            </a:r>
            <a:endParaRPr lang="en-US" sz="1500" dirty="0"/>
          </a:p>
          <a:p>
            <a:pPr rtl="1" algn="r" marL="342900" indent="-342900">
              <a:spcAft>
                <a:spcPts val="800"/>
              </a:spcAft>
              <a:buSzPct val="100000"/>
              <a:buChar char="•"/>
            </a:pPr>
            <a:r>
              <a:rPr lang="ar-EG" altLang="en-US" sz="1500" dirty="0">
                <a:solidFill>
                  <a:srgbClr val="2B2620"/>
                </a:solidFill>
              </a:rPr>
              <a:t>مع </a:t>
            </a:r>
            <a:pPr rtl="1" algn="r" marL="342900" indent="-342900">
              <a:spcAft>
                <a:spcPts val="800"/>
              </a:spcAft>
              <a:buSzPct val="100000"/>
              <a:buChar char="•"/>
            </a:pPr>
            <a:r>
              <a:rPr lang="ar-EG" altLang="en-US" sz="1500" b="1" dirty="0">
                <a:solidFill>
                  <a:srgbClr val="2B2620"/>
                </a:solidFill>
              </a:rPr>
              <a:t>الشخشيخة</a:t>
            </a:r>
            <a:pPr rtl="1" algn="r" marL="342900" indent="-342900">
              <a:spcAft>
                <a:spcPts val="800"/>
              </a:spcAft>
              <a:buSzPct val="100000"/>
              <a:buChar char="•"/>
            </a:pPr>
            <a:r>
              <a:rPr lang="ar-EG" altLang="en-US" sz="1500" dirty="0">
                <a:solidFill>
                  <a:srgbClr val="2B2620"/>
                </a:solidFill>
              </a:rPr>
              <a:t> (فتحة في السقف للهوا السخن يطلع) بيعمل دورة تهوية كاملة.</a:t>
            </a:r>
            <a:endParaRPr lang="en-US" sz="15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المشربية</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خشب مخروط بفتحات صغيرة على الشبابيك.</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تكسر الشمس</a:t>
            </a:r>
            <a:pPr rtl="1" algn="r" indent="0" marL="0">
              <a:buNone/>
            </a:pPr>
            <a:r>
              <a:rPr lang="ar-EG" altLang="en-US" sz="1400" dirty="0">
                <a:solidFill>
                  <a:srgbClr val="2B2620"/>
                </a:solidFill>
              </a:rPr>
              <a:t> المباشرة وتقلل الوهج.</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خصوصية</a:t>
            </a:r>
            <a:pPr rtl="1" algn="r" indent="0" marL="0">
              <a:buNone/>
            </a:pPr>
            <a:r>
              <a:rPr lang="ar-EG" altLang="en-US" sz="1400" dirty="0">
                <a:solidFill>
                  <a:srgbClr val="2B2620"/>
                </a:solidFill>
              </a:rPr>
              <a:t>: اللي جوه يشوف برا والعكس لأ.</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بتسمح بمرور </a:t>
            </a:r>
            <a:pPr rtl="1" algn="r" indent="0" marL="0">
              <a:buNone/>
            </a:pPr>
            <a:r>
              <a:rPr lang="ar-EG" altLang="en-US" sz="1400" b="1" dirty="0">
                <a:solidFill>
                  <a:srgbClr val="2B2620"/>
                </a:solidFill>
              </a:rPr>
              <a:t>الهوا</a:t>
            </a:r>
            <a:pPr rtl="1" algn="r" indent="0" marL="0">
              <a:buNone/>
            </a:pPr>
            <a:r>
              <a:rPr lang="ar-EG" altLang="en-US" sz="1400" dirty="0">
                <a:solidFill>
                  <a:srgbClr val="2B2620"/>
                </a:solidFill>
              </a:rPr>
              <a:t>، وزمان كان بيتحط وراها قلل مية للتبريد.</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البناء التعاوني ومشاركة الأهالي</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حسن فتحي كان شايف إن الناس لازم </a:t>
            </a:r>
            <a:pPr rtl="1" algn="r" indent="0" marL="0">
              <a:buNone/>
            </a:pPr>
            <a:r>
              <a:rPr lang="ar-EG" altLang="en-US" sz="1400" b="1" dirty="0">
                <a:solidFill>
                  <a:srgbClr val="2B2620"/>
                </a:solidFill>
              </a:rPr>
              <a:t>يشاركوا في بناء بيوتهم</a:t>
            </a:r>
            <a:pPr rtl="1" algn="r" indent="0" marL="0">
              <a:buNone/>
            </a:pPr>
            <a:r>
              <a:rPr lang="ar-EG" altLang="en-US" sz="1400" dirty="0">
                <a:solidFill>
                  <a:srgbClr val="2B2620"/>
                </a:solidFill>
              </a:rPr>
              <a:t>: يتعلموا الحرفة ويشتغلوا بإيديهم.</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المعماري</a:t>
            </a:r>
            <a:pPr rtl="1" algn="r" indent="0" marL="0">
              <a:buNone/>
            </a:pPr>
            <a:r>
              <a:rPr lang="ar-EG" altLang="en-US" sz="1400" dirty="0">
                <a:solidFill>
                  <a:srgbClr val="2B2620"/>
                </a:solidFill>
              </a:rPr>
              <a:t> دوره يفهم احتياجات كل أسرة (عدد الأفراد، الشغل، المواشي، العادات) ويصمم لها.</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كل بيت في القرنة كان </a:t>
            </a:r>
            <a:pPr rtl="1" algn="r" indent="0" marL="0">
              <a:buNone/>
            </a:pPr>
            <a:r>
              <a:rPr lang="ar-EG" altLang="en-US" sz="1400" b="1" dirty="0">
                <a:solidFill>
                  <a:srgbClr val="2B2620"/>
                </a:solidFill>
              </a:rPr>
              <a:t>مختلف</a:t>
            </a:r>
            <a:pPr rtl="1" algn="r" indent="0" marL="0">
              <a:buNone/>
            </a:pPr>
            <a:r>
              <a:rPr lang="ar-EG" altLang="en-US" sz="1400" dirty="0">
                <a:solidFill>
                  <a:srgbClr val="2B2620"/>
                </a:solidFill>
              </a:rPr>
              <a:t> حسب أسرته — ضد فكرة الوحدة النمطية المتكررة.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b="1" dirty="0">
                <a:solidFill>
                  <a:srgbClr val="2B2620"/>
                </a:solidFill>
              </a:rPr>
              <a:t>التدريب</a:t>
            </a:r>
            <a:pPr rtl="1" algn="r" indent="0" marL="0">
              <a:buNone/>
            </a:pPr>
            <a:r>
              <a:rPr lang="ar-EG" altLang="en-US" sz="1400" dirty="0">
                <a:solidFill>
                  <a:srgbClr val="2B2620"/>
                </a:solidFill>
              </a:rPr>
              <a:t>: نقل حرفة البنائين النوبيين للأهالي.</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التكلفة والاقتصاد</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استخدام الطين المحلي والبناء من غير شدات </a:t>
            </a:r>
            <a:pPr rtl="1" algn="r" indent="0" marL="0">
              <a:buNone/>
            </a:pPr>
            <a:r>
              <a:rPr lang="ar-EG" altLang="en-US" sz="1400" b="1" dirty="0">
                <a:solidFill>
                  <a:srgbClr val="2B2620"/>
                </a:solidFill>
              </a:rPr>
              <a:t>قلل التكلفة جداً</a:t>
            </a:r>
            <a:pPr rtl="1" algn="r" indent="0" marL="0">
              <a:buNone/>
            </a:pPr>
            <a:r>
              <a:rPr lang="ar-EG" altLang="en-US" sz="1400" dirty="0">
                <a:solidFill>
                  <a:srgbClr val="2B2620"/>
                </a:solidFill>
              </a:rPr>
              <a:t> مقارنة بالخرسانة.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العمالة من الأهالي نفسهم = فلوس بتفضل في القرية.</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حسن فتحي بيحسب إن التكلفة الحقيقية للبيت مش بس فلوس المواد — فيها كمان الراحة الحرارية وعمر المبنى والصيانة.</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النقد والدروس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البيروقراطية وتغيير المسؤولين.</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الأهالي كانوا مرتبطين بمكانهم القديم ومصدر رزقهم.</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بعض الناس شافوا الطوب اللبن «عمارة فقر» وكانوا عايزين الخرسانة «الحديثة».</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التصميم </a:t>
            </a:r>
            <a:pPr rtl="1" algn="r" indent="0" marL="0">
              <a:buNone/>
            </a:pPr>
            <a:r>
              <a:rPr lang="ar-EG" altLang="en-US" sz="1400" b="1" dirty="0">
                <a:solidFill>
                  <a:srgbClr val="2B2620"/>
                </a:solidFill>
              </a:rPr>
              <a:t>للمناخ</a:t>
            </a:r>
            <a:pPr rtl="1" algn="r" indent="0" marL="0">
              <a:buNone/>
            </a:pPr>
            <a:r>
              <a:rPr lang="ar-EG" altLang="en-US" sz="1400" dirty="0">
                <a:solidFill>
                  <a:srgbClr val="2B2620"/>
                </a:solidFill>
              </a:rPr>
              <a:t> أولاً: توجيه، ظل، تهوية طبيعية، كتلة حرارية.</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المواد المحلية</a:t>
            </a:r>
            <a:pPr rtl="1" algn="r" indent="0" marL="0">
              <a:buNone/>
            </a:pPr>
            <a:r>
              <a:rPr lang="ar-EG" altLang="en-US" sz="1400" dirty="0">
                <a:solidFill>
                  <a:srgbClr val="2B2620"/>
                </a:solidFill>
              </a:rPr>
              <a:t> قليلة الطاقة لما تكون مناسبة.</a:t>
            </a:r>
            <a:endParaRPr lang="en-US" sz="1400" dirty="0"/>
          </a:p>
        </p:txBody>
      </p:sp>
      <p:sp>
        <p:nvSpPr>
          <p:cNvPr id="23" name="card5"/>
          <p:cNvSpPr/>
          <p:nvPr/>
        </p:nvSpPr>
        <p:spPr>
          <a:xfrm>
            <a:off x="548640" y="3383280"/>
            <a:ext cx="3515258" cy="1737360"/>
          </a:xfrm>
          <a:prstGeom prst="roundRect">
            <a:avLst>
              <a:gd name="adj" fmla="val 6316"/>
            </a:avLst>
          </a:prstGeom>
          <a:solidFill>
            <a:srgbClr val="F7F2E8"/>
          </a:solidFill>
          <a:ln w="9525">
            <a:solidFill>
              <a:srgbClr val="E6DFD1"/>
            </a:solidFill>
            <a:prstDash val="solid"/>
          </a:ln>
        </p:spPr>
      </p:sp>
      <p:sp>
        <p:nvSpPr>
          <p:cNvPr id="24" name="card-dot5"/>
          <p:cNvSpPr/>
          <p:nvPr/>
        </p:nvSpPr>
        <p:spPr>
          <a:xfrm>
            <a:off x="3423818" y="3566160"/>
            <a:ext cx="457200" cy="457200"/>
          </a:xfrm>
          <a:prstGeom prst="ellipse">
            <a:avLst/>
          </a:prstGeom>
          <a:solidFill>
            <a:schemeClr val="accent2"/>
          </a:solidFill>
          <a:ln/>
        </p:spPr>
      </p:sp>
      <p:sp>
        <p:nvSpPr>
          <p:cNvPr id="25" name="Text 23"/>
          <p:cNvSpPr txBox="1"/>
          <p:nvPr/>
        </p:nvSpPr>
        <p:spPr>
          <a:xfrm>
            <a:off x="342381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26" name="Text 24"/>
          <p:cNvSpPr txBox="1"/>
          <p:nvPr/>
        </p:nvSpPr>
        <p:spPr>
          <a:xfrm>
            <a:off x="731520" y="4114800"/>
            <a:ext cx="3149498" cy="914400"/>
          </a:xfrm>
          <a:prstGeom prst="rect">
            <a:avLst/>
          </a:prstGeom>
          <a:noFill/>
          <a:ln/>
        </p:spPr>
        <p:txBody>
          <a:bodyPr wrap="square" rtlCol="0" anchor="t"/>
          <a:lstStyle/>
          <a:p>
            <a:pPr rtl="1" algn="r" indent="0" marL="0">
              <a:buNone/>
            </a:pPr>
            <a:r>
              <a:rPr lang="ar-EG" altLang="en-US" sz="1400" b="1" dirty="0">
                <a:solidFill>
                  <a:srgbClr val="2B2620"/>
                </a:solidFill>
              </a:rPr>
              <a:t>المستخدم شريك</a:t>
            </a:r>
            <a:pPr rtl="1" algn="r" indent="0" marL="0">
              <a:buNone/>
            </a:pPr>
            <a:r>
              <a:rPr lang="ar-EG" altLang="en-US" sz="1400" dirty="0">
                <a:solidFill>
                  <a:srgbClr val="2B2620"/>
                </a:solidFill>
              </a:rPr>
              <a:t> في التصميم.</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تأثير حسن فتحي</a:t>
            </a:r>
            <a:endParaRPr lang="ar-EG" sz="3000" dirty="0"/>
          </a:p>
        </p:txBody>
      </p:sp>
      <p:sp>
        <p:nvSpPr>
          <p:cNvPr id="3" name="card0"/>
          <p:cNvSpPr/>
          <p:nvPr/>
        </p:nvSpPr>
        <p:spPr>
          <a:xfrm>
            <a:off x="6233008" y="1371600"/>
            <a:ext cx="541004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6415888"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حصل على جائزة </a:t>
            </a:r>
            <a:pPr rtl="1" algn="r" indent="0" marL="0">
              <a:buNone/>
            </a:pPr>
            <a:r>
              <a:rPr lang="ar-EG" altLang="en-US" sz="1400" b="1" dirty="0">
                <a:solidFill>
                  <a:srgbClr val="2B2620"/>
                </a:solidFill>
              </a:rPr>
              <a:t>نوبل البديلة</a:t>
            </a:r>
            <a:pPr rtl="1" algn="r" indent="0" marL="0">
              <a:buNone/>
            </a:pPr>
            <a:r>
              <a:rPr lang="ar-EG" altLang="en-US" sz="1400" dirty="0">
                <a:solidFill>
                  <a:srgbClr val="2B2620"/>
                </a:solidFill>
              </a:rPr>
              <a:t> (Right Livelihood) وجائزة </a:t>
            </a:r>
            <a:pPr rtl="1" algn="r" indent="0" marL="0">
              <a:buNone/>
            </a:pPr>
            <a:r>
              <a:rPr lang="ar-EG" altLang="en-US" sz="1400" b="1" dirty="0">
                <a:solidFill>
                  <a:srgbClr val="2B2620"/>
                </a:solidFill>
              </a:rPr>
              <a:t>الآغا خان</a:t>
            </a:r>
            <a:pPr rtl="1" algn="r" indent="0" marL="0">
              <a:buNone/>
            </a:pPr>
            <a:r>
              <a:rPr lang="ar-EG" altLang="en-US" sz="1400" dirty="0">
                <a:solidFill>
                  <a:srgbClr val="2B2620"/>
                </a:solidFill>
              </a:rPr>
              <a:t> للعمارة.</a:t>
            </a:r>
            <a:endParaRPr lang="en-US" sz="1400" dirty="0"/>
          </a:p>
        </p:txBody>
      </p:sp>
      <p:sp>
        <p:nvSpPr>
          <p:cNvPr id="7" name="card1"/>
          <p:cNvSpPr/>
          <p:nvPr/>
        </p:nvSpPr>
        <p:spPr>
          <a:xfrm>
            <a:off x="548640" y="1371600"/>
            <a:ext cx="541004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5318608" y="1554480"/>
            <a:ext cx="457200" cy="457200"/>
          </a:xfrm>
          <a:prstGeom prst="ellipse">
            <a:avLst/>
          </a:prstGeom>
          <a:solidFill>
            <a:schemeClr val="accent2"/>
          </a:solidFill>
          <a:ln/>
        </p:spPr>
      </p:sp>
      <p:sp>
        <p:nvSpPr>
          <p:cNvPr id="9" name="Text 7"/>
          <p:cNvSpPr txBox="1"/>
          <p:nvPr/>
        </p:nvSpPr>
        <p:spPr>
          <a:xfrm>
            <a:off x="531860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731520" y="2103120"/>
            <a:ext cx="5044288" cy="914400"/>
          </a:xfrm>
          <a:prstGeom prst="rect">
            <a:avLst/>
          </a:prstGeom>
          <a:noFill/>
          <a:ln/>
        </p:spPr>
        <p:txBody>
          <a:bodyPr wrap="square" rtlCol="0" anchor="t"/>
          <a:lstStyle/>
          <a:p>
            <a:pPr rtl="1" algn="r" indent="0" marL="0">
              <a:buNone/>
            </a:pPr>
            <a:r>
              <a:rPr lang="ar-EG" altLang="en-US" sz="1400" dirty="0">
                <a:solidFill>
                  <a:srgbClr val="2B2620"/>
                </a:solidFill>
              </a:rPr>
              <a:t>قرية القرنة الجديدة النهارده على قائمة الاهتمام الدولي للحفاظ على التراث.</a:t>
            </a:r>
            <a:endParaRPr lang="en-US" sz="1400" dirty="0"/>
          </a:p>
        </p:txBody>
      </p:sp>
      <p:sp>
        <p:nvSpPr>
          <p:cNvPr id="11" name="card2"/>
          <p:cNvSpPr/>
          <p:nvPr/>
        </p:nvSpPr>
        <p:spPr>
          <a:xfrm>
            <a:off x="6233008" y="3383280"/>
            <a:ext cx="541004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11002975" y="3566160"/>
            <a:ext cx="457200" cy="457200"/>
          </a:xfrm>
          <a:prstGeom prst="ellipse">
            <a:avLst/>
          </a:prstGeom>
          <a:solidFill>
            <a:schemeClr val="accent2"/>
          </a:solidFill>
          <a:ln/>
        </p:spPr>
      </p:sp>
      <p:sp>
        <p:nvSpPr>
          <p:cNvPr id="13" name="Text 11"/>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6415888"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أفكاره أثّرت في معماريين في مصر والسعودية والعالم كله، وفي حركة العمارة الطينية الحديثة.</a:t>
            </a:r>
            <a:endParaRPr lang="en-US" sz="1400" dirty="0"/>
          </a:p>
        </p:txBody>
      </p:sp>
      <p:sp>
        <p:nvSpPr>
          <p:cNvPr id="15" name="card3"/>
          <p:cNvSpPr/>
          <p:nvPr/>
        </p:nvSpPr>
        <p:spPr>
          <a:xfrm>
            <a:off x="548640" y="3383280"/>
            <a:ext cx="541004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5318608" y="3566160"/>
            <a:ext cx="457200" cy="457200"/>
          </a:xfrm>
          <a:prstGeom prst="ellipse">
            <a:avLst/>
          </a:prstGeom>
          <a:solidFill>
            <a:schemeClr val="accent2"/>
          </a:solidFill>
          <a:ln/>
        </p:spPr>
      </p:sp>
      <p:sp>
        <p:nvSpPr>
          <p:cNvPr id="17" name="Text 15"/>
          <p:cNvSpPr txBox="1"/>
          <p:nvPr/>
        </p:nvSpPr>
        <p:spPr>
          <a:xfrm>
            <a:off x="5318608"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731520" y="4114800"/>
            <a:ext cx="5044288" cy="914400"/>
          </a:xfrm>
          <a:prstGeom prst="rect">
            <a:avLst/>
          </a:prstGeom>
          <a:noFill/>
          <a:ln/>
        </p:spPr>
        <p:txBody>
          <a:bodyPr wrap="square" rtlCol="0" anchor="t"/>
          <a:lstStyle/>
          <a:p>
            <a:pPr rtl="1" algn="r" indent="0" marL="0">
              <a:buNone/>
            </a:pPr>
            <a:r>
              <a:rPr lang="ar-EG" altLang="en-US" sz="1400" dirty="0">
                <a:solidFill>
                  <a:srgbClr val="2B2620"/>
                </a:solidFill>
              </a:rPr>
              <a:t>مشاريع زي </a:t>
            </a:r>
            <a:pPr rtl="1" algn="r" indent="0" marL="0">
              <a:buNone/>
            </a:pPr>
            <a:r>
              <a:rPr lang="ar-EG" altLang="en-US" sz="1400" b="1" dirty="0">
                <a:solidFill>
                  <a:srgbClr val="2B2620"/>
                </a:solidFill>
              </a:rPr>
              <a:t>قرية باريس</a:t>
            </a:r>
            <a:pPr rtl="1" algn="r" indent="0" marL="0">
              <a:buNone/>
            </a:pPr>
            <a:r>
              <a:rPr lang="ar-EG" altLang="en-US" sz="1400" dirty="0">
                <a:solidFill>
                  <a:srgbClr val="2B2620"/>
                </a:solidFill>
              </a:rPr>
              <a:t> في الواحات الخارجة و</a:t>
            </a:r>
            <a:pPr rtl="1" algn="r" indent="0" marL="0">
              <a:buNone/>
            </a:pPr>
            <a:r>
              <a:rPr lang="ar-EG" altLang="en-US" sz="1400" b="1" dirty="0">
                <a:solidFill>
                  <a:srgbClr val="2B2620"/>
                </a:solidFill>
              </a:rPr>
              <a:t>دار الإسلام</a:t>
            </a:r>
            <a:pPr rtl="1" algn="r" indent="0" marL="0">
              <a:buNone/>
            </a:pPr>
            <a:r>
              <a:rPr lang="ar-EG" altLang="en-US" sz="1400" dirty="0">
                <a:solidFill>
                  <a:srgbClr val="2B2620"/>
                </a:solidFill>
              </a:rPr>
              <a:t> في نيو مكسيكو امتداد لأفكاره.</a:t>
            </a:r>
            <a:endParaRPr lang="en-US" sz="14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nchor="ctr"/>
          <a:lstStyle/>
          <a:p>
            <a:pPr rtl="1" algn="r" indent="0" marL="0">
              <a:buNone/>
            </a:pPr>
            <a:r>
              <a:rPr lang="ar-EG" altLang="en-US" sz="3000" b="1" dirty="0">
                <a:solidFill>
                  <a:srgbClr val="2B2620"/>
                </a:solidFill>
              </a:rPr>
              <a:t>خلاصة م. عمر خميس</a:t>
            </a:r>
            <a:endParaRPr lang="ar-EG" sz="3000" dirty="0"/>
          </a:p>
        </p:txBody>
      </p:sp>
      <p:sp>
        <p:nvSpPr>
          <p:cNvPr id="3" name="card0"/>
          <p:cNvSpPr/>
          <p:nvPr/>
        </p:nvSpPr>
        <p:spPr>
          <a:xfrm>
            <a:off x="8127797" y="1371600"/>
            <a:ext cx="3515258" cy="1737360"/>
          </a:xfrm>
          <a:prstGeom prst="roundRect">
            <a:avLst>
              <a:gd name="adj" fmla="val 6316"/>
            </a:avLst>
          </a:prstGeom>
          <a:solidFill>
            <a:srgbClr val="F7F2E8"/>
          </a:solidFill>
          <a:ln w="9525">
            <a:solidFill>
              <a:srgbClr val="E6DFD1"/>
            </a:solidFill>
            <a:prstDash val="solid"/>
          </a:ln>
        </p:spPr>
      </p:sp>
      <p:sp>
        <p:nvSpPr>
          <p:cNvPr id="4" name="card-dot0"/>
          <p:cNvSpPr/>
          <p:nvPr/>
        </p:nvSpPr>
        <p:spPr>
          <a:xfrm>
            <a:off x="11002975" y="1554480"/>
            <a:ext cx="457200" cy="457200"/>
          </a:xfrm>
          <a:prstGeom prst="ellipse">
            <a:avLst/>
          </a:prstGeom>
          <a:solidFill>
            <a:schemeClr val="accent2"/>
          </a:solidFill>
          <a:ln/>
        </p:spPr>
      </p:sp>
      <p:sp>
        <p:nvSpPr>
          <p:cNvPr id="5" name="Text 3"/>
          <p:cNvSpPr txBox="1"/>
          <p:nvPr/>
        </p:nvSpPr>
        <p:spPr>
          <a:xfrm>
            <a:off x="11002975"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310677"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العمارة الجيدة مش مرتبطة بالغلا — مرتبطة </a:t>
            </a:r>
            <a:pPr rtl="1" algn="r" indent="0" marL="0">
              <a:buNone/>
            </a:pPr>
            <a:r>
              <a:rPr lang="ar-EG" altLang="en-US" sz="1400" b="1" dirty="0">
                <a:solidFill>
                  <a:srgbClr val="2B2620"/>
                </a:solidFill>
              </a:rPr>
              <a:t>بالفهم</a:t>
            </a:r>
            <a:pPr rtl="1" algn="r" indent="0" marL="0">
              <a:buNone/>
            </a:pPr>
            <a:r>
              <a:rPr lang="ar-EG" altLang="en-US" sz="1400" dirty="0">
                <a:solidFill>
                  <a:srgbClr val="2B2620"/>
                </a:solidFill>
              </a:rPr>
              <a:t>.</a:t>
            </a:r>
            <a:endParaRPr lang="en-US" sz="1400" dirty="0"/>
          </a:p>
        </p:txBody>
      </p:sp>
      <p:sp>
        <p:nvSpPr>
          <p:cNvPr id="7" name="card1"/>
          <p:cNvSpPr/>
          <p:nvPr/>
        </p:nvSpPr>
        <p:spPr>
          <a:xfrm>
            <a:off x="4338218" y="1371600"/>
            <a:ext cx="3515258" cy="1737360"/>
          </a:xfrm>
          <a:prstGeom prst="roundRect">
            <a:avLst>
              <a:gd name="adj" fmla="val 6316"/>
            </a:avLst>
          </a:prstGeom>
          <a:solidFill>
            <a:srgbClr val="F7F2E8"/>
          </a:solidFill>
          <a:ln w="9525">
            <a:solidFill>
              <a:srgbClr val="E6DFD1"/>
            </a:solidFill>
            <a:prstDash val="solid"/>
          </a:ln>
        </p:spPr>
      </p:sp>
      <p:sp>
        <p:nvSpPr>
          <p:cNvPr id="8" name="card-dot1"/>
          <p:cNvSpPr/>
          <p:nvPr/>
        </p:nvSpPr>
        <p:spPr>
          <a:xfrm>
            <a:off x="7213397" y="1554480"/>
            <a:ext cx="457200" cy="457200"/>
          </a:xfrm>
          <a:prstGeom prst="ellipse">
            <a:avLst/>
          </a:prstGeom>
          <a:solidFill>
            <a:schemeClr val="accent2"/>
          </a:solidFill>
          <a:ln/>
        </p:spPr>
      </p:sp>
      <p:sp>
        <p:nvSpPr>
          <p:cNvPr id="9" name="Text 7"/>
          <p:cNvSpPr txBox="1"/>
          <p:nvPr/>
        </p:nvSpPr>
        <p:spPr>
          <a:xfrm>
            <a:off x="7213397"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8"/>
          <p:cNvSpPr txBox="1"/>
          <p:nvPr/>
        </p:nvSpPr>
        <p:spPr>
          <a:xfrm>
            <a:off x="4521098"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المناخ الحار في مصر والسعودية محتاج: </a:t>
            </a:r>
            <a:pPr rtl="1" algn="r" indent="0" marL="0">
              <a:buNone/>
            </a:pPr>
            <a:r>
              <a:rPr lang="ar-EG" altLang="en-US" sz="1400" b="1" dirty="0">
                <a:solidFill>
                  <a:srgbClr val="2B2620"/>
                </a:solidFill>
              </a:rPr>
              <a:t>حوائط سميكة، فناء، ملقف، مشربية، فتحات قليلة على الغرب</a:t>
            </a:r>
            <a:pPr rtl="1" algn="r" indent="0" marL="0">
              <a:buNone/>
            </a:pPr>
            <a:r>
              <a:rPr lang="ar-EG" altLang="en-US" sz="1400" dirty="0">
                <a:solidFill>
                  <a:srgbClr val="2B2620"/>
                </a:solidFill>
              </a:rPr>
              <a:t>.</a:t>
            </a:r>
            <a:endParaRPr lang="en-US" sz="1400" dirty="0"/>
          </a:p>
        </p:txBody>
      </p:sp>
      <p:sp>
        <p:nvSpPr>
          <p:cNvPr id="11" name="card2"/>
          <p:cNvSpPr/>
          <p:nvPr/>
        </p:nvSpPr>
        <p:spPr>
          <a:xfrm>
            <a:off x="548640" y="1371600"/>
            <a:ext cx="3515258" cy="1737360"/>
          </a:xfrm>
          <a:prstGeom prst="roundRect">
            <a:avLst>
              <a:gd name="adj" fmla="val 6316"/>
            </a:avLst>
          </a:prstGeom>
          <a:solidFill>
            <a:srgbClr val="F7F2E8"/>
          </a:solidFill>
          <a:ln w="9525">
            <a:solidFill>
              <a:srgbClr val="E6DFD1"/>
            </a:solidFill>
            <a:prstDash val="solid"/>
          </a:ln>
        </p:spPr>
      </p:sp>
      <p:sp>
        <p:nvSpPr>
          <p:cNvPr id="12" name="card-dot2"/>
          <p:cNvSpPr/>
          <p:nvPr/>
        </p:nvSpPr>
        <p:spPr>
          <a:xfrm>
            <a:off x="3423818" y="1554480"/>
            <a:ext cx="457200" cy="457200"/>
          </a:xfrm>
          <a:prstGeom prst="ellipse">
            <a:avLst/>
          </a:prstGeom>
          <a:solidFill>
            <a:schemeClr val="accent2"/>
          </a:solidFill>
          <a:ln/>
        </p:spPr>
      </p:sp>
      <p:sp>
        <p:nvSpPr>
          <p:cNvPr id="13" name="Text 11"/>
          <p:cNvSpPr txBox="1"/>
          <p:nvPr/>
        </p:nvSpPr>
        <p:spPr>
          <a:xfrm>
            <a:off x="3423818"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2"/>
          <p:cNvSpPr txBox="1"/>
          <p:nvPr/>
        </p:nvSpPr>
        <p:spPr>
          <a:xfrm>
            <a:off x="731520" y="2103120"/>
            <a:ext cx="3149498" cy="914400"/>
          </a:xfrm>
          <a:prstGeom prst="rect">
            <a:avLst/>
          </a:prstGeom>
          <a:noFill/>
          <a:ln/>
        </p:spPr>
        <p:txBody>
          <a:bodyPr wrap="square" rtlCol="0" anchor="t"/>
          <a:lstStyle/>
          <a:p>
            <a:pPr rtl="1" algn="r" indent="0" marL="0">
              <a:buNone/>
            </a:pPr>
            <a:r>
              <a:rPr lang="ar-EG" altLang="en-US" sz="1400" dirty="0">
                <a:solidFill>
                  <a:srgbClr val="2B2620"/>
                </a:solidFill>
              </a:rPr>
              <a:t>أي مشروع إسكان لازم يحسب </a:t>
            </a:r>
            <a:pPr rtl="1" algn="r" indent="0" marL="0">
              <a:buNone/>
            </a:pPr>
            <a:r>
              <a:rPr lang="ar-EG" altLang="en-US" sz="1400" b="1" dirty="0">
                <a:solidFill>
                  <a:srgbClr val="2B2620"/>
                </a:solidFill>
              </a:rPr>
              <a:t>العامل الاجتماعي</a:t>
            </a:r>
            <a:pPr rtl="1" algn="r" indent="0" marL="0">
              <a:buNone/>
            </a:pPr>
            <a:r>
              <a:rPr lang="ar-EG" altLang="en-US" sz="1400" dirty="0">
                <a:solidFill>
                  <a:srgbClr val="2B2620"/>
                </a:solidFill>
              </a:rPr>
              <a:t> مش بس الإنشائي.</a:t>
            </a:r>
            <a:endParaRPr lang="en-US" sz="1400" dirty="0"/>
          </a:p>
        </p:txBody>
      </p:sp>
      <p:sp>
        <p:nvSpPr>
          <p:cNvPr id="15" name="card3"/>
          <p:cNvSpPr/>
          <p:nvPr/>
        </p:nvSpPr>
        <p:spPr>
          <a:xfrm>
            <a:off x="8127797" y="3383280"/>
            <a:ext cx="3515258" cy="1737360"/>
          </a:xfrm>
          <a:prstGeom prst="roundRect">
            <a:avLst>
              <a:gd name="adj" fmla="val 6316"/>
            </a:avLst>
          </a:prstGeom>
          <a:solidFill>
            <a:srgbClr val="F7F2E8"/>
          </a:solidFill>
          <a:ln w="9525">
            <a:solidFill>
              <a:srgbClr val="E6DFD1"/>
            </a:solidFill>
            <a:prstDash val="solid"/>
          </a:ln>
        </p:spPr>
      </p:sp>
      <p:sp>
        <p:nvSpPr>
          <p:cNvPr id="16" name="card-dot3"/>
          <p:cNvSpPr/>
          <p:nvPr/>
        </p:nvSpPr>
        <p:spPr>
          <a:xfrm>
            <a:off x="11002975" y="3566160"/>
            <a:ext cx="457200" cy="457200"/>
          </a:xfrm>
          <a:prstGeom prst="ellipse">
            <a:avLst/>
          </a:prstGeom>
          <a:solidFill>
            <a:schemeClr val="accent2"/>
          </a:solidFill>
          <a:ln/>
        </p:spPr>
      </p:sp>
      <p:sp>
        <p:nvSpPr>
          <p:cNvPr id="17" name="Text 15"/>
          <p:cNvSpPr txBox="1"/>
          <p:nvPr/>
        </p:nvSpPr>
        <p:spPr>
          <a:xfrm>
            <a:off x="11002975"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8" name="Text 16"/>
          <p:cNvSpPr txBox="1"/>
          <p:nvPr/>
        </p:nvSpPr>
        <p:spPr>
          <a:xfrm>
            <a:off x="8310677"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الحرفة التقليدية </a:t>
            </a:r>
            <a:pPr rtl="1" algn="r" indent="0" marL="0">
              <a:buNone/>
            </a:pPr>
            <a:r>
              <a:rPr lang="ar-EG" altLang="en-US" sz="1400" b="1" dirty="0">
                <a:solidFill>
                  <a:srgbClr val="2B2620"/>
                </a:solidFill>
              </a:rPr>
              <a:t>كنز</a:t>
            </a:r>
            <a:pPr rtl="1" algn="r" indent="0" marL="0">
              <a:buNone/>
            </a:pPr>
            <a:r>
              <a:rPr lang="ar-EG" altLang="en-US" sz="1400" dirty="0">
                <a:solidFill>
                  <a:srgbClr val="2B2620"/>
                </a:solidFill>
              </a:rPr>
              <a:t> — نطورها بالتقنيات الحديثة.</a:t>
            </a:r>
            <a:endParaRPr lang="en-US" sz="1400" dirty="0"/>
          </a:p>
        </p:txBody>
      </p:sp>
      <p:sp>
        <p:nvSpPr>
          <p:cNvPr id="19" name="card4"/>
          <p:cNvSpPr/>
          <p:nvPr/>
        </p:nvSpPr>
        <p:spPr>
          <a:xfrm>
            <a:off x="4338218" y="3383280"/>
            <a:ext cx="3515258" cy="1737360"/>
          </a:xfrm>
          <a:prstGeom prst="roundRect">
            <a:avLst>
              <a:gd name="adj" fmla="val 6316"/>
            </a:avLst>
          </a:prstGeom>
          <a:solidFill>
            <a:srgbClr val="F7F2E8"/>
          </a:solidFill>
          <a:ln w="9525">
            <a:solidFill>
              <a:srgbClr val="E6DFD1"/>
            </a:solidFill>
            <a:prstDash val="solid"/>
          </a:ln>
        </p:spPr>
      </p:sp>
      <p:sp>
        <p:nvSpPr>
          <p:cNvPr id="20" name="card-dot4"/>
          <p:cNvSpPr/>
          <p:nvPr/>
        </p:nvSpPr>
        <p:spPr>
          <a:xfrm>
            <a:off x="7213397" y="3566160"/>
            <a:ext cx="457200" cy="457200"/>
          </a:xfrm>
          <a:prstGeom prst="ellipse">
            <a:avLst/>
          </a:prstGeom>
          <a:solidFill>
            <a:schemeClr val="accent2"/>
          </a:solidFill>
          <a:ln/>
        </p:spPr>
      </p:sp>
      <p:sp>
        <p:nvSpPr>
          <p:cNvPr id="21" name="Text 19"/>
          <p:cNvSpPr txBox="1"/>
          <p:nvPr/>
        </p:nvSpPr>
        <p:spPr>
          <a:xfrm>
            <a:off x="7213397" y="3566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2" name="Text 20"/>
          <p:cNvSpPr txBox="1"/>
          <p:nvPr/>
        </p:nvSpPr>
        <p:spPr>
          <a:xfrm>
            <a:off x="4521098" y="4114800"/>
            <a:ext cx="3149498" cy="914400"/>
          </a:xfrm>
          <a:prstGeom prst="rect">
            <a:avLst/>
          </a:prstGeom>
          <a:noFill/>
          <a:ln/>
        </p:spPr>
        <p:txBody>
          <a:bodyPr wrap="square" rtlCol="0" anchor="t"/>
          <a:lstStyle/>
          <a:p>
            <a:pPr rtl="1" algn="r" indent="0" marL="0">
              <a:buNone/>
            </a:pPr>
            <a:r>
              <a:rPr lang="ar-EG" altLang="en-US" sz="1400" dirty="0">
                <a:solidFill>
                  <a:srgbClr val="2B2620"/>
                </a:solidFill>
              </a:rPr>
              <a:t>اقرا الكتاب الأصلي — فيه روح ومعنى أكبر من أي ملخص.</a:t>
            </a:r>
            <a:endParaRPr lang="en-US" sz="1400" dirty="0"/>
          </a:p>
        </p:txBody>
      </p:sp>
      <p:sp>
        <p:nvSpPr>
          <p:cNvPr id="23" name="Text 21"/>
          <p:cNvSpPr txBox="1"/>
          <p:nvPr/>
        </p:nvSpPr>
        <p:spPr>
          <a:xfrm>
            <a:off x="548640" y="5806440"/>
            <a:ext cx="11094415" cy="457200"/>
          </a:xfrm>
          <a:prstGeom prst="rect">
            <a:avLst/>
          </a:prstGeom>
          <a:solidFill>
            <a:srgbClr val="FBF6EA"/>
          </a:solidFill>
          <a:ln/>
        </p:spPr>
        <p:txBody>
          <a:bodyPr wrap="square" rtlCol="0" anchor="ctr"/>
          <a:lstStyle/>
          <a:p>
            <a:pPr rtl="1" algn="r" indent="0" marL="0">
              <a:buNone/>
            </a:pPr>
            <a:r>
              <a:rPr lang="ar-EG" altLang="en-US" sz="1200" i="1" dirty="0">
                <a:solidFill>
                  <a:srgbClr val="8A5A10"/>
                </a:solidFill>
              </a:rPr>
              <a:t>مختصر وتلخيص م. عمر خميس — مكتبة م. عمر خميس للاسكتش اب.</a:t>
            </a:r>
            <a:endParaRPr lang="en-US" sz="1200" dirty="0"/>
          </a:p>
        </p:txBody>
      </p:sp>
      <p:sp>
        <p:nvSpPr>
          <p:cNvPr id="25" name="Slide Number Placeholder 0"/>
          <p:cNvSpPr>
            <a:spLocks noGrp="1"/>
          </p:cNvSpPr>
          <p:nvPr>
            <p:ph type="sldNum" sz="quarter" idx="4294967295"/>
          </p:nvPr>
        </p:nvSpPr>
        <p:spPr>
          <a:xfrm>
            <a:off x="548640" y="6400800"/>
            <a:ext cx="45720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8A7E6A"/>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728655" cy="1463040"/>
          </a:xfrm>
          <a:prstGeom prst="rect">
            <a:avLst/>
          </a:prstGeom>
          <a:noFill/>
          <a:ln/>
        </p:spPr>
        <p:txBody>
          <a:bodyPr wrap="square" rtlCol="0" anchor="ctr"/>
          <a:lstStyle/>
          <a:p>
            <a:pPr rtl="1" algn="ctr" indent="0" marL="0">
              <a:buNone/>
            </a:pPr>
            <a:r>
              <a:rPr lang="ar-EG" altLang="en-US" sz="4000" b="1" dirty="0">
                <a:solidFill>
                  <a:srgbClr val="FFFFFF"/>
                </a:solidFill>
              </a:rPr>
              <a:t>شكراً</a:t>
            </a:r>
            <a:endParaRPr lang="ar-EG" sz="4000" dirty="0"/>
          </a:p>
        </p:txBody>
      </p:sp>
      <p:sp>
        <p:nvSpPr>
          <p:cNvPr id="3" name="Text 0"/>
          <p:cNvSpPr/>
          <p:nvPr>
            <p:ph idx="101" type="body" hasCustomPrompt="1"/>
          </p:nvPr>
        </p:nvSpPr>
        <p:spPr>
          <a:xfrm>
            <a:off x="1097280" y="3566160"/>
            <a:ext cx="9997135" cy="914400"/>
          </a:xfrm>
          <a:prstGeom prst="rect">
            <a:avLst/>
          </a:prstGeom>
          <a:noFill/>
          <a:ln/>
        </p:spPr>
        <p:txBody>
          <a:bodyPr wrap="square" rtlCol="0"/>
          <a:lstStyle/>
          <a:p>
            <a:pPr rtl="1" algn="ctr" indent="0" marL="0">
              <a:buNone/>
            </a:pPr>
            <a:r>
              <a:rPr lang="ar-EG" altLang="en-US" sz="1800" dirty="0">
                <a:solidFill>
                  <a:srgbClr val="E3C278"/>
                </a:solidFill>
              </a:rPr>
              <a:t>مختصر وتلخيص م. عمر خميس  •  +20 100 543 3170</a:t>
            </a:r>
            <a:endParaRPr lang="ar-EG" sz="1800" dirty="0"/>
          </a:p>
        </p:txBody>
      </p:sp>
      <p:sp>
        <p:nvSpPr>
          <p:cNvPr id="4" name="Text 2"/>
          <p:cNvSpPr txBox="1"/>
          <p:nvPr/>
        </p:nvSpPr>
        <p:spPr>
          <a:xfrm>
            <a:off x="914400" y="5577840"/>
            <a:ext cx="10362895" cy="548640"/>
          </a:xfrm>
          <a:prstGeom prst="rect">
            <a:avLst/>
          </a:prstGeom>
          <a:noFill/>
          <a:ln/>
        </p:spPr>
        <p:txBody>
          <a:bodyPr wrap="square" rtlCol="0" anchor="ctr"/>
          <a:lstStyle/>
          <a:p>
            <a:pPr rtl="1" algn="ctr" indent="0" marL="0">
              <a:buNone/>
            </a:pPr>
            <a:r>
              <a:rPr lang="ar-EG" altLang="en-US" sz="1400" dirty="0">
                <a:solidFill>
                  <a:srgbClr val="E3C278"/>
                </a:solidFill>
              </a:rPr>
              <a:t>لا تنسوا صاحب المكتبة من الدعاء — عمر بن جمال خميس، غفر الله له ولوالديه</a:t>
            </a:r>
            <a:endParaRPr lang="ar-EG" sz="1400" dirty="0"/>
          </a:p>
        </p:txBody>
      </p:sp>
    </p:spTree>
  </p:cSld>
  <p:clrMapOvr>
    <a:masterClrMapping/>
  </p:clrMapOvr>
</p:sld>
</file>

<file path=ppt/theme/theme1.xml><?xml version="1.0" encoding="utf-8"?>
<a:theme xmlns:a="http://schemas.openxmlformats.org/drawingml/2006/main" name="Omar Khamis Library">
  <a:themeElements>
    <a:clrScheme name="Omar Khamis Library">
      <a:dk1>
        <a:srgbClr val="2B2620"/>
      </a:dk1>
      <a:lt1>
        <a:srgbClr val="FFFFFF"/>
      </a:lt1>
      <a:dk2>
        <a:srgbClr val="4A3F2E"/>
      </a:dk2>
      <a:lt2>
        <a:srgbClr val="F3ECDD"/>
      </a:lt2>
      <a:accent1>
        <a:srgbClr val="C9A24A"/>
      </a:accent1>
      <a:accent2>
        <a:srgbClr val="A0522D"/>
      </a:accent2>
      <a:accent3>
        <a:srgbClr val="1D5FA8"/>
      </a:accent3>
      <a:accent4>
        <a:srgbClr val="2E7D5B"/>
      </a:accent4>
      <a:accent5>
        <a:srgbClr val="A0522D"/>
      </a:accent5>
      <a:accent6>
        <a:srgbClr val="7A3E65"/>
      </a:accent6>
      <a:hlink>
        <a:srgbClr val="1D5FA8"/>
      </a:hlink>
      <a:folHlink>
        <a:srgbClr val="8A5A10"/>
      </a:folHlink>
    </a:clrScheme>
    <a:fontScheme name="Omar Khamis Librar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Omar Khamis Library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ملخص: عمارة الفقراء — حسن فتحي</dc:title>
  <dc:subject>PptxGenJS Presentation</dc:subject>
  <dc:creator>Eng. Omar Khamis</dc:creator>
  <cp:lastModifiedBy>Eng. Omar Khamis</cp:lastModifiedBy>
  <cp:revision>1</cp:revision>
  <dcterms:created xsi:type="dcterms:W3CDTF">2026-10-15T12:37:11Z</dcterms:created>
  <dcterms:modified xsi:type="dcterms:W3CDTF">2026-10-15T12:37:11Z</dcterms:modified>
</cp:coreProperties>
</file>