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بداية" id="{1db8c97e-5e1a-1d4a-7ba3-db8bf119d652}">
          <p14:sldIdLst>
            <p14:sldId id="256"/>
          </p14:sldIdLst>
        </p14:section>
        <p14:section name="المحتوى" id="{af68eff8-055a-a013-bbc4-38d2d3f41272}">
          <p14:sldIdLst>
            <p14:sldId id="257"/>
          </p14:sldIdLst>
        </p14:section>
        <p14:section name="الملخص" id="{5c5c336e-246a-4cb0-857f-d9d26fe196d0}">
          <p14:sldIdLst>
            <p14:sldId id="258"/>
            <p14:sldId id="259"/>
            <p14:sldId id="260"/>
            <p14:sldId id="261"/>
            <p14:sldId id="262"/>
            <p14:sldId id="263"/>
            <p14:sldId id="264"/>
            <p14:sldId id="265"/>
            <p14:sldId id="266"/>
            <p14:sldId id="267"/>
            <p14:sldId id="268"/>
            <p14:sldId id="269"/>
            <p14:sldId id="270"/>
            <p14:sldId id="271"/>
            <p14:sldId id="272"/>
          </p14:sldIdLst>
        </p14:section>
        <p14:section name="الختام" id="{50459ef6-ed90-59b1-2289-f0f53a47842f}">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«دليل BIM» لرافائيل ساكس وتشاك إيستمان وجانج لي وبول تيكولز، الطبعة الثالثة 2018، هو المرجع الأكاديمي والمهني الأشمل عن نمذجة معلومات البناء. الكتاب بيشرح BIM من وجهة نظر كل طرف في المشروع: المالك، المصمم، المقاول، المصنّع، ومدير المنشأة، وفي آخره دراسات حالة لمشاريع حقيقية.
الفكرة في جملة
BIM مش برنامج — ده طريقة شغل: نموذج رقمي واحد فيه الشكل (3D) والبيانات (مواد، كميات، تكلفة، زمن، صيانة)، والكل بيشتغل عليه ويستفيد منه طول عمر المبنى.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مستويات النضج
المستوى 0: رسم ورقي أو CAD من غير تنسيق.
المستوى 1: CAD ثنائي/ثلاثي مع معايير تبادل ملفات.
المستوى 2: نماذج لكل تخصص بتتبادل في بيئة مشتركة (CDE) — ده المستوى المطلوب في أغلب المشاريع الحكومية الكبيرة.
المستوى 3: نموذج متكامل مفتوح على السيرفر (openBIM كامل).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العنصر بيتعرّف بقواعد وعلاقات: الشباك «مستضاف» في الحائط ويتحرك معاه، والسقف بيقف على مستوى الدور.
لو غيّرت ارتفاع الدور، الحوائط والسلالم والأعمدة بتتظبط لوحدها.
العائلات (Families) في Revit هي التطبيق العملي: باب بعرض وارتفاع ونوع حلق كبارامترات.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IFC صيغة مفتوحة دولية (ISO 16739) لتبادل النماذج بين البرامج.
openBIM معناه إن المشروع مايبقاش محبوس في برنامج واحد.
مش كل حاجة بتنتقل كاملة: العائلات المعقدة والبارامترات الخاصة ممكن تضيع — اعمل اختبار تبادل في أول المشروع.
COBie: صيغة جدولية لتسليم بيانات التشغيل والصيانة للمالك.
اتفاقات لازم تتعمل بدري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قرارات أدق بدري: بدائل تصميم بتكلفة وأداء طاقة قبل ما تصرف.
مراقبة التكلفة والجدول: نموذج 4D و5D.
التسليم الرقمي: نموذج As-Built مع بيانات الأجهزة للصيانة.
دور المالك إنه يحدد متطلباته في متطلبات معلومات المالك (EIR / OIR) من أول يوم.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تصميم مفاهيمي بكتل وتحليل مساحات وطاقة وشمس.
تنسيق التخصصات: معماري وإنشائي وMEP في نماذج مرتبطة.
اللوحات والجداول بتطلع من النموذج تلقائياً (أبواب، شبابيك، تشطيبات، غرف).
المكتبات والقوالب (Templates): أساس سرعة المكتب وجودته.
نصايح عملية للمكتب
ابني قالب مكتب فيه أنواع الحوائط والأرضيات والأسقف وأنماط الخطوط والجداول.
اعمل مكتبة عائلات معتمدة بدل ما كل واحد يعمل عائلته.
حدد مستوى التفاصيل المطلوب في كل مرحلة عشان النموذج مايتقلش بلا داعي.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الحصر من النموذج (كميات الخرسانة والطوب والبلاط والدهانات).
4D: ربط العناصر بالبرنامج الزمني ومحاكاة مراحل التنفيذ.
5D: ربط الكميات بالأسعار وتحديث التكلفة مع كل تعديل.
التخطيط للموقع: الأوناش، مسارات العربيات، أماكن التشوين.
رسومات الورشة من النموذج مباشرة.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الحديد الإنشائي، الواجهات، الدكت، والأثاث المدمج بيتصنعوا مباشرة من النموذج (CNC والقص الآلي).
دقة أعلى، هالك أقل، وتركيب أسرع في الموقع.
التصنيع المسبق (Prefabrication) والوحدات الجاهزة بقت أسهل مع BIM.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جمّع نماذج التخصصات في نموذج تنسيق (Navisworks أو Solibri أو غيرهم).
أنواع التعارض: صلب (ماسورة جوه كمرة)، مسافات (خلوص صيانة أو عزل)، زمني (تسلسل تنفيذ).
اعمل مصفوفة اختبارات: معماري × إنشائي، إنشائي × ميكانيكا، ميكانيكا × كهرباء...
اجتماع تنسيق أسبوعي، وكل تعارض له مسؤول وموعد حل.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CDE = مكان واحد للملفات بحالات: قيد العمل ← مشترك ← منشور ← مؤرشف.
المعيار الدولي ISO 19650 بيحدد إدارة المعلومات في مشاريع BIM.
كل ملف ليه اسم موحد ورقم إصدار وحالة.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تحتوي عادة على:
أهداف BIM في المشروع (حصر؟ تنسيق؟ 4D؟ تسليم للصيانة؟).
الأطراف والأدوار (مدير BIM، منسق، نمذّاجين).
البرامج والإصدارات وصيغ التبادل.
مستويات LOD لكل مرحلة ولكل عنصر.
الإحداثيات والوحدات والتسمية.
جدول تبادل النماذج واجتماعات التنسيق.
ضبط الجودة للنموذج (Model checking).
المخرجات والتسليمات النهائية.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التكلفة الأولية: رخص وأجهزة وتدريب.
تغيير الثقافة: الشغل يتنقل من «رسم» لـ«بناء نموذج».
الملكية الفكرية والمسؤولية: مين مسؤول عن النموذج؟ تتحدد في العقد.
خطة تحويل مكتب لـ BIM
مشروع تجريبي صغير.
قالب ومكتبة عائلات للمكتب.
تدريب الفريق على مراحل.
توثيق الدروس المستفادة وتعميم التجربة.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المشاريع الناجحة حددت أهداف BIM بوضوح من الأول.
مشاركة المقاول بدري بتقلل التعارضات والتعديلات.
التصنيع المسبق وفّر وقت كبير في المشاريع المعقدة.
نموذج التسليم مفيد للمالك فقط لو اتعمل بالبيانات اللي محتاجها فعلاً للصيانة.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BIM = نموذج + معلومات + تعاون، مش برنامج.
اتفقوا على الإحداثيات والوحدات والتسمية وLOD من أول يوم.
التعارض على الشاشة أرخص بمراحل من التعارض في الموقع.
ابدأ بمشروع تجريبي، وابني قالب ومكتبة للمكتب.
التسليم النهائي للمالك نموذج As-Built فيه بيانات الصيانة.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K_TITLE">
    <p:bg>
      <p:bgPr>
        <a:solidFill>
          <a:srgbClr val="2B26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728655" cy="1463040"/>
          </a:xfrm>
          <a:prstGeom prst="rect">
            <a:avLst/>
          </a:prstGeom>
          <a:noFill/>
          <a:ln/>
        </p:spPr>
        <p:txBody>
          <a:bodyPr wrap="square" rtlCol="0"/>
          <a:lstStyle>
            <a:lvl1pPr algn="ctr" indent="0" marL="0">
              <a:buNone/>
              <a:defRPr lang="en-US" sz="4000" b="1" dirty="0">
                <a:solidFill>
                  <a:srgbClr val="FFFFFF"/>
                </a:solidFill>
              </a:defRPr>
            </a:lvl1pPr>
          </a:lstStyle>
          <a:p>
            <a:pPr algn="ctr" indent="0" marL="0">
              <a:buNone/>
            </a:pPr>
            <a:endParaRPr lang="en-US" sz="4000" dirty="0"/>
          </a:p>
        </p:txBody>
      </p:sp>
      <p:sp>
        <p:nvSpPr>
          <p:cNvPr id="3" name="Text 0"/>
          <p:cNvSpPr/>
          <p:nvPr>
            <p:ph idx="101" type="body" hasCustomPrompt="1"/>
          </p:nvPr>
        </p:nvSpPr>
        <p:spPr>
          <a:xfrm>
            <a:off x="1097280" y="3566160"/>
            <a:ext cx="9997135" cy="914400"/>
          </a:xfrm>
          <a:prstGeom prst="rect">
            <a:avLst/>
          </a:prstGeom>
          <a:noFill/>
          <a:ln/>
        </p:spPr>
        <p:txBody>
          <a:bodyPr wrap="square" rtlCol="0"/>
          <a:lstStyle>
            <a:lvl1pPr algn="ctr" indent="0" marL="0">
              <a:buNone/>
              <a:defRPr lang="en-US" sz="1800" dirty="0">
                <a:solidFill>
                  <a:srgbClr val="E3C278"/>
                </a:solidFill>
              </a:defRPr>
            </a:lvl1pPr>
          </a:lstStyle>
          <a:p>
            <a:pPr algn="ct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K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lstStyle>
            <a:lvl1pPr algn="r" indent="0" marL="0">
              <a:buNone/>
              <a:defRPr lang="en-US" sz="3000" b="1" dirty="0">
                <a:solidFill>
                  <a:srgbClr val="2B2620"/>
                </a:solidFill>
              </a:defRPr>
            </a:lvl1pPr>
          </a:lstStyle>
          <a:p>
            <a:pPr algn="r" indent="0" marL="0">
              <a:buNone/>
            </a:pPr>
            <a:endParaRPr lang="en-US" sz="3000" dirty="0"/>
          </a:p>
        </p:txBody>
      </p:sp>
      <p:sp>
        <p:nvSpPr>
          <p:cNvPr id="3" name="Text 0"/>
          <p:cNvSpPr/>
          <p:nvPr/>
        </p:nvSpPr>
        <p:spPr>
          <a:xfrm>
            <a:off x="4327855" y="6400800"/>
            <a:ext cx="7315200" cy="320040"/>
          </a:xfrm>
          <a:prstGeom prst="rect">
            <a:avLst/>
          </a:prstGeom>
          <a:noFill/>
          <a:ln/>
        </p:spPr>
        <p:txBody>
          <a:bodyPr wrap="square" rtlCol="0" anchor="ctr"/>
          <a:lstStyle/>
          <a:p>
            <a:pPr algn="r" indent="0" marL="0">
              <a:buNone/>
            </a:pPr>
            <a:r>
              <a:rPr lang="ar-EG" altLang="en-US" sz="1000" dirty="0">
                <a:solidFill>
                  <a:srgbClr val="8A7E6A"/>
                </a:solidFill>
              </a:rPr>
              <a:t>مختصر وتلخيص م. عمر خميس  —  +20 100 543 3170</a:t>
            </a:r>
            <a:endParaRPr lang="ar-EG" sz="10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728655" cy="1463040"/>
          </a:xfrm>
          <a:prstGeom prst="rect">
            <a:avLst/>
          </a:prstGeom>
          <a:noFill/>
          <a:ln/>
        </p:spPr>
        <p:txBody>
          <a:bodyPr wrap="square" rtlCol="0" anchor="ctr"/>
          <a:lstStyle/>
          <a:p>
            <a:pPr rtl="1" algn="ctr" indent="0" marL="0">
              <a:buNone/>
            </a:pPr>
            <a:r>
              <a:rPr lang="ar-EG" altLang="en-US" sz="4000" b="1" dirty="0">
                <a:solidFill>
                  <a:srgbClr val="FFFFFF"/>
                </a:solidFill>
              </a:rPr>
              <a:t>ملخص: دليل نمذجة معلومات البناء BIM</a:t>
            </a:r>
            <a:endParaRPr lang="ar-EG" sz="4000" dirty="0"/>
          </a:p>
        </p:txBody>
      </p:sp>
      <p:sp>
        <p:nvSpPr>
          <p:cNvPr id="3" name="Text 0"/>
          <p:cNvSpPr/>
          <p:nvPr>
            <p:ph idx="101" type="body" hasCustomPrompt="1"/>
          </p:nvPr>
        </p:nvSpPr>
        <p:spPr>
          <a:xfrm>
            <a:off x="1097280" y="3566160"/>
            <a:ext cx="9997135" cy="914400"/>
          </a:xfrm>
          <a:prstGeom prst="rect">
            <a:avLst/>
          </a:prstGeom>
          <a:noFill/>
          <a:ln/>
        </p:spPr>
        <p:txBody>
          <a:bodyPr wrap="square" rtlCol="0"/>
          <a:lstStyle/>
          <a:p>
            <a:pPr rtl="1" algn="ctr" indent="0" marL="0">
              <a:buNone/>
            </a:pPr>
            <a:r>
              <a:rPr lang="ar-EG" altLang="en-US" sz="1800" dirty="0">
                <a:solidFill>
                  <a:srgbClr val="E3C278"/>
                </a:solidFill>
              </a:rPr>
              <a:t>مختصر وتلخيص م. عمر خميس  •  مكتبة م. عمر خميس — 2026</a:t>
            </a:r>
            <a:endParaRPr lang="ar-EG" sz="1800" dirty="0"/>
          </a:p>
        </p:txBody>
      </p:sp>
      <p:sp>
        <p:nvSpPr>
          <p:cNvPr id="4" name="logo-circle"/>
          <p:cNvSpPr/>
          <p:nvPr/>
        </p:nvSpPr>
        <p:spPr>
          <a:xfrm>
            <a:off x="5592928" y="731520"/>
            <a:ext cx="1005840" cy="1005840"/>
          </a:xfrm>
          <a:prstGeom prst="ellipse">
            <a:avLst/>
          </a:prstGeom>
          <a:solidFill>
            <a:srgbClr val="C9A24A"/>
          </a:solidFill>
          <a:ln/>
        </p:spPr>
      </p:sp>
      <p:sp>
        <p:nvSpPr>
          <p:cNvPr id="5" name="logo"/>
          <p:cNvSpPr txBox="1"/>
          <p:nvPr/>
        </p:nvSpPr>
        <p:spPr>
          <a:xfrm>
            <a:off x="5592928" y="731520"/>
            <a:ext cx="1005840" cy="1005840"/>
          </a:xfrm>
          <a:prstGeom prst="rect">
            <a:avLst/>
          </a:prstGeom>
          <a:noFill/>
          <a:ln/>
        </p:spPr>
        <p:txBody>
          <a:bodyPr wrap="square" rtlCol="0" anchor="ctr"/>
          <a:lstStyle/>
          <a:p>
            <a:pPr algn="ctr" indent="0" marL="0">
              <a:buNone/>
            </a:pPr>
            <a:r>
              <a:rPr lang="en-US" sz="2800" b="1" dirty="0">
                <a:solidFill>
                  <a:srgbClr val="2B2620"/>
                </a:solidFill>
              </a:rPr>
              <a:t>OK</a:t>
            </a:r>
            <a:endParaRPr lang="en-US" sz="2800" dirty="0"/>
          </a:p>
        </p:txBody>
      </p:sp>
      <p:sp>
        <p:nvSpPr>
          <p:cNvPr id="6" name="Text 4"/>
          <p:cNvSpPr txBox="1"/>
          <p:nvPr/>
        </p:nvSpPr>
        <p:spPr>
          <a:xfrm>
            <a:off x="914400" y="5760720"/>
            <a:ext cx="10362895" cy="457200"/>
          </a:xfrm>
          <a:prstGeom prst="rect">
            <a:avLst/>
          </a:prstGeom>
          <a:noFill/>
          <a:ln/>
        </p:spPr>
        <p:txBody>
          <a:bodyPr wrap="square" rtlCol="0" anchor="ctr"/>
          <a:lstStyle/>
          <a:p>
            <a:pPr rtl="1" algn="ctr" indent="0" marL="0">
              <a:buNone/>
            </a:pPr>
            <a:r>
              <a:rPr lang="ar-EG" altLang="en-US" sz="1200" dirty="0">
                <a:solidFill>
                  <a:srgbClr val="B9AE97"/>
                </a:solidFill>
              </a:rPr>
              <a:t>ملخص للتعلم — لا يغني عن الكتاب الأصلي</a:t>
            </a:r>
            <a:endParaRPr lang="ar-EG"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محتوى العرض</a:t>
            </a:r>
            <a:endParaRPr lang="ar-EG" sz="3000" dirty="0"/>
          </a:p>
        </p:txBody>
      </p:sp>
      <p:sp>
        <p:nvSpPr>
          <p:cNvPr id="3" name="n1"/>
          <p:cNvSpPr/>
          <p:nvPr/>
        </p:nvSpPr>
        <p:spPr>
          <a:xfrm>
            <a:off x="11094415" y="1362456"/>
            <a:ext cx="384048" cy="384048"/>
          </a:xfrm>
          <a:prstGeom prst="ellipse">
            <a:avLst/>
          </a:prstGeom>
          <a:solidFill>
            <a:schemeClr val="accent1"/>
          </a:solidFill>
          <a:ln/>
        </p:spPr>
      </p:sp>
      <p:sp>
        <p:nvSpPr>
          <p:cNvPr id="4" name="Text 2"/>
          <p:cNvSpPr txBox="1"/>
          <p:nvPr/>
        </p:nvSpPr>
        <p:spPr>
          <a:xfrm>
            <a:off x="11094415" y="1362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6187288" y="1325880"/>
            <a:ext cx="4907128" cy="457200"/>
          </a:xfrm>
          <a:prstGeom prst="rect">
            <a:avLst/>
          </a:prstGeom>
          <a:noFill/>
          <a:ln/>
        </p:spPr>
        <p:txBody>
          <a:bodyPr wrap="square" rtlCol="0" anchor="ctr"/>
          <a:lstStyle/>
          <a:p>
            <a:pPr rtl="1" algn="r" indent="0" marL="0">
              <a:buNone/>
            </a:pPr>
            <a:r>
              <a:rPr lang="ar-EG" altLang="en-US" sz="1500" dirty="0">
                <a:solidFill>
                  <a:schemeClr val="tx1"/>
                </a:solidFill>
              </a:rPr>
              <a:t>مقدمة: ليه BIM Handbook؟</a:t>
            </a:r>
            <a:endParaRPr lang="ar-EG" sz="1500" dirty="0"/>
          </a:p>
        </p:txBody>
      </p:sp>
      <p:sp>
        <p:nvSpPr>
          <p:cNvPr id="6" name="n2"/>
          <p:cNvSpPr/>
          <p:nvPr/>
        </p:nvSpPr>
        <p:spPr>
          <a:xfrm>
            <a:off x="11094415" y="1874520"/>
            <a:ext cx="384048" cy="384048"/>
          </a:xfrm>
          <a:prstGeom prst="ellipse">
            <a:avLst/>
          </a:prstGeom>
          <a:solidFill>
            <a:schemeClr val="accent1"/>
          </a:solidFill>
          <a:ln/>
        </p:spPr>
      </p:sp>
      <p:sp>
        <p:nvSpPr>
          <p:cNvPr id="7" name="Text 5"/>
          <p:cNvSpPr txBox="1"/>
          <p:nvPr/>
        </p:nvSpPr>
        <p:spPr>
          <a:xfrm>
            <a:off x="11094415"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6187288" y="1837944"/>
            <a:ext cx="4907128" cy="457200"/>
          </a:xfrm>
          <a:prstGeom prst="rect">
            <a:avLst/>
          </a:prstGeom>
          <a:noFill/>
          <a:ln/>
        </p:spPr>
        <p:txBody>
          <a:bodyPr wrap="square" rtlCol="0" anchor="ctr"/>
          <a:lstStyle/>
          <a:p>
            <a:pPr rtl="1" algn="r" indent="0" marL="0">
              <a:buNone/>
            </a:pPr>
            <a:r>
              <a:rPr lang="ar-EG" altLang="en-US" sz="1500" dirty="0">
                <a:solidFill>
                  <a:schemeClr val="tx1"/>
                </a:solidFill>
              </a:rPr>
              <a:t>من الرسم ثنائي الأبعاد للنموذج</a:t>
            </a:r>
            <a:endParaRPr lang="ar-EG" sz="1500" dirty="0"/>
          </a:p>
        </p:txBody>
      </p:sp>
      <p:sp>
        <p:nvSpPr>
          <p:cNvPr id="9" name="n3"/>
          <p:cNvSpPr/>
          <p:nvPr/>
        </p:nvSpPr>
        <p:spPr>
          <a:xfrm>
            <a:off x="11094415" y="2386584"/>
            <a:ext cx="384048" cy="384048"/>
          </a:xfrm>
          <a:prstGeom prst="ellipse">
            <a:avLst/>
          </a:prstGeom>
          <a:solidFill>
            <a:schemeClr val="accent1"/>
          </a:solidFill>
          <a:ln/>
        </p:spPr>
      </p:sp>
      <p:sp>
        <p:nvSpPr>
          <p:cNvPr id="10" name="Text 8"/>
          <p:cNvSpPr txBox="1"/>
          <p:nvPr/>
        </p:nvSpPr>
        <p:spPr>
          <a:xfrm>
            <a:off x="11094415" y="23865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6187288" y="2350008"/>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النمذجة البارامترية</a:t>
            </a:r>
            <a:endParaRPr lang="ar-EG" sz="1500" dirty="0"/>
          </a:p>
        </p:txBody>
      </p:sp>
      <p:sp>
        <p:nvSpPr>
          <p:cNvPr id="12" name="n4"/>
          <p:cNvSpPr/>
          <p:nvPr/>
        </p:nvSpPr>
        <p:spPr>
          <a:xfrm>
            <a:off x="11094415" y="2898648"/>
            <a:ext cx="384048" cy="384048"/>
          </a:xfrm>
          <a:prstGeom prst="ellipse">
            <a:avLst/>
          </a:prstGeom>
          <a:solidFill>
            <a:schemeClr val="accent1"/>
          </a:solidFill>
          <a:ln/>
        </p:spPr>
      </p:sp>
      <p:sp>
        <p:nvSpPr>
          <p:cNvPr id="13" name="Text 11"/>
          <p:cNvSpPr txBox="1"/>
          <p:nvPr/>
        </p:nvSpPr>
        <p:spPr>
          <a:xfrm>
            <a:off x="11094415" y="2898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6187288" y="2862072"/>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التوافقية وتبادل البيانات (IFC و openBIM)</a:t>
            </a:r>
            <a:endParaRPr lang="ar-EG" sz="1500" dirty="0"/>
          </a:p>
        </p:txBody>
      </p:sp>
      <p:sp>
        <p:nvSpPr>
          <p:cNvPr id="15" name="n5"/>
          <p:cNvSpPr/>
          <p:nvPr/>
        </p:nvSpPr>
        <p:spPr>
          <a:xfrm>
            <a:off x="11094415" y="3410712"/>
            <a:ext cx="384048" cy="384048"/>
          </a:xfrm>
          <a:prstGeom prst="ellipse">
            <a:avLst/>
          </a:prstGeom>
          <a:solidFill>
            <a:schemeClr val="accent1"/>
          </a:solidFill>
          <a:ln/>
        </p:spPr>
      </p:sp>
      <p:sp>
        <p:nvSpPr>
          <p:cNvPr id="16" name="Text 14"/>
          <p:cNvSpPr txBox="1"/>
          <p:nvPr/>
        </p:nvSpPr>
        <p:spPr>
          <a:xfrm>
            <a:off x="11094415" y="34107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7" name="Text 15"/>
          <p:cNvSpPr txBox="1"/>
          <p:nvPr/>
        </p:nvSpPr>
        <p:spPr>
          <a:xfrm>
            <a:off x="6187288" y="3374136"/>
            <a:ext cx="4907128" cy="457200"/>
          </a:xfrm>
          <a:prstGeom prst="rect">
            <a:avLst/>
          </a:prstGeom>
          <a:noFill/>
          <a:ln/>
        </p:spPr>
        <p:txBody>
          <a:bodyPr wrap="square" rtlCol="0" anchor="ctr"/>
          <a:lstStyle/>
          <a:p>
            <a:pPr rtl="1" algn="r" indent="0" marL="0">
              <a:buNone/>
            </a:pPr>
            <a:r>
              <a:rPr lang="ar-EG" altLang="en-US" sz="1500" dirty="0">
                <a:solidFill>
                  <a:schemeClr val="tx1"/>
                </a:solidFill>
              </a:rPr>
              <a:t>BIM للمالك</a:t>
            </a:r>
            <a:endParaRPr lang="ar-EG" sz="1500" dirty="0"/>
          </a:p>
        </p:txBody>
      </p:sp>
      <p:sp>
        <p:nvSpPr>
          <p:cNvPr id="18" name="n6"/>
          <p:cNvSpPr/>
          <p:nvPr/>
        </p:nvSpPr>
        <p:spPr>
          <a:xfrm>
            <a:off x="11094415" y="3922776"/>
            <a:ext cx="384048" cy="384048"/>
          </a:xfrm>
          <a:prstGeom prst="ellipse">
            <a:avLst/>
          </a:prstGeom>
          <a:solidFill>
            <a:schemeClr val="accent1"/>
          </a:solidFill>
          <a:ln/>
        </p:spPr>
      </p:sp>
      <p:sp>
        <p:nvSpPr>
          <p:cNvPr id="19" name="Text 17"/>
          <p:cNvSpPr txBox="1"/>
          <p:nvPr/>
        </p:nvSpPr>
        <p:spPr>
          <a:xfrm>
            <a:off x="11094415" y="39227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0" name="Text 18"/>
          <p:cNvSpPr txBox="1"/>
          <p:nvPr/>
        </p:nvSpPr>
        <p:spPr>
          <a:xfrm>
            <a:off x="6187288" y="3886200"/>
            <a:ext cx="4907128" cy="457200"/>
          </a:xfrm>
          <a:prstGeom prst="rect">
            <a:avLst/>
          </a:prstGeom>
          <a:noFill/>
          <a:ln/>
        </p:spPr>
        <p:txBody>
          <a:bodyPr wrap="square" rtlCol="0" anchor="ctr"/>
          <a:lstStyle/>
          <a:p>
            <a:pPr rtl="1" algn="r" indent="0" marL="0">
              <a:buNone/>
            </a:pPr>
            <a:r>
              <a:rPr lang="ar-EG" altLang="en-US" sz="1500" dirty="0">
                <a:solidFill>
                  <a:schemeClr val="tx1"/>
                </a:solidFill>
              </a:rPr>
              <a:t>BIM للمصمم</a:t>
            </a:r>
            <a:endParaRPr lang="ar-EG" sz="1500" dirty="0"/>
          </a:p>
        </p:txBody>
      </p:sp>
      <p:sp>
        <p:nvSpPr>
          <p:cNvPr id="21" name="n7"/>
          <p:cNvSpPr/>
          <p:nvPr/>
        </p:nvSpPr>
        <p:spPr>
          <a:xfrm>
            <a:off x="11094415" y="4434840"/>
            <a:ext cx="384048" cy="384048"/>
          </a:xfrm>
          <a:prstGeom prst="ellipse">
            <a:avLst/>
          </a:prstGeom>
          <a:solidFill>
            <a:schemeClr val="accent1"/>
          </a:solidFill>
          <a:ln/>
        </p:spPr>
      </p:sp>
      <p:sp>
        <p:nvSpPr>
          <p:cNvPr id="22" name="Text 20"/>
          <p:cNvSpPr txBox="1"/>
          <p:nvPr/>
        </p:nvSpPr>
        <p:spPr>
          <a:xfrm>
            <a:off x="11094415" y="44348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7</a:t>
            </a:r>
            <a:endParaRPr lang="en-US" sz="1300" dirty="0"/>
          </a:p>
        </p:txBody>
      </p:sp>
      <p:sp>
        <p:nvSpPr>
          <p:cNvPr id="23" name="Text 21"/>
          <p:cNvSpPr txBox="1"/>
          <p:nvPr/>
        </p:nvSpPr>
        <p:spPr>
          <a:xfrm>
            <a:off x="6187288" y="4398264"/>
            <a:ext cx="4907128" cy="457200"/>
          </a:xfrm>
          <a:prstGeom prst="rect">
            <a:avLst/>
          </a:prstGeom>
          <a:noFill/>
          <a:ln/>
        </p:spPr>
        <p:txBody>
          <a:bodyPr wrap="square" rtlCol="0" anchor="ctr"/>
          <a:lstStyle/>
          <a:p>
            <a:pPr rtl="1" algn="r" indent="0" marL="0">
              <a:buNone/>
            </a:pPr>
            <a:r>
              <a:rPr lang="ar-EG" altLang="en-US" sz="1500" dirty="0">
                <a:solidFill>
                  <a:schemeClr val="tx1"/>
                </a:solidFill>
              </a:rPr>
              <a:t>BIM للمقاول</a:t>
            </a:r>
            <a:endParaRPr lang="ar-EG" sz="1500" dirty="0"/>
          </a:p>
        </p:txBody>
      </p:sp>
      <p:sp>
        <p:nvSpPr>
          <p:cNvPr id="24" name="n8"/>
          <p:cNvSpPr/>
          <p:nvPr/>
        </p:nvSpPr>
        <p:spPr>
          <a:xfrm>
            <a:off x="11094415" y="4946904"/>
            <a:ext cx="384048" cy="384048"/>
          </a:xfrm>
          <a:prstGeom prst="ellipse">
            <a:avLst/>
          </a:prstGeom>
          <a:solidFill>
            <a:schemeClr val="accent1"/>
          </a:solidFill>
          <a:ln/>
        </p:spPr>
      </p:sp>
      <p:sp>
        <p:nvSpPr>
          <p:cNvPr id="25" name="Text 23"/>
          <p:cNvSpPr txBox="1"/>
          <p:nvPr/>
        </p:nvSpPr>
        <p:spPr>
          <a:xfrm>
            <a:off x="11094415" y="49469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8</a:t>
            </a:r>
            <a:endParaRPr lang="en-US" sz="1300" dirty="0"/>
          </a:p>
        </p:txBody>
      </p:sp>
      <p:sp>
        <p:nvSpPr>
          <p:cNvPr id="26" name="Text 24"/>
          <p:cNvSpPr txBox="1"/>
          <p:nvPr/>
        </p:nvSpPr>
        <p:spPr>
          <a:xfrm>
            <a:off x="6187288" y="4910328"/>
            <a:ext cx="4907128" cy="457200"/>
          </a:xfrm>
          <a:prstGeom prst="rect">
            <a:avLst/>
          </a:prstGeom>
          <a:noFill/>
          <a:ln/>
        </p:spPr>
        <p:txBody>
          <a:bodyPr wrap="square" rtlCol="0" anchor="ctr"/>
          <a:lstStyle/>
          <a:p>
            <a:pPr rtl="1" algn="r" indent="0" marL="0">
              <a:buNone/>
            </a:pPr>
            <a:r>
              <a:rPr lang="ar-EG" altLang="en-US" sz="1500" dirty="0">
                <a:solidFill>
                  <a:schemeClr val="tx1"/>
                </a:solidFill>
              </a:rPr>
              <a:t>BIM للمصنّعين والموردين</a:t>
            </a:r>
            <a:endParaRPr lang="ar-EG" sz="1500" dirty="0"/>
          </a:p>
        </p:txBody>
      </p:sp>
      <p:sp>
        <p:nvSpPr>
          <p:cNvPr id="27" name="n9"/>
          <p:cNvSpPr/>
          <p:nvPr/>
        </p:nvSpPr>
        <p:spPr>
          <a:xfrm>
            <a:off x="5455768" y="1362456"/>
            <a:ext cx="384048" cy="384048"/>
          </a:xfrm>
          <a:prstGeom prst="ellipse">
            <a:avLst/>
          </a:prstGeom>
          <a:solidFill>
            <a:schemeClr val="accent1"/>
          </a:solidFill>
          <a:ln/>
        </p:spPr>
      </p:sp>
      <p:sp>
        <p:nvSpPr>
          <p:cNvPr id="28" name="Text 26"/>
          <p:cNvSpPr txBox="1"/>
          <p:nvPr/>
        </p:nvSpPr>
        <p:spPr>
          <a:xfrm>
            <a:off x="5455768" y="1362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9</a:t>
            </a:r>
            <a:endParaRPr lang="en-US" sz="1300" dirty="0"/>
          </a:p>
        </p:txBody>
      </p:sp>
      <p:sp>
        <p:nvSpPr>
          <p:cNvPr id="29" name="Text 27"/>
          <p:cNvSpPr txBox="1"/>
          <p:nvPr/>
        </p:nvSpPr>
        <p:spPr>
          <a:xfrm>
            <a:off x="548640" y="1325880"/>
            <a:ext cx="4907128" cy="457200"/>
          </a:xfrm>
          <a:prstGeom prst="rect">
            <a:avLst/>
          </a:prstGeom>
          <a:noFill/>
          <a:ln/>
        </p:spPr>
        <p:txBody>
          <a:bodyPr wrap="square" rtlCol="0" anchor="ctr"/>
          <a:lstStyle/>
          <a:p>
            <a:pPr rtl="1" algn="r" indent="0" marL="0">
              <a:buNone/>
            </a:pPr>
            <a:r>
              <a:rPr lang="ar-EG" altLang="en-US" sz="1500" dirty="0">
                <a:solidFill>
                  <a:schemeClr val="tx1"/>
                </a:solidFill>
              </a:rPr>
              <a:t>مستويات التطوير LOD</a:t>
            </a:r>
            <a:endParaRPr lang="ar-EG" sz="1500" dirty="0"/>
          </a:p>
        </p:txBody>
      </p:sp>
      <p:sp>
        <p:nvSpPr>
          <p:cNvPr id="30" name="n10"/>
          <p:cNvSpPr/>
          <p:nvPr/>
        </p:nvSpPr>
        <p:spPr>
          <a:xfrm>
            <a:off x="5455768" y="1874520"/>
            <a:ext cx="384048" cy="384048"/>
          </a:xfrm>
          <a:prstGeom prst="ellipse">
            <a:avLst/>
          </a:prstGeom>
          <a:solidFill>
            <a:schemeClr val="accent1"/>
          </a:solidFill>
          <a:ln/>
        </p:spPr>
      </p:sp>
      <p:sp>
        <p:nvSpPr>
          <p:cNvPr id="31" name="Text 29"/>
          <p:cNvSpPr txBox="1"/>
          <p:nvPr/>
        </p:nvSpPr>
        <p:spPr>
          <a:xfrm>
            <a:off x="5455768"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10</a:t>
            </a:r>
            <a:endParaRPr lang="en-US" sz="1300" dirty="0"/>
          </a:p>
        </p:txBody>
      </p:sp>
      <p:sp>
        <p:nvSpPr>
          <p:cNvPr id="32" name="Text 30"/>
          <p:cNvSpPr txBox="1"/>
          <p:nvPr/>
        </p:nvSpPr>
        <p:spPr>
          <a:xfrm>
            <a:off x="548640" y="1837944"/>
            <a:ext cx="4907128" cy="457200"/>
          </a:xfrm>
          <a:prstGeom prst="rect">
            <a:avLst/>
          </a:prstGeom>
          <a:noFill/>
          <a:ln/>
        </p:spPr>
        <p:txBody>
          <a:bodyPr wrap="square" rtlCol="0" anchor="ctr"/>
          <a:lstStyle/>
          <a:p>
            <a:pPr rtl="1" algn="r" indent="0" marL="0">
              <a:buNone/>
            </a:pPr>
            <a:r>
              <a:rPr lang="ar-EG" altLang="en-US" sz="1500" dirty="0">
                <a:solidFill>
                  <a:schemeClr val="tx1"/>
                </a:solidFill>
              </a:rPr>
              <a:t>كشف التعارضات والتنسيق</a:t>
            </a:r>
            <a:endParaRPr lang="ar-EG" sz="1500" dirty="0"/>
          </a:p>
        </p:txBody>
      </p:sp>
      <p:sp>
        <p:nvSpPr>
          <p:cNvPr id="33" name="n11"/>
          <p:cNvSpPr/>
          <p:nvPr/>
        </p:nvSpPr>
        <p:spPr>
          <a:xfrm>
            <a:off x="5455768" y="2386584"/>
            <a:ext cx="384048" cy="384048"/>
          </a:xfrm>
          <a:prstGeom prst="ellipse">
            <a:avLst/>
          </a:prstGeom>
          <a:solidFill>
            <a:schemeClr val="accent1"/>
          </a:solidFill>
          <a:ln/>
        </p:spPr>
      </p:sp>
      <p:sp>
        <p:nvSpPr>
          <p:cNvPr id="34" name="Text 32"/>
          <p:cNvSpPr txBox="1"/>
          <p:nvPr/>
        </p:nvSpPr>
        <p:spPr>
          <a:xfrm>
            <a:off x="5455768" y="23865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11</a:t>
            </a:r>
            <a:endParaRPr lang="en-US" sz="1300" dirty="0"/>
          </a:p>
        </p:txBody>
      </p:sp>
      <p:sp>
        <p:nvSpPr>
          <p:cNvPr id="35" name="Text 33"/>
          <p:cNvSpPr txBox="1"/>
          <p:nvPr/>
        </p:nvSpPr>
        <p:spPr>
          <a:xfrm>
            <a:off x="548640" y="2350008"/>
            <a:ext cx="4907128" cy="457200"/>
          </a:xfrm>
          <a:prstGeom prst="rect">
            <a:avLst/>
          </a:prstGeom>
          <a:noFill/>
          <a:ln/>
        </p:spPr>
        <p:txBody>
          <a:bodyPr wrap="square" rtlCol="0" anchor="ctr"/>
          <a:lstStyle/>
          <a:p>
            <a:pPr rtl="1" algn="r" indent="0" marL="0">
              <a:buNone/>
            </a:pPr>
            <a:r>
              <a:rPr lang="ar-EG" altLang="en-US" sz="1500" dirty="0">
                <a:solidFill>
                  <a:schemeClr val="tx1"/>
                </a:solidFill>
              </a:rPr>
              <a:t>بيئة البيانات المشتركة (CDE) وسير العمل</a:t>
            </a:r>
            <a:endParaRPr lang="ar-EG" sz="1500" dirty="0"/>
          </a:p>
        </p:txBody>
      </p:sp>
      <p:sp>
        <p:nvSpPr>
          <p:cNvPr id="36" name="n12"/>
          <p:cNvSpPr/>
          <p:nvPr/>
        </p:nvSpPr>
        <p:spPr>
          <a:xfrm>
            <a:off x="5455768" y="2898648"/>
            <a:ext cx="384048" cy="384048"/>
          </a:xfrm>
          <a:prstGeom prst="ellipse">
            <a:avLst/>
          </a:prstGeom>
          <a:solidFill>
            <a:schemeClr val="accent1"/>
          </a:solidFill>
          <a:ln/>
        </p:spPr>
      </p:sp>
      <p:sp>
        <p:nvSpPr>
          <p:cNvPr id="37" name="Text 35"/>
          <p:cNvSpPr txBox="1"/>
          <p:nvPr/>
        </p:nvSpPr>
        <p:spPr>
          <a:xfrm>
            <a:off x="5455768" y="2898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12</a:t>
            </a:r>
            <a:endParaRPr lang="en-US" sz="1300" dirty="0"/>
          </a:p>
        </p:txBody>
      </p:sp>
      <p:sp>
        <p:nvSpPr>
          <p:cNvPr id="38" name="Text 36"/>
          <p:cNvSpPr txBox="1"/>
          <p:nvPr/>
        </p:nvSpPr>
        <p:spPr>
          <a:xfrm>
            <a:off x="548640" y="2862072"/>
            <a:ext cx="4907128" cy="457200"/>
          </a:xfrm>
          <a:prstGeom prst="rect">
            <a:avLst/>
          </a:prstGeom>
          <a:noFill/>
          <a:ln/>
        </p:spPr>
        <p:txBody>
          <a:bodyPr wrap="square" rtlCol="0" anchor="ctr"/>
          <a:lstStyle/>
          <a:p>
            <a:pPr rtl="1" algn="r" indent="0" marL="0">
              <a:buNone/>
            </a:pPr>
            <a:r>
              <a:rPr lang="ar-EG" altLang="en-US" sz="1500" dirty="0">
                <a:solidFill>
                  <a:schemeClr val="tx1"/>
                </a:solidFill>
              </a:rPr>
              <a:t>خطة تنفيذ BIM (BEP)</a:t>
            </a:r>
            <a:endParaRPr lang="ar-EG" sz="1500" dirty="0"/>
          </a:p>
        </p:txBody>
      </p:sp>
      <p:sp>
        <p:nvSpPr>
          <p:cNvPr id="39" name="n13"/>
          <p:cNvSpPr/>
          <p:nvPr/>
        </p:nvSpPr>
        <p:spPr>
          <a:xfrm>
            <a:off x="5455768" y="3410712"/>
            <a:ext cx="384048" cy="384048"/>
          </a:xfrm>
          <a:prstGeom prst="ellipse">
            <a:avLst/>
          </a:prstGeom>
          <a:solidFill>
            <a:schemeClr val="accent1"/>
          </a:solidFill>
          <a:ln/>
        </p:spPr>
      </p:sp>
      <p:sp>
        <p:nvSpPr>
          <p:cNvPr id="40" name="Text 38"/>
          <p:cNvSpPr txBox="1"/>
          <p:nvPr/>
        </p:nvSpPr>
        <p:spPr>
          <a:xfrm>
            <a:off x="5455768" y="34107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13</a:t>
            </a:r>
            <a:endParaRPr lang="en-US" sz="1300" dirty="0"/>
          </a:p>
        </p:txBody>
      </p:sp>
      <p:sp>
        <p:nvSpPr>
          <p:cNvPr id="41" name="Text 39"/>
          <p:cNvSpPr txBox="1"/>
          <p:nvPr/>
        </p:nvSpPr>
        <p:spPr>
          <a:xfrm>
            <a:off x="548640" y="3374136"/>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التحديات والتطبيق في المكتب</a:t>
            </a:r>
            <a:endParaRPr lang="ar-EG" sz="1500" dirty="0"/>
          </a:p>
        </p:txBody>
      </p:sp>
      <p:sp>
        <p:nvSpPr>
          <p:cNvPr id="42" name="n14"/>
          <p:cNvSpPr/>
          <p:nvPr/>
        </p:nvSpPr>
        <p:spPr>
          <a:xfrm>
            <a:off x="5455768" y="3922776"/>
            <a:ext cx="384048" cy="384048"/>
          </a:xfrm>
          <a:prstGeom prst="ellipse">
            <a:avLst/>
          </a:prstGeom>
          <a:solidFill>
            <a:schemeClr val="accent1"/>
          </a:solidFill>
          <a:ln/>
        </p:spPr>
      </p:sp>
      <p:sp>
        <p:nvSpPr>
          <p:cNvPr id="43" name="Text 41"/>
          <p:cNvSpPr txBox="1"/>
          <p:nvPr/>
        </p:nvSpPr>
        <p:spPr>
          <a:xfrm>
            <a:off x="5455768" y="39227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14</a:t>
            </a:r>
            <a:endParaRPr lang="en-US" sz="1300" dirty="0"/>
          </a:p>
        </p:txBody>
      </p:sp>
      <p:sp>
        <p:nvSpPr>
          <p:cNvPr id="44" name="Text 42"/>
          <p:cNvSpPr txBox="1"/>
          <p:nvPr/>
        </p:nvSpPr>
        <p:spPr>
          <a:xfrm>
            <a:off x="548640" y="3886200"/>
            <a:ext cx="4907128" cy="457200"/>
          </a:xfrm>
          <a:prstGeom prst="rect">
            <a:avLst/>
          </a:prstGeom>
          <a:noFill/>
          <a:ln/>
        </p:spPr>
        <p:txBody>
          <a:bodyPr wrap="square" rtlCol="0" anchor="ctr"/>
          <a:lstStyle/>
          <a:p>
            <a:pPr rtl="1" algn="r" indent="0" marL="0">
              <a:buNone/>
            </a:pPr>
            <a:r>
              <a:rPr lang="ar-EG" altLang="en-US" sz="1500" dirty="0">
                <a:solidFill>
                  <a:schemeClr val="tx1"/>
                </a:solidFill>
              </a:rPr>
              <a:t>دراسات الحالة (دروس عامة)</a:t>
            </a:r>
            <a:endParaRPr lang="ar-EG" sz="1500" dirty="0"/>
          </a:p>
        </p:txBody>
      </p:sp>
      <p:sp>
        <p:nvSpPr>
          <p:cNvPr id="45" name="n15"/>
          <p:cNvSpPr/>
          <p:nvPr/>
        </p:nvSpPr>
        <p:spPr>
          <a:xfrm>
            <a:off x="5455768" y="4434840"/>
            <a:ext cx="384048" cy="384048"/>
          </a:xfrm>
          <a:prstGeom prst="ellipse">
            <a:avLst/>
          </a:prstGeom>
          <a:solidFill>
            <a:schemeClr val="accent1"/>
          </a:solidFill>
          <a:ln/>
        </p:spPr>
      </p:sp>
      <p:sp>
        <p:nvSpPr>
          <p:cNvPr id="46" name="Text 44"/>
          <p:cNvSpPr txBox="1"/>
          <p:nvPr/>
        </p:nvSpPr>
        <p:spPr>
          <a:xfrm>
            <a:off x="5455768" y="44348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15</a:t>
            </a:r>
            <a:endParaRPr lang="en-US" sz="1300" dirty="0"/>
          </a:p>
        </p:txBody>
      </p:sp>
      <p:sp>
        <p:nvSpPr>
          <p:cNvPr id="47" name="Text 45"/>
          <p:cNvSpPr txBox="1"/>
          <p:nvPr/>
        </p:nvSpPr>
        <p:spPr>
          <a:xfrm>
            <a:off x="548640" y="4398264"/>
            <a:ext cx="4907128" cy="457200"/>
          </a:xfrm>
          <a:prstGeom prst="rect">
            <a:avLst/>
          </a:prstGeom>
          <a:noFill/>
          <a:ln/>
        </p:spPr>
        <p:txBody>
          <a:bodyPr wrap="square" rtlCol="0" anchor="ctr"/>
          <a:lstStyle/>
          <a:p>
            <a:pPr rtl="1" algn="r" indent="0" marL="0">
              <a:buNone/>
            </a:pPr>
            <a:r>
              <a:rPr lang="ar-EG" altLang="en-US" sz="1500" dirty="0">
                <a:solidFill>
                  <a:schemeClr val="tx1"/>
                </a:solidFill>
              </a:rPr>
              <a:t>خلاصة م. عمر خميس</a:t>
            </a:r>
            <a:endParaRPr lang="ar-EG" sz="15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مقدمة: ليه BIM Handbook؟</a:t>
            </a:r>
            <a:endParaRPr lang="ar-EG" sz="3000" dirty="0"/>
          </a:p>
        </p:txBody>
      </p:sp>
      <p:sp>
        <p:nvSpPr>
          <p:cNvPr id="3" name="card0"/>
          <p:cNvSpPr/>
          <p:nvPr/>
        </p:nvSpPr>
        <p:spPr>
          <a:xfrm>
            <a:off x="6233008" y="1371600"/>
            <a:ext cx="541004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11002975" y="1554480"/>
            <a:ext cx="457200" cy="457200"/>
          </a:xfrm>
          <a:prstGeom prst="ellipse">
            <a:avLst/>
          </a:prstGeom>
          <a:solidFill>
            <a:schemeClr val="accent2"/>
          </a:solidFill>
          <a:ln/>
        </p:spPr>
      </p:sp>
      <p:sp>
        <p:nvSpPr>
          <p:cNvPr id="5" name="Text 3"/>
          <p:cNvSpPr txBox="1"/>
          <p:nvPr/>
        </p:nvSpPr>
        <p:spPr>
          <a:xfrm>
            <a:off x="11002975"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6415888" y="2103120"/>
            <a:ext cx="5044288" cy="914400"/>
          </a:xfrm>
          <a:prstGeom prst="rect">
            <a:avLst/>
          </a:prstGeom>
          <a:noFill/>
          <a:ln/>
        </p:spPr>
        <p:txBody>
          <a:bodyPr wrap="square" rtlCol="0" anchor="t"/>
          <a:lstStyle/>
          <a:p>
            <a:pPr rtl="1" algn="r" indent="0" marL="0">
              <a:buNone/>
            </a:pPr>
            <a:r>
              <a:rPr lang="ar-EG" altLang="en-US" sz="1400" dirty="0">
                <a:solidFill>
                  <a:srgbClr val="2B2620"/>
                </a:solidFill>
              </a:rPr>
              <a:t>«دليل BIM» لرافائيل ساكس وتشاك إيستمان وجانج لي وبول تيكولز، الطبعة الثالثة 2018، …</a:t>
            </a:r>
            <a:endParaRPr lang="en-US" sz="1400" dirty="0"/>
          </a:p>
        </p:txBody>
      </p:sp>
      <p:sp>
        <p:nvSpPr>
          <p:cNvPr id="7" name="card1"/>
          <p:cNvSpPr/>
          <p:nvPr/>
        </p:nvSpPr>
        <p:spPr>
          <a:xfrm>
            <a:off x="548640" y="1371600"/>
            <a:ext cx="541004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5318608" y="1554480"/>
            <a:ext cx="457200" cy="457200"/>
          </a:xfrm>
          <a:prstGeom prst="ellipse">
            <a:avLst/>
          </a:prstGeom>
          <a:solidFill>
            <a:schemeClr val="accent2"/>
          </a:solidFill>
          <a:ln/>
        </p:spPr>
      </p:sp>
      <p:sp>
        <p:nvSpPr>
          <p:cNvPr id="9" name="Text 7"/>
          <p:cNvSpPr txBox="1"/>
          <p:nvPr/>
        </p:nvSpPr>
        <p:spPr>
          <a:xfrm>
            <a:off x="531860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731520" y="2103120"/>
            <a:ext cx="5044288" cy="914400"/>
          </a:xfrm>
          <a:prstGeom prst="rect">
            <a:avLst/>
          </a:prstGeom>
          <a:noFill/>
          <a:ln/>
        </p:spPr>
        <p:txBody>
          <a:bodyPr wrap="square" rtlCol="0" anchor="t"/>
          <a:lstStyle/>
          <a:p>
            <a:pPr rtl="1" algn="r" indent="0" marL="0">
              <a:buNone/>
            </a:pPr>
            <a:r>
              <a:rPr lang="ar-EG" altLang="en-US" sz="1400" dirty="0">
                <a:solidFill>
                  <a:srgbClr val="2B2620"/>
                </a:solidFill>
              </a:rPr>
              <a:t>BIM مش برنامج — ده </a:t>
            </a:r>
            <a:pPr rtl="1" algn="r" indent="0" marL="0">
              <a:buNone/>
            </a:pPr>
            <a:r>
              <a:rPr lang="ar-EG" altLang="en-US" sz="1400" b="1" dirty="0">
                <a:solidFill>
                  <a:srgbClr val="2B2620"/>
                </a:solidFill>
              </a:rPr>
              <a:t>طريقة شغل</a:t>
            </a:r>
            <a:pPr rtl="1" algn="r" indent="0" marL="0">
              <a:buNone/>
            </a:pPr>
            <a:r>
              <a:rPr lang="ar-EG" altLang="en-US" sz="1400" dirty="0">
                <a:solidFill>
                  <a:srgbClr val="2B2620"/>
                </a:solidFill>
              </a:rPr>
              <a:t>: نموذج رقمي واحد فيه الشكل (3D) والبيانات (مواد، كميات، تكلفة، زمن، صيانة)، …</a:t>
            </a:r>
            <a:endParaRPr lang="en-US" sz="1400" dirty="0"/>
          </a:p>
        </p:txBody>
      </p:sp>
      <p:sp>
        <p:nvSpPr>
          <p:cNvPr id="11" name="Text 9"/>
          <p:cNvSpPr txBox="1"/>
          <p:nvPr/>
        </p:nvSpPr>
        <p:spPr>
          <a:xfrm>
            <a:off x="548640" y="5806440"/>
            <a:ext cx="11094415" cy="457200"/>
          </a:xfrm>
          <a:prstGeom prst="rect">
            <a:avLst/>
          </a:prstGeom>
          <a:solidFill>
            <a:srgbClr val="FBF6EA"/>
          </a:solidFill>
          <a:ln/>
        </p:spPr>
        <p:txBody>
          <a:bodyPr wrap="square" rtlCol="0" anchor="ctr"/>
          <a:lstStyle/>
          <a:p>
            <a:pPr rtl="1" algn="r" indent="0" marL="0">
              <a:buNone/>
            </a:pPr>
            <a:r>
              <a:rPr lang="ar-EG" altLang="en-US" sz="1200" i="1" dirty="0">
                <a:solidFill>
                  <a:srgbClr val="8A5A10"/>
                </a:solidFill>
              </a:rPr>
              <a:t>الملخص ده بصياغة م. عمر خميس، ومربوط بالشغل الفعلي على Revit والمكاتب في مصر والسعودية.</a:t>
            </a:r>
            <a:endParaRPr lang="en-US" sz="12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من الرسم ثنائي الأبعاد للنموذج</a:t>
            </a:r>
            <a:endParaRPr lang="ar-EG" sz="3000" dirty="0"/>
          </a:p>
        </p:txBody>
      </p:sp>
      <p:sp>
        <p:nvSpPr>
          <p:cNvPr id="3" name="Text 1"/>
          <p:cNvSpPr txBox="1"/>
          <p:nvPr/>
        </p:nvSpPr>
        <p:spPr>
          <a:xfrm>
            <a:off x="548640" y="1280160"/>
            <a:ext cx="11094415" cy="822960"/>
          </a:xfrm>
          <a:prstGeom prst="rect">
            <a:avLst/>
          </a:prstGeom>
          <a:noFill/>
          <a:ln/>
        </p:spPr>
        <p:txBody>
          <a:bodyPr wrap="square" rtlCol="0" anchor="t"/>
          <a:lstStyle/>
          <a:p>
            <a:pPr rtl="1" algn="r" marL="342900" indent="-342900">
              <a:spcAft>
                <a:spcPts val="800"/>
              </a:spcAft>
              <a:buSzPct val="100000"/>
              <a:buChar char="•"/>
            </a:pPr>
            <a:r>
              <a:rPr lang="ar-EG" altLang="en-US" sz="1400" b="1" dirty="0">
                <a:solidFill>
                  <a:srgbClr val="2B2620"/>
                </a:solidFill>
              </a:rPr>
              <a:t>المستوى 0</a:t>
            </a:r>
            <a:pPr rtl="1" algn="r" marL="342900" indent="-342900">
              <a:spcAft>
                <a:spcPts val="800"/>
              </a:spcAft>
              <a:buSzPct val="100000"/>
              <a:buChar char="•"/>
            </a:pPr>
            <a:r>
              <a:rPr lang="ar-EG" altLang="en-US" sz="1400" dirty="0">
                <a:solidFill>
                  <a:srgbClr val="2B2620"/>
                </a:solidFill>
              </a:rPr>
              <a:t>: رسم ورقي أو CAD من غير تنسيق.</a:t>
            </a:r>
            <a:endParaRPr lang="en-US" sz="1400" dirty="0"/>
          </a:p>
          <a:p>
            <a:pPr rtl="1" algn="r" marL="342900" indent="-342900">
              <a:spcAft>
                <a:spcPts val="800"/>
              </a:spcAft>
              <a:buSzPct val="100000"/>
              <a:buChar char="•"/>
            </a:pPr>
            <a:r>
              <a:rPr lang="ar-EG" altLang="en-US" sz="1400" b="1" dirty="0">
                <a:solidFill>
                  <a:srgbClr val="2B2620"/>
                </a:solidFill>
              </a:rPr>
              <a:t>المستوى 1</a:t>
            </a:r>
            <a:pPr rtl="1" algn="r" marL="342900" indent="-342900">
              <a:spcAft>
                <a:spcPts val="800"/>
              </a:spcAft>
              <a:buSzPct val="100000"/>
              <a:buChar char="•"/>
            </a:pPr>
            <a:r>
              <a:rPr lang="ar-EG" altLang="en-US" sz="1400" dirty="0">
                <a:solidFill>
                  <a:srgbClr val="2B2620"/>
                </a:solidFill>
              </a:rPr>
              <a:t>: CAD ثنائي/ثلاثي مع معايير تبادل ملفات.</a:t>
            </a:r>
            <a:endParaRPr lang="en-US" sz="14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2194560"/>
          <a:ext cx="11094415" cy="914400"/>
        </p:xfrm>
        <a:graphic>
          <a:graphicData uri="http://schemas.openxmlformats.org/drawingml/2006/table">
            <a:tbl>
              <a:tblPr/>
              <a:tblGrid>
                <a:gridCol w="5547208"/>
                <a:gridCol w="5547208"/>
              </a:tblGrid>
              <a:tr h="384048">
                <a:tc>
                  <a:txBody>
                    <a:bodyPr/>
                    <a:lstStyle/>
                    <a:p>
                      <a:pPr rtl="1" algn="r" indent="0" marL="0">
                        <a:buNone/>
                      </a:pPr>
                      <a:r>
                        <a:rPr lang="ar-EG" altLang="en-US" sz="1300" b="1" dirty="0">
                          <a:solidFill>
                            <a:srgbClr val="FFFFFF"/>
                          </a:solidFill>
                        </a:rPr>
                        <a:t>BIM</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rtl="1" algn="r" indent="0" marL="0">
                        <a:buNone/>
                      </a:pPr>
                      <a:r>
                        <a:rPr lang="ar-EG" altLang="en-US" sz="1300" b="1" dirty="0">
                          <a:solidFill>
                            <a:srgbClr val="FFFFFF"/>
                          </a:solidFill>
                        </a:rPr>
                        <a:t>الرسم التقليدي (CAD)</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r>
              <a:tr h="384048">
                <a:tc>
                  <a:txBody>
                    <a:bodyPr/>
                    <a:lstStyle/>
                    <a:p>
                      <a:pPr rtl="1" algn="r" indent="0" marL="0">
                        <a:buNone/>
                      </a:pPr>
                      <a:r>
                        <a:rPr lang="ar-EG" altLang="en-US" sz="1300" dirty="0">
                          <a:solidFill>
                            <a:srgbClr val="2B2620"/>
                          </a:solidFill>
                        </a:rPr>
                        <a:t>عناصر ذكية (حائط، باب، عمود)</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خطوط ملهاش معنى للبرنامج</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rtl="1" algn="r" indent="0" marL="0">
                        <a:buNone/>
                      </a:pPr>
                      <a:r>
                        <a:rPr lang="ar-EG" altLang="en-US" sz="1300" dirty="0">
                          <a:solidFill>
                            <a:srgbClr val="2B2620"/>
                          </a:solidFill>
                        </a:rPr>
                        <a:t>كل اللوحات من نموذج واحد</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كل لوحة لوحدها</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rtl="1" algn="r" indent="0" marL="0">
                        <a:buNone/>
                      </a:pPr>
                      <a:r>
                        <a:rPr lang="ar-EG" altLang="en-US" sz="1300" dirty="0">
                          <a:solidFill>
                            <a:srgbClr val="2B2620"/>
                          </a:solidFill>
                        </a:rPr>
                        <a:t>أي تعديل بيظهر في كل اللوحات والجداول</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تعديل المسقط مش بيعدّل القطاع</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rtl="1" algn="r" indent="0" marL="0">
                        <a:buNone/>
                      </a:pPr>
                      <a:r>
                        <a:rPr lang="ar-EG" altLang="en-US" sz="1300" dirty="0">
                          <a:solidFill>
                            <a:srgbClr val="2B2620"/>
                          </a:solidFill>
                        </a:rPr>
                        <a:t>الحصر تلقائي من النموذج</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الحصر يدوي</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rtl="1" algn="r" indent="0" marL="0">
                        <a:buNone/>
                      </a:pPr>
                      <a:r>
                        <a:rPr lang="ar-EG" altLang="en-US" sz="1300" dirty="0">
                          <a:solidFill>
                            <a:srgbClr val="2B2620"/>
                          </a:solidFill>
                        </a:rPr>
                        <a:t>التعارضات بتظهر على الكمبيوتر</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التعارضات بتظهر في الموقع</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النمذجة البارامترية</a:t>
            </a:r>
            <a:endParaRPr lang="ar-EG" sz="3000" dirty="0"/>
          </a:p>
        </p:txBody>
      </p:sp>
      <p:sp>
        <p:nvSpPr>
          <p:cNvPr id="3" name="figure-frame"/>
          <p:cNvSpPr/>
          <p:nvPr/>
        </p:nvSpPr>
        <p:spPr>
          <a:xfrm>
            <a:off x="457200" y="1325880"/>
            <a:ext cx="5669280" cy="2560320"/>
          </a:xfrm>
          <a:prstGeom prst="roundRect">
            <a:avLst>
              <a:gd name="adj" fmla="val 3571"/>
            </a:avLst>
          </a:prstGeom>
          <a:solidFill>
            <a:srgbClr val="FFFFFF"/>
          </a:solidFill>
          <a:ln w="12700">
            <a:solidFill>
              <a:srgbClr val="E6DFD1"/>
            </a:solidFill>
            <a:prstDash val="solid"/>
          </a:ln>
          <a:effectLst>
            <a:outerShdw sx="100000" sy="100000" kx="0" ky="0" algn="bl" rotWithShape="0" blurRad="76200" dist="25400" dir="5400000">
              <a:srgbClr val="000000">
                <a:alpha val="12000"/>
              </a:srgbClr>
            </a:outerShdw>
          </a:effectLst>
        </p:spPr>
      </p:sp>
      <p:pic>
        <p:nvPicPr>
          <p:cNvPr id="4" name="figure" descr="preencoded.png">    </p:cNvPr>
          <p:cNvPicPr>
            <a:picLocks noChangeAspect="1"/>
          </p:cNvPicPr>
          <p:nvPr/>
        </p:nvPicPr>
        <p:blipFill>
          <a:blip r:embed="rId1"/>
          <a:stretch>
            <a:fillRect/>
          </a:stretch>
        </p:blipFill>
        <p:spPr>
          <a:xfrm>
            <a:off x="548640" y="1417320"/>
            <a:ext cx="5486400" cy="2377440"/>
          </a:xfrm>
          <a:prstGeom prst="rect">
            <a:avLst/>
          </a:prstGeom>
        </p:spPr>
      </p:pic>
      <p:sp>
        <p:nvSpPr>
          <p:cNvPr id="5" name="Text 2"/>
          <p:cNvSpPr txBox="1"/>
          <p:nvPr/>
        </p:nvSpPr>
        <p:spPr>
          <a:xfrm>
            <a:off x="548640" y="3931920"/>
            <a:ext cx="5486400" cy="365760"/>
          </a:xfrm>
          <a:prstGeom prst="rect">
            <a:avLst/>
          </a:prstGeom>
          <a:noFill/>
          <a:ln/>
        </p:spPr>
        <p:txBody>
          <a:bodyPr wrap="square" rtlCol="0" anchor="ctr"/>
          <a:lstStyle/>
          <a:p>
            <a:pPr rtl="1" algn="ctr" indent="0" marL="0">
              <a:buNone/>
            </a:pPr>
            <a:r>
              <a:rPr lang="ar-EG" altLang="en-US" sz="1100" i="1" dirty="0">
                <a:solidFill>
                  <a:srgbClr val="6B6152"/>
                </a:solidFill>
              </a:rPr>
              <a:t>العنصر البارامتري المستضاف وبارامترات العائلة</a:t>
            </a:r>
            <a:endParaRPr lang="ar-EG" sz="1100" dirty="0"/>
          </a:p>
        </p:txBody>
      </p:sp>
      <p:sp>
        <p:nvSpPr>
          <p:cNvPr id="6" name="Text 3"/>
          <p:cNvSpPr txBox="1"/>
          <p:nvPr/>
        </p:nvSpPr>
        <p:spPr>
          <a:xfrm>
            <a:off x="6430975" y="1325880"/>
            <a:ext cx="5212080" cy="4480560"/>
          </a:xfrm>
          <a:prstGeom prst="rect">
            <a:avLst/>
          </a:prstGeom>
          <a:noFill/>
          <a:ln/>
        </p:spPr>
        <p:txBody>
          <a:bodyPr wrap="square" rtlCol="0" anchor="t"/>
          <a:lstStyle/>
          <a:p>
            <a:pPr rtl="1" algn="r" marL="342900" indent="-342900">
              <a:spcAft>
                <a:spcPts val="800"/>
              </a:spcAft>
              <a:buSzPct val="100000"/>
              <a:buChar char="•"/>
            </a:pPr>
            <a:r>
              <a:rPr lang="ar-EG" altLang="en-US" sz="1500" dirty="0">
                <a:solidFill>
                  <a:srgbClr val="2B2620"/>
                </a:solidFill>
              </a:rPr>
              <a:t>العنصر بيتعرّف </a:t>
            </a:r>
            <a:pPr rtl="1" algn="r" marL="342900" indent="-342900">
              <a:spcAft>
                <a:spcPts val="800"/>
              </a:spcAft>
              <a:buSzPct val="100000"/>
              <a:buChar char="•"/>
            </a:pPr>
            <a:r>
              <a:rPr lang="ar-EG" altLang="en-US" sz="1500" b="1" dirty="0">
                <a:solidFill>
                  <a:srgbClr val="2B2620"/>
                </a:solidFill>
              </a:rPr>
              <a:t>بقواعد وعلاقات</a:t>
            </a:r>
            <a:pPr rtl="1" algn="r" marL="342900" indent="-342900">
              <a:spcAft>
                <a:spcPts val="800"/>
              </a:spcAft>
              <a:buSzPct val="100000"/>
              <a:buChar char="•"/>
            </a:pPr>
            <a:r>
              <a:rPr lang="ar-EG" altLang="en-US" sz="1500" dirty="0">
                <a:solidFill>
                  <a:srgbClr val="2B2620"/>
                </a:solidFill>
              </a:rPr>
              <a:t>: الشباك «مستضاف» في الحائط ويتحرك معاه، والسقف بيقف على مستوى الدور.</a:t>
            </a:r>
            <a:endParaRPr lang="en-US" sz="1500" dirty="0"/>
          </a:p>
          <a:p>
            <a:pPr rtl="1" algn="r" marL="342900" indent="-342900">
              <a:spcAft>
                <a:spcPts val="800"/>
              </a:spcAft>
              <a:buSzPct val="100000"/>
              <a:buChar char="•"/>
            </a:pPr>
            <a:r>
              <a:rPr lang="ar-EG" altLang="en-US" sz="1500" dirty="0">
                <a:solidFill>
                  <a:srgbClr val="2B2620"/>
                </a:solidFill>
              </a:rPr>
              <a:t>لو غيّرت ارتفاع الدور، الحوائط والسلالم والأعمدة بتتظبط لوحدها.</a:t>
            </a:r>
            <a:endParaRPr lang="en-US" sz="1500" dirty="0"/>
          </a:p>
          <a:p>
            <a:pPr rtl="1" algn="r" marL="342900" indent="-342900">
              <a:spcAft>
                <a:spcPts val="800"/>
              </a:spcAft>
              <a:buSzPct val="100000"/>
              <a:buChar char="•"/>
            </a:pPr>
            <a:r>
              <a:rPr lang="ar-EG" altLang="en-US" sz="1500" b="1" dirty="0">
                <a:solidFill>
                  <a:srgbClr val="2B2620"/>
                </a:solidFill>
              </a:rPr>
              <a:t>العائلات (Families)</a:t>
            </a:r>
            <a:pPr rtl="1" algn="r" marL="342900" indent="-342900">
              <a:spcAft>
                <a:spcPts val="800"/>
              </a:spcAft>
              <a:buSzPct val="100000"/>
              <a:buChar char="•"/>
            </a:pPr>
            <a:r>
              <a:rPr lang="ar-EG" altLang="en-US" sz="1500" dirty="0">
                <a:solidFill>
                  <a:srgbClr val="2B2620"/>
                </a:solidFill>
              </a:rPr>
              <a:t> في Revit هي التطبيق العملي: باب بعرض وارتفاع ونوع حلق كبارامترات.</a:t>
            </a:r>
            <a:endParaRPr lang="en-US" sz="1500" dirty="0"/>
          </a:p>
        </p:txBody>
      </p:sp>
      <p:sp>
        <p:nvSpPr>
          <p:cNvPr id="7" name="Text 4"/>
          <p:cNvSpPr txBox="1"/>
          <p:nvPr/>
        </p:nvSpPr>
        <p:spPr>
          <a:xfrm>
            <a:off x="548640" y="5806440"/>
            <a:ext cx="11094415" cy="457200"/>
          </a:xfrm>
          <a:prstGeom prst="rect">
            <a:avLst/>
          </a:prstGeom>
          <a:solidFill>
            <a:srgbClr val="FBF6EA"/>
          </a:solidFill>
          <a:ln/>
        </p:spPr>
        <p:txBody>
          <a:bodyPr wrap="square" rtlCol="0" anchor="ctr"/>
          <a:lstStyle/>
          <a:p>
            <a:pPr rtl="1" algn="r" indent="0" marL="0">
              <a:buNone/>
            </a:pPr>
            <a:r>
              <a:rPr lang="ar-EG" altLang="en-US" sz="1200" i="1" dirty="0">
                <a:solidFill>
                  <a:srgbClr val="8A5A10"/>
                </a:solidFill>
              </a:rPr>
              <a:t>نفس فكرة بلوكات مكتبة م. عمر خميس البارامترية: تغيّر البارامتر والشكل يتبني من جديد.</a:t>
            </a:r>
            <a:endParaRPr lang="en-US" sz="12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التوافقية وتبادل البيانات (IFC و openBIM)</a:t>
            </a:r>
            <a:endParaRPr lang="ar-EG" sz="3000" dirty="0"/>
          </a:p>
        </p:txBody>
      </p:sp>
      <p:sp>
        <p:nvSpPr>
          <p:cNvPr id="3" name="Text 1"/>
          <p:cNvSpPr txBox="1"/>
          <p:nvPr/>
        </p:nvSpPr>
        <p:spPr>
          <a:xfrm>
            <a:off x="548640" y="1280160"/>
            <a:ext cx="11094415" cy="822960"/>
          </a:xfrm>
          <a:prstGeom prst="rect">
            <a:avLst/>
          </a:prstGeom>
          <a:noFill/>
          <a:ln/>
        </p:spPr>
        <p:txBody>
          <a:bodyPr wrap="square" rtlCol="0" anchor="t"/>
          <a:lstStyle/>
          <a:p>
            <a:pPr rtl="1" algn="r" marL="342900" indent="-342900">
              <a:spcAft>
                <a:spcPts val="800"/>
              </a:spcAft>
              <a:buSzPct val="100000"/>
              <a:buChar char="•"/>
            </a:pPr>
            <a:r>
              <a:rPr lang="ar-EG" altLang="en-US" sz="1400" b="1" dirty="0">
                <a:solidFill>
                  <a:srgbClr val="2B2620"/>
                </a:solidFill>
              </a:rPr>
              <a:t>IFC</a:t>
            </a:r>
            <a:pPr rtl="1" algn="r" marL="342900" indent="-342900">
              <a:spcAft>
                <a:spcPts val="800"/>
              </a:spcAft>
              <a:buSzPct val="100000"/>
              <a:buChar char="•"/>
            </a:pPr>
            <a:r>
              <a:rPr lang="ar-EG" altLang="en-US" sz="1400" dirty="0">
                <a:solidFill>
                  <a:srgbClr val="2B2620"/>
                </a:solidFill>
              </a:rPr>
              <a:t> صيغة مفتوحة دولية (ISO 16739) لتبادل النماذج بين البرامج.</a:t>
            </a:r>
            <a:endParaRPr lang="en-US" sz="1400" dirty="0"/>
          </a:p>
          <a:p>
            <a:pPr rtl="1" algn="r" marL="342900" indent="-342900">
              <a:spcAft>
                <a:spcPts val="800"/>
              </a:spcAft>
              <a:buSzPct val="100000"/>
              <a:buChar char="•"/>
            </a:pPr>
            <a:r>
              <a:rPr lang="ar-EG" altLang="en-US" sz="1400" b="1" dirty="0">
                <a:solidFill>
                  <a:srgbClr val="2B2620"/>
                </a:solidFill>
              </a:rPr>
              <a:t>openBIM</a:t>
            </a:r>
            <a:pPr rtl="1" algn="r" marL="342900" indent="-342900">
              <a:spcAft>
                <a:spcPts val="800"/>
              </a:spcAft>
              <a:buSzPct val="100000"/>
              <a:buChar char="•"/>
            </a:pPr>
            <a:r>
              <a:rPr lang="ar-EG" altLang="en-US" sz="1400" dirty="0">
                <a:solidFill>
                  <a:srgbClr val="2B2620"/>
                </a:solidFill>
              </a:rPr>
              <a:t> معناه إن المشروع مايبقاش محبوس في برنامج واحد.</a:t>
            </a:r>
            <a:endParaRPr lang="en-US" sz="14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2194560"/>
          <a:ext cx="11094415" cy="914400"/>
        </p:xfrm>
        <a:graphic>
          <a:graphicData uri="http://schemas.openxmlformats.org/drawingml/2006/table">
            <a:tbl>
              <a:tblPr/>
              <a:tblGrid>
                <a:gridCol w="5547208"/>
                <a:gridCol w="5547208"/>
              </a:tblGrid>
              <a:tr h="384048">
                <a:tc>
                  <a:txBody>
                    <a:bodyPr/>
                    <a:lstStyle/>
                    <a:p>
                      <a:pPr rtl="1" algn="r" indent="0" marL="0">
                        <a:buNone/>
                      </a:pPr>
                      <a:r>
                        <a:rPr lang="ar-EG" altLang="en-US" sz="1300" b="1" dirty="0">
                          <a:solidFill>
                            <a:srgbClr val="FFFFFF"/>
                          </a:solidFill>
                        </a:rPr>
                        <a:t>ليه مهم</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rtl="1" algn="r" indent="0" marL="0">
                        <a:buNone/>
                      </a:pPr>
                      <a:r>
                        <a:rPr lang="ar-EG" altLang="en-US" sz="1300" b="1" dirty="0">
                          <a:solidFill>
                            <a:srgbClr val="FFFFFF"/>
                          </a:solidFill>
                        </a:rPr>
                        <a:t>البند</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r>
              <a:tr h="384048">
                <a:tc>
                  <a:txBody>
                    <a:bodyPr/>
                    <a:lstStyle/>
                    <a:p>
                      <a:pPr rtl="1" algn="r" indent="0" marL="0">
                        <a:buNone/>
                      </a:pPr>
                      <a:r>
                        <a:rPr lang="ar-EG" altLang="en-US" sz="1300" dirty="0">
                          <a:solidFill>
                            <a:srgbClr val="2B2620"/>
                          </a:solidFill>
                        </a:rPr>
                        <a:t>النماذج تركب فوق بعض صح</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نقطة الأصل والإحداثيات</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rtl="1" algn="r" indent="0" marL="0">
                        <a:buNone/>
                      </a:pPr>
                      <a:r>
                        <a:rPr lang="ar-EG" altLang="en-US" sz="1300" dirty="0">
                          <a:solidFill>
                            <a:srgbClr val="2B2620"/>
                          </a:solidFill>
                        </a:rPr>
                        <a:t>مم أو م — اختلافها بيبوّظ كل حاجة</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الوحدات</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rtl="1" algn="r" indent="0" marL="0">
                        <a:buNone/>
                      </a:pPr>
                      <a:r>
                        <a:rPr lang="ar-EG" altLang="en-US" sz="1300" dirty="0">
                          <a:solidFill>
                            <a:srgbClr val="2B2620"/>
                          </a:solidFill>
                        </a:rPr>
                        <a:t>التنسيق بين التخصصات</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أسماء المستويات والمحاور</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rtl="1" algn="r" indent="0" marL="0">
                        <a:buNone/>
                      </a:pPr>
                      <a:r>
                        <a:rPr lang="ar-EG" altLang="en-US" sz="1300" dirty="0">
                          <a:solidFill>
                            <a:srgbClr val="2B2620"/>
                          </a:solidFill>
                        </a:rPr>
                        <a:t>الحصر والتكلفة والمواصفات</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التصنيف (Uniclass / OmniClass)</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rtl="1" algn="r" indent="0" marL="0">
                        <a:buNone/>
                      </a:pPr>
                      <a:r>
                        <a:rPr lang="ar-EG" altLang="en-US" sz="1300" dirty="0">
                          <a:solidFill>
                            <a:srgbClr val="2B2620"/>
                          </a:solidFill>
                        </a:rPr>
                        <a:t>بيئة البيانات المشتركة (CDE)</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تسمية الملفات</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BIM للمالك</a:t>
            </a:r>
            <a:endParaRPr lang="ar-EG" sz="3000" dirty="0"/>
          </a:p>
        </p:txBody>
      </p:sp>
      <p:sp>
        <p:nvSpPr>
          <p:cNvPr id="3" name="card0"/>
          <p:cNvSpPr/>
          <p:nvPr/>
        </p:nvSpPr>
        <p:spPr>
          <a:xfrm>
            <a:off x="6233008" y="1371600"/>
            <a:ext cx="541004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11002975" y="1554480"/>
            <a:ext cx="457200" cy="457200"/>
          </a:xfrm>
          <a:prstGeom prst="ellipse">
            <a:avLst/>
          </a:prstGeom>
          <a:solidFill>
            <a:schemeClr val="accent2"/>
          </a:solidFill>
          <a:ln/>
        </p:spPr>
      </p:sp>
      <p:sp>
        <p:nvSpPr>
          <p:cNvPr id="5" name="Text 3"/>
          <p:cNvSpPr txBox="1"/>
          <p:nvPr/>
        </p:nvSpPr>
        <p:spPr>
          <a:xfrm>
            <a:off x="11002975"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6415888" y="2103120"/>
            <a:ext cx="5044288" cy="914400"/>
          </a:xfrm>
          <a:prstGeom prst="rect">
            <a:avLst/>
          </a:prstGeom>
          <a:noFill/>
          <a:ln/>
        </p:spPr>
        <p:txBody>
          <a:bodyPr wrap="square" rtlCol="0" anchor="t"/>
          <a:lstStyle/>
          <a:p>
            <a:pPr rtl="1" algn="r" indent="0" marL="0">
              <a:buNone/>
            </a:pPr>
            <a:r>
              <a:rPr lang="ar-EG" altLang="en-US" sz="1400" b="1" dirty="0">
                <a:solidFill>
                  <a:srgbClr val="2B2620"/>
                </a:solidFill>
              </a:rPr>
              <a:t>قرارات أدق بدري</a:t>
            </a:r>
            <a:pPr rtl="1" algn="r" indent="0" marL="0">
              <a:buNone/>
            </a:pPr>
            <a:r>
              <a:rPr lang="ar-EG" altLang="en-US" sz="1400" dirty="0">
                <a:solidFill>
                  <a:srgbClr val="2B2620"/>
                </a:solidFill>
              </a:rPr>
              <a:t>: بدائل تصميم بتكلفة وأداء طاقة قبل ما تصرف.</a:t>
            </a:r>
            <a:endParaRPr lang="en-US" sz="1400" dirty="0"/>
          </a:p>
        </p:txBody>
      </p:sp>
      <p:sp>
        <p:nvSpPr>
          <p:cNvPr id="7" name="card1"/>
          <p:cNvSpPr/>
          <p:nvPr/>
        </p:nvSpPr>
        <p:spPr>
          <a:xfrm>
            <a:off x="548640" y="1371600"/>
            <a:ext cx="541004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5318608" y="1554480"/>
            <a:ext cx="457200" cy="457200"/>
          </a:xfrm>
          <a:prstGeom prst="ellipse">
            <a:avLst/>
          </a:prstGeom>
          <a:solidFill>
            <a:schemeClr val="accent2"/>
          </a:solidFill>
          <a:ln/>
        </p:spPr>
      </p:sp>
      <p:sp>
        <p:nvSpPr>
          <p:cNvPr id="9" name="Text 7"/>
          <p:cNvSpPr txBox="1"/>
          <p:nvPr/>
        </p:nvSpPr>
        <p:spPr>
          <a:xfrm>
            <a:off x="531860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731520" y="2103120"/>
            <a:ext cx="5044288" cy="914400"/>
          </a:xfrm>
          <a:prstGeom prst="rect">
            <a:avLst/>
          </a:prstGeom>
          <a:noFill/>
          <a:ln/>
        </p:spPr>
        <p:txBody>
          <a:bodyPr wrap="square" rtlCol="0" anchor="t"/>
          <a:lstStyle/>
          <a:p>
            <a:pPr rtl="1" algn="r" indent="0" marL="0">
              <a:buNone/>
            </a:pPr>
            <a:r>
              <a:rPr lang="ar-EG" altLang="en-US" sz="1400" b="1" dirty="0">
                <a:solidFill>
                  <a:srgbClr val="2B2620"/>
                </a:solidFill>
              </a:rPr>
              <a:t>مراقبة التكلفة والجدول</a:t>
            </a:r>
            <a:pPr rtl="1" algn="r" indent="0" marL="0">
              <a:buNone/>
            </a:pPr>
            <a:r>
              <a:rPr lang="ar-EG" altLang="en-US" sz="1400" dirty="0">
                <a:solidFill>
                  <a:srgbClr val="2B2620"/>
                </a:solidFill>
              </a:rPr>
              <a:t>: نموذج 4D و5D.</a:t>
            </a:r>
            <a:endParaRPr lang="en-US" sz="1400" dirty="0"/>
          </a:p>
        </p:txBody>
      </p:sp>
      <p:sp>
        <p:nvSpPr>
          <p:cNvPr id="11" name="card2"/>
          <p:cNvSpPr/>
          <p:nvPr/>
        </p:nvSpPr>
        <p:spPr>
          <a:xfrm>
            <a:off x="6233008" y="3383280"/>
            <a:ext cx="541004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11002975" y="3566160"/>
            <a:ext cx="457200" cy="457200"/>
          </a:xfrm>
          <a:prstGeom prst="ellipse">
            <a:avLst/>
          </a:prstGeom>
          <a:solidFill>
            <a:schemeClr val="accent2"/>
          </a:solidFill>
          <a:ln/>
        </p:spPr>
      </p:sp>
      <p:sp>
        <p:nvSpPr>
          <p:cNvPr id="13" name="Text 11"/>
          <p:cNvSpPr txBox="1"/>
          <p:nvPr/>
        </p:nvSpPr>
        <p:spPr>
          <a:xfrm>
            <a:off x="11002975"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6415888" y="4114800"/>
            <a:ext cx="5044288" cy="914400"/>
          </a:xfrm>
          <a:prstGeom prst="rect">
            <a:avLst/>
          </a:prstGeom>
          <a:noFill/>
          <a:ln/>
        </p:spPr>
        <p:txBody>
          <a:bodyPr wrap="square" rtlCol="0" anchor="t"/>
          <a:lstStyle/>
          <a:p>
            <a:pPr rtl="1" algn="r" indent="0" marL="0">
              <a:buNone/>
            </a:pPr>
            <a:r>
              <a:rPr lang="ar-EG" altLang="en-US" sz="1400" b="1" dirty="0">
                <a:solidFill>
                  <a:srgbClr val="2B2620"/>
                </a:solidFill>
              </a:rPr>
              <a:t>التسليم الرقمي</a:t>
            </a:r>
            <a:pPr rtl="1" algn="r" indent="0" marL="0">
              <a:buNone/>
            </a:pPr>
            <a:r>
              <a:rPr lang="ar-EG" altLang="en-US" sz="1400" dirty="0">
                <a:solidFill>
                  <a:srgbClr val="2B2620"/>
                </a:solidFill>
              </a:rPr>
              <a:t>: نموذج As-Built مع بيانات الأجهزة للصيانة.</a:t>
            </a:r>
            <a:endParaRPr lang="en-US" sz="1400" dirty="0"/>
          </a:p>
        </p:txBody>
      </p:sp>
      <p:sp>
        <p:nvSpPr>
          <p:cNvPr id="15" name="card3"/>
          <p:cNvSpPr/>
          <p:nvPr/>
        </p:nvSpPr>
        <p:spPr>
          <a:xfrm>
            <a:off x="548640" y="3383280"/>
            <a:ext cx="541004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5318608" y="3566160"/>
            <a:ext cx="457200" cy="457200"/>
          </a:xfrm>
          <a:prstGeom prst="ellipse">
            <a:avLst/>
          </a:prstGeom>
          <a:solidFill>
            <a:schemeClr val="accent2"/>
          </a:solidFill>
          <a:ln/>
        </p:spPr>
      </p:sp>
      <p:sp>
        <p:nvSpPr>
          <p:cNvPr id="17" name="Text 15"/>
          <p:cNvSpPr txBox="1"/>
          <p:nvPr/>
        </p:nvSpPr>
        <p:spPr>
          <a:xfrm>
            <a:off x="531860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731520" y="4114800"/>
            <a:ext cx="5044288" cy="914400"/>
          </a:xfrm>
          <a:prstGeom prst="rect">
            <a:avLst/>
          </a:prstGeom>
          <a:noFill/>
          <a:ln/>
        </p:spPr>
        <p:txBody>
          <a:bodyPr wrap="square" rtlCol="0" anchor="t"/>
          <a:lstStyle/>
          <a:p>
            <a:pPr rtl="1" algn="r" indent="0" marL="0">
              <a:buNone/>
            </a:pPr>
            <a:r>
              <a:rPr lang="ar-EG" altLang="en-US" sz="1400" b="1" dirty="0">
                <a:solidFill>
                  <a:srgbClr val="2B2620"/>
                </a:solidFill>
              </a:rPr>
              <a:t>دور المالك</a:t>
            </a:r>
            <a:pPr rtl="1" algn="r" indent="0" marL="0">
              <a:buNone/>
            </a:pPr>
            <a:r>
              <a:rPr lang="ar-EG" altLang="en-US" sz="1400" dirty="0">
                <a:solidFill>
                  <a:srgbClr val="2B2620"/>
                </a:solidFill>
              </a:rPr>
              <a:t> إنه يحدد متطلباته في </a:t>
            </a:r>
            <a:pPr rtl="1" algn="r" indent="0" marL="0">
              <a:buNone/>
            </a:pPr>
            <a:r>
              <a:rPr lang="ar-EG" altLang="en-US" sz="1400" b="1" dirty="0">
                <a:solidFill>
                  <a:srgbClr val="2B2620"/>
                </a:solidFill>
              </a:rPr>
              <a:t>متطلبات معلومات المالك (EIR / OIR)</a:t>
            </a:r>
            <a:pPr rtl="1" algn="r" indent="0" marL="0">
              <a:buNone/>
            </a:pPr>
            <a:r>
              <a:rPr lang="ar-EG" altLang="en-US" sz="1400" dirty="0">
                <a:solidFill>
                  <a:srgbClr val="2B2620"/>
                </a:solidFill>
              </a:rPr>
              <a:t> من أول يوم.</a:t>
            </a:r>
            <a:endParaRPr lang="en-US" sz="14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BIM للمصمم</a:t>
            </a:r>
            <a:endParaRPr lang="ar-EG" sz="3000" dirty="0"/>
          </a:p>
        </p:txBody>
      </p:sp>
      <p:sp>
        <p:nvSpPr>
          <p:cNvPr id="3" name="card0"/>
          <p:cNvSpPr/>
          <p:nvPr/>
        </p:nvSpPr>
        <p:spPr>
          <a:xfrm>
            <a:off x="8127797" y="1371600"/>
            <a:ext cx="351525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11002975" y="1554480"/>
            <a:ext cx="457200" cy="457200"/>
          </a:xfrm>
          <a:prstGeom prst="ellipse">
            <a:avLst/>
          </a:prstGeom>
          <a:solidFill>
            <a:schemeClr val="accent2"/>
          </a:solidFill>
          <a:ln/>
        </p:spPr>
      </p:sp>
      <p:sp>
        <p:nvSpPr>
          <p:cNvPr id="5" name="Text 3"/>
          <p:cNvSpPr txBox="1"/>
          <p:nvPr/>
        </p:nvSpPr>
        <p:spPr>
          <a:xfrm>
            <a:off x="11002975"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8310677" y="2103120"/>
            <a:ext cx="3149498" cy="914400"/>
          </a:xfrm>
          <a:prstGeom prst="rect">
            <a:avLst/>
          </a:prstGeom>
          <a:noFill/>
          <a:ln/>
        </p:spPr>
        <p:txBody>
          <a:bodyPr wrap="square" rtlCol="0" anchor="t"/>
          <a:lstStyle/>
          <a:p>
            <a:pPr rtl="1" algn="r" indent="0" marL="0">
              <a:buNone/>
            </a:pPr>
            <a:r>
              <a:rPr lang="ar-EG" altLang="en-US" sz="1400" b="1" dirty="0">
                <a:solidFill>
                  <a:srgbClr val="2B2620"/>
                </a:solidFill>
              </a:rPr>
              <a:t>تصميم مفاهيمي</a:t>
            </a:r>
            <a:pPr rtl="1" algn="r" indent="0" marL="0">
              <a:buNone/>
            </a:pPr>
            <a:r>
              <a:rPr lang="ar-EG" altLang="en-US" sz="1400" dirty="0">
                <a:solidFill>
                  <a:srgbClr val="2B2620"/>
                </a:solidFill>
              </a:rPr>
              <a:t> بكتل وتحليل مساحات وطاقة وشمس.</a:t>
            </a:r>
            <a:endParaRPr lang="en-US" sz="1400" dirty="0"/>
          </a:p>
        </p:txBody>
      </p:sp>
      <p:sp>
        <p:nvSpPr>
          <p:cNvPr id="7" name="card1"/>
          <p:cNvSpPr/>
          <p:nvPr/>
        </p:nvSpPr>
        <p:spPr>
          <a:xfrm>
            <a:off x="4338218" y="1371600"/>
            <a:ext cx="351525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7213397" y="1554480"/>
            <a:ext cx="457200" cy="457200"/>
          </a:xfrm>
          <a:prstGeom prst="ellipse">
            <a:avLst/>
          </a:prstGeom>
          <a:solidFill>
            <a:schemeClr val="accent2"/>
          </a:solidFill>
          <a:ln/>
        </p:spPr>
      </p:sp>
      <p:sp>
        <p:nvSpPr>
          <p:cNvPr id="9" name="Text 7"/>
          <p:cNvSpPr txBox="1"/>
          <p:nvPr/>
        </p:nvSpPr>
        <p:spPr>
          <a:xfrm>
            <a:off x="7213397"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4521098" y="2103120"/>
            <a:ext cx="3149498" cy="914400"/>
          </a:xfrm>
          <a:prstGeom prst="rect">
            <a:avLst/>
          </a:prstGeom>
          <a:noFill/>
          <a:ln/>
        </p:spPr>
        <p:txBody>
          <a:bodyPr wrap="square" rtlCol="0" anchor="t"/>
          <a:lstStyle/>
          <a:p>
            <a:pPr rtl="1" algn="r" indent="0" marL="0">
              <a:buNone/>
            </a:pPr>
            <a:r>
              <a:rPr lang="ar-EG" altLang="en-US" sz="1400" b="1" dirty="0">
                <a:solidFill>
                  <a:srgbClr val="2B2620"/>
                </a:solidFill>
              </a:rPr>
              <a:t>تنسيق التخصصات</a:t>
            </a:r>
            <a:pPr rtl="1" algn="r" indent="0" marL="0">
              <a:buNone/>
            </a:pPr>
            <a:r>
              <a:rPr lang="ar-EG" altLang="en-US" sz="1400" dirty="0">
                <a:solidFill>
                  <a:srgbClr val="2B2620"/>
                </a:solidFill>
              </a:rPr>
              <a:t>: معماري وإنشائي وMEP في نماذج مرتبطة.</a:t>
            </a:r>
            <a:endParaRPr lang="en-US" sz="1400" dirty="0"/>
          </a:p>
        </p:txBody>
      </p:sp>
      <p:sp>
        <p:nvSpPr>
          <p:cNvPr id="11" name="card2"/>
          <p:cNvSpPr/>
          <p:nvPr/>
        </p:nvSpPr>
        <p:spPr>
          <a:xfrm>
            <a:off x="548640" y="1371600"/>
            <a:ext cx="351525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3423818" y="1554480"/>
            <a:ext cx="457200" cy="457200"/>
          </a:xfrm>
          <a:prstGeom prst="ellipse">
            <a:avLst/>
          </a:prstGeom>
          <a:solidFill>
            <a:schemeClr val="accent2"/>
          </a:solidFill>
          <a:ln/>
        </p:spPr>
      </p:sp>
      <p:sp>
        <p:nvSpPr>
          <p:cNvPr id="13" name="Text 11"/>
          <p:cNvSpPr txBox="1"/>
          <p:nvPr/>
        </p:nvSpPr>
        <p:spPr>
          <a:xfrm>
            <a:off x="342381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731520" y="2103120"/>
            <a:ext cx="3149498" cy="914400"/>
          </a:xfrm>
          <a:prstGeom prst="rect">
            <a:avLst/>
          </a:prstGeom>
          <a:noFill/>
          <a:ln/>
        </p:spPr>
        <p:txBody>
          <a:bodyPr wrap="square" rtlCol="0" anchor="t"/>
          <a:lstStyle/>
          <a:p>
            <a:pPr rtl="1" algn="r" indent="0" marL="0">
              <a:buNone/>
            </a:pPr>
            <a:r>
              <a:rPr lang="ar-EG" altLang="en-US" sz="1400" b="1" dirty="0">
                <a:solidFill>
                  <a:srgbClr val="2B2620"/>
                </a:solidFill>
              </a:rPr>
              <a:t>اللوحات والجداول</a:t>
            </a:r>
            <a:pPr rtl="1" algn="r" indent="0" marL="0">
              <a:buNone/>
            </a:pPr>
            <a:r>
              <a:rPr lang="ar-EG" altLang="en-US" sz="1400" dirty="0">
                <a:solidFill>
                  <a:srgbClr val="2B2620"/>
                </a:solidFill>
              </a:rPr>
              <a:t> بتطلع من النموذج تلقائياً (أبواب، شبابيك، تشطيبات، غرف).</a:t>
            </a:r>
            <a:endParaRPr lang="en-US" sz="1400" dirty="0"/>
          </a:p>
        </p:txBody>
      </p:sp>
      <p:sp>
        <p:nvSpPr>
          <p:cNvPr id="15" name="card3"/>
          <p:cNvSpPr/>
          <p:nvPr/>
        </p:nvSpPr>
        <p:spPr>
          <a:xfrm>
            <a:off x="8127797" y="3383280"/>
            <a:ext cx="351525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11002975" y="3566160"/>
            <a:ext cx="457200" cy="457200"/>
          </a:xfrm>
          <a:prstGeom prst="ellipse">
            <a:avLst/>
          </a:prstGeom>
          <a:solidFill>
            <a:schemeClr val="accent2"/>
          </a:solidFill>
          <a:ln/>
        </p:spPr>
      </p:sp>
      <p:sp>
        <p:nvSpPr>
          <p:cNvPr id="17" name="Text 15"/>
          <p:cNvSpPr txBox="1"/>
          <p:nvPr/>
        </p:nvSpPr>
        <p:spPr>
          <a:xfrm>
            <a:off x="11002975"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8310677" y="4114800"/>
            <a:ext cx="3149498" cy="914400"/>
          </a:xfrm>
          <a:prstGeom prst="rect">
            <a:avLst/>
          </a:prstGeom>
          <a:noFill/>
          <a:ln/>
        </p:spPr>
        <p:txBody>
          <a:bodyPr wrap="square" rtlCol="0" anchor="t"/>
          <a:lstStyle/>
          <a:p>
            <a:pPr rtl="1" algn="r" indent="0" marL="0">
              <a:buNone/>
            </a:pPr>
            <a:r>
              <a:rPr lang="ar-EG" altLang="en-US" sz="1400" b="1" dirty="0">
                <a:solidFill>
                  <a:srgbClr val="2B2620"/>
                </a:solidFill>
              </a:rPr>
              <a:t>المكتبات والقوالب (Templates)</a:t>
            </a:r>
            <a:pPr rtl="1" algn="r" indent="0" marL="0">
              <a:buNone/>
            </a:pPr>
            <a:r>
              <a:rPr lang="ar-EG" altLang="en-US" sz="1400" dirty="0">
                <a:solidFill>
                  <a:srgbClr val="2B2620"/>
                </a:solidFill>
              </a:rPr>
              <a:t>: أساس سرعة المكتب وجودته.</a:t>
            </a:r>
            <a:endParaRPr lang="en-US" sz="1400" dirty="0"/>
          </a:p>
        </p:txBody>
      </p:sp>
      <p:sp>
        <p:nvSpPr>
          <p:cNvPr id="19" name="card4"/>
          <p:cNvSpPr/>
          <p:nvPr/>
        </p:nvSpPr>
        <p:spPr>
          <a:xfrm>
            <a:off x="4338218" y="3383280"/>
            <a:ext cx="3515258" cy="1737360"/>
          </a:xfrm>
          <a:prstGeom prst="roundRect">
            <a:avLst>
              <a:gd name="adj" fmla="val 6316"/>
            </a:avLst>
          </a:prstGeom>
          <a:solidFill>
            <a:srgbClr val="F7F2E8"/>
          </a:solidFill>
          <a:ln w="9525">
            <a:solidFill>
              <a:srgbClr val="E6DFD1"/>
            </a:solidFill>
            <a:prstDash val="solid"/>
          </a:ln>
        </p:spPr>
      </p:sp>
      <p:sp>
        <p:nvSpPr>
          <p:cNvPr id="20" name="card-dot4"/>
          <p:cNvSpPr/>
          <p:nvPr/>
        </p:nvSpPr>
        <p:spPr>
          <a:xfrm>
            <a:off x="7213397" y="3566160"/>
            <a:ext cx="457200" cy="457200"/>
          </a:xfrm>
          <a:prstGeom prst="ellipse">
            <a:avLst/>
          </a:prstGeom>
          <a:solidFill>
            <a:schemeClr val="accent2"/>
          </a:solidFill>
          <a:ln/>
        </p:spPr>
      </p:sp>
      <p:sp>
        <p:nvSpPr>
          <p:cNvPr id="21" name="Text 19"/>
          <p:cNvSpPr txBox="1"/>
          <p:nvPr/>
        </p:nvSpPr>
        <p:spPr>
          <a:xfrm>
            <a:off x="7213397"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2" name="Text 20"/>
          <p:cNvSpPr txBox="1"/>
          <p:nvPr/>
        </p:nvSpPr>
        <p:spPr>
          <a:xfrm>
            <a:off x="4521098" y="4114800"/>
            <a:ext cx="3149498" cy="914400"/>
          </a:xfrm>
          <a:prstGeom prst="rect">
            <a:avLst/>
          </a:prstGeom>
          <a:noFill/>
          <a:ln/>
        </p:spPr>
        <p:txBody>
          <a:bodyPr wrap="square" rtlCol="0" anchor="t"/>
          <a:lstStyle/>
          <a:p>
            <a:pPr rtl="1" algn="r" indent="0" marL="0">
              <a:buNone/>
            </a:pPr>
            <a:r>
              <a:rPr lang="ar-EG" altLang="en-US" sz="1400" dirty="0">
                <a:solidFill>
                  <a:srgbClr val="2B2620"/>
                </a:solidFill>
              </a:rPr>
              <a:t>ابني </a:t>
            </a:r>
            <a:pPr rtl="1" algn="r" indent="0" marL="0">
              <a:buNone/>
            </a:pPr>
            <a:r>
              <a:rPr lang="ar-EG" altLang="en-US" sz="1400" b="1" dirty="0">
                <a:solidFill>
                  <a:srgbClr val="2B2620"/>
                </a:solidFill>
              </a:rPr>
              <a:t>قالب مكتب</a:t>
            </a:r>
            <a:pPr rtl="1" algn="r" indent="0" marL="0">
              <a:buNone/>
            </a:pPr>
            <a:r>
              <a:rPr lang="ar-EG" altLang="en-US" sz="1400" dirty="0">
                <a:solidFill>
                  <a:srgbClr val="2B2620"/>
                </a:solidFill>
              </a:rPr>
              <a:t> فيه أنواع الحوائط والأرضيات والأسقف وأنماط الخطوط والجداول.</a:t>
            </a:r>
            <a:endParaRPr lang="en-US" sz="1400" dirty="0"/>
          </a:p>
        </p:txBody>
      </p:sp>
      <p:sp>
        <p:nvSpPr>
          <p:cNvPr id="23" name="card5"/>
          <p:cNvSpPr/>
          <p:nvPr/>
        </p:nvSpPr>
        <p:spPr>
          <a:xfrm>
            <a:off x="548640" y="3383280"/>
            <a:ext cx="3515258" cy="1737360"/>
          </a:xfrm>
          <a:prstGeom prst="roundRect">
            <a:avLst>
              <a:gd name="adj" fmla="val 6316"/>
            </a:avLst>
          </a:prstGeom>
          <a:solidFill>
            <a:srgbClr val="F7F2E8"/>
          </a:solidFill>
          <a:ln w="9525">
            <a:solidFill>
              <a:srgbClr val="E6DFD1"/>
            </a:solidFill>
            <a:prstDash val="solid"/>
          </a:ln>
        </p:spPr>
      </p:sp>
      <p:sp>
        <p:nvSpPr>
          <p:cNvPr id="24" name="card-dot5"/>
          <p:cNvSpPr/>
          <p:nvPr/>
        </p:nvSpPr>
        <p:spPr>
          <a:xfrm>
            <a:off x="3423818" y="3566160"/>
            <a:ext cx="457200" cy="457200"/>
          </a:xfrm>
          <a:prstGeom prst="ellipse">
            <a:avLst/>
          </a:prstGeom>
          <a:solidFill>
            <a:schemeClr val="accent2"/>
          </a:solidFill>
          <a:ln/>
        </p:spPr>
      </p:sp>
      <p:sp>
        <p:nvSpPr>
          <p:cNvPr id="25" name="Text 23"/>
          <p:cNvSpPr txBox="1"/>
          <p:nvPr/>
        </p:nvSpPr>
        <p:spPr>
          <a:xfrm>
            <a:off x="342381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6" name="Text 24"/>
          <p:cNvSpPr txBox="1"/>
          <p:nvPr/>
        </p:nvSpPr>
        <p:spPr>
          <a:xfrm>
            <a:off x="731520" y="4114800"/>
            <a:ext cx="3149498" cy="914400"/>
          </a:xfrm>
          <a:prstGeom prst="rect">
            <a:avLst/>
          </a:prstGeom>
          <a:noFill/>
          <a:ln/>
        </p:spPr>
        <p:txBody>
          <a:bodyPr wrap="square" rtlCol="0" anchor="t"/>
          <a:lstStyle/>
          <a:p>
            <a:pPr rtl="1" algn="r" indent="0" marL="0">
              <a:buNone/>
            </a:pPr>
            <a:r>
              <a:rPr lang="ar-EG" altLang="en-US" sz="1400" dirty="0">
                <a:solidFill>
                  <a:srgbClr val="2B2620"/>
                </a:solidFill>
              </a:rPr>
              <a:t>اعمل </a:t>
            </a:r>
            <a:pPr rtl="1" algn="r" indent="0" marL="0">
              <a:buNone/>
            </a:pPr>
            <a:r>
              <a:rPr lang="ar-EG" altLang="en-US" sz="1400" b="1" dirty="0">
                <a:solidFill>
                  <a:srgbClr val="2B2620"/>
                </a:solidFill>
              </a:rPr>
              <a:t>مكتبة عائلات</a:t>
            </a:r>
            <a:pPr rtl="1" algn="r" indent="0" marL="0">
              <a:buNone/>
            </a:pPr>
            <a:r>
              <a:rPr lang="ar-EG" altLang="en-US" sz="1400" dirty="0">
                <a:solidFill>
                  <a:srgbClr val="2B2620"/>
                </a:solidFill>
              </a:rPr>
              <a:t> معتمدة بدل ما كل واحد يعمل عائلته.</a:t>
            </a:r>
            <a:endParaRPr lang="en-US" sz="14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BIM للمقاول</a:t>
            </a:r>
            <a:endParaRPr lang="ar-EG" sz="3000" dirty="0"/>
          </a:p>
        </p:txBody>
      </p:sp>
      <p:sp>
        <p:nvSpPr>
          <p:cNvPr id="3" name="figure-frame"/>
          <p:cNvSpPr/>
          <p:nvPr/>
        </p:nvSpPr>
        <p:spPr>
          <a:xfrm>
            <a:off x="457200" y="1325880"/>
            <a:ext cx="5669280" cy="2068830"/>
          </a:xfrm>
          <a:prstGeom prst="roundRect">
            <a:avLst>
              <a:gd name="adj" fmla="val 4420"/>
            </a:avLst>
          </a:prstGeom>
          <a:solidFill>
            <a:srgbClr val="FFFFFF"/>
          </a:solidFill>
          <a:ln w="12700">
            <a:solidFill>
              <a:srgbClr val="E6DFD1"/>
            </a:solidFill>
            <a:prstDash val="solid"/>
          </a:ln>
          <a:effectLst>
            <a:outerShdw sx="100000" sy="100000" kx="0" ky="0" algn="bl" rotWithShape="0" blurRad="76200" dist="25400" dir="5400000">
              <a:srgbClr val="000000">
                <a:alpha val="12000"/>
              </a:srgbClr>
            </a:outerShdw>
          </a:effectLst>
        </p:spPr>
      </p:sp>
      <p:pic>
        <p:nvPicPr>
          <p:cNvPr id="4" name="figure" descr="preencoded.png">    </p:cNvPr>
          <p:cNvPicPr>
            <a:picLocks noChangeAspect="1"/>
          </p:cNvPicPr>
          <p:nvPr/>
        </p:nvPicPr>
        <p:blipFill>
          <a:blip r:embed="rId1"/>
          <a:stretch>
            <a:fillRect/>
          </a:stretch>
        </p:blipFill>
        <p:spPr>
          <a:xfrm>
            <a:off x="548640" y="1417320"/>
            <a:ext cx="5486400" cy="1885950"/>
          </a:xfrm>
          <a:prstGeom prst="rect">
            <a:avLst/>
          </a:prstGeom>
        </p:spPr>
      </p:pic>
      <p:sp>
        <p:nvSpPr>
          <p:cNvPr id="5" name="Text 2"/>
          <p:cNvSpPr txBox="1"/>
          <p:nvPr/>
        </p:nvSpPr>
        <p:spPr>
          <a:xfrm>
            <a:off x="548640" y="3440430"/>
            <a:ext cx="5486400" cy="365760"/>
          </a:xfrm>
          <a:prstGeom prst="rect">
            <a:avLst/>
          </a:prstGeom>
          <a:noFill/>
          <a:ln/>
        </p:spPr>
        <p:txBody>
          <a:bodyPr wrap="square" rtlCol="0" anchor="ctr"/>
          <a:lstStyle/>
          <a:p>
            <a:pPr rtl="1" algn="ctr" indent="0" marL="0">
              <a:buNone/>
            </a:pPr>
            <a:r>
              <a:rPr lang="ar-EG" altLang="en-US" sz="1100" i="1" dirty="0">
                <a:solidFill>
                  <a:srgbClr val="6B6152"/>
                </a:solidFill>
              </a:rPr>
              <a:t>أبعاد BIM من 3D إلى 6D</a:t>
            </a:r>
            <a:endParaRPr lang="ar-EG" sz="1100" dirty="0"/>
          </a:p>
        </p:txBody>
      </p:sp>
      <p:sp>
        <p:nvSpPr>
          <p:cNvPr id="6" name="Text 3"/>
          <p:cNvSpPr txBox="1"/>
          <p:nvPr/>
        </p:nvSpPr>
        <p:spPr>
          <a:xfrm>
            <a:off x="6430975" y="1325880"/>
            <a:ext cx="5212080" cy="4480560"/>
          </a:xfrm>
          <a:prstGeom prst="rect">
            <a:avLst/>
          </a:prstGeom>
          <a:noFill/>
          <a:ln/>
        </p:spPr>
        <p:txBody>
          <a:bodyPr wrap="square" rtlCol="0" anchor="t"/>
          <a:lstStyle/>
          <a:p>
            <a:pPr rtl="1" algn="r" marL="342900" indent="-342900">
              <a:spcAft>
                <a:spcPts val="800"/>
              </a:spcAft>
              <a:buSzPct val="100000"/>
              <a:buChar char="•"/>
            </a:pPr>
            <a:r>
              <a:rPr lang="ar-EG" altLang="en-US" sz="1500" b="1" dirty="0">
                <a:solidFill>
                  <a:srgbClr val="2B2620"/>
                </a:solidFill>
              </a:rPr>
              <a:t>الحصر</a:t>
            </a:r>
            <a:pPr rtl="1" algn="r" marL="342900" indent="-342900">
              <a:spcAft>
                <a:spcPts val="800"/>
              </a:spcAft>
              <a:buSzPct val="100000"/>
              <a:buChar char="•"/>
            </a:pPr>
            <a:r>
              <a:rPr lang="ar-EG" altLang="en-US" sz="1500" dirty="0">
                <a:solidFill>
                  <a:srgbClr val="2B2620"/>
                </a:solidFill>
              </a:rPr>
              <a:t> من النموذج (كميات الخرسانة والطوب والبلاط والدهانات).</a:t>
            </a:r>
            <a:endParaRPr lang="en-US" sz="1500" dirty="0"/>
          </a:p>
          <a:p>
            <a:pPr rtl="1" algn="r" marL="342900" indent="-342900">
              <a:spcAft>
                <a:spcPts val="800"/>
              </a:spcAft>
              <a:buSzPct val="100000"/>
              <a:buChar char="•"/>
            </a:pPr>
            <a:r>
              <a:rPr lang="ar-EG" altLang="en-US" sz="1500" b="1" dirty="0">
                <a:solidFill>
                  <a:srgbClr val="2B2620"/>
                </a:solidFill>
              </a:rPr>
              <a:t>4D</a:t>
            </a:r>
            <a:pPr rtl="1" algn="r" marL="342900" indent="-342900">
              <a:spcAft>
                <a:spcPts val="800"/>
              </a:spcAft>
              <a:buSzPct val="100000"/>
              <a:buChar char="•"/>
            </a:pPr>
            <a:r>
              <a:rPr lang="ar-EG" altLang="en-US" sz="1500" dirty="0">
                <a:solidFill>
                  <a:srgbClr val="2B2620"/>
                </a:solidFill>
              </a:rPr>
              <a:t>: ربط العناصر بالبرنامج الزمني ومحاكاة مراحل التنفيذ.</a:t>
            </a:r>
            <a:endParaRPr lang="en-US" sz="1500" dirty="0"/>
          </a:p>
          <a:p>
            <a:pPr rtl="1" algn="r" marL="342900" indent="-342900">
              <a:spcAft>
                <a:spcPts val="800"/>
              </a:spcAft>
              <a:buSzPct val="100000"/>
              <a:buChar char="•"/>
            </a:pPr>
            <a:r>
              <a:rPr lang="ar-EG" altLang="en-US" sz="1500" b="1" dirty="0">
                <a:solidFill>
                  <a:srgbClr val="2B2620"/>
                </a:solidFill>
              </a:rPr>
              <a:t>5D</a:t>
            </a:r>
            <a:pPr rtl="1" algn="r" marL="342900" indent="-342900">
              <a:spcAft>
                <a:spcPts val="800"/>
              </a:spcAft>
              <a:buSzPct val="100000"/>
              <a:buChar char="•"/>
            </a:pPr>
            <a:r>
              <a:rPr lang="ar-EG" altLang="en-US" sz="1500" dirty="0">
                <a:solidFill>
                  <a:srgbClr val="2B2620"/>
                </a:solidFill>
              </a:rPr>
              <a:t>: ربط الكميات بالأسعار وتحديث التكلفة مع كل تعديل.</a:t>
            </a:r>
            <a:endParaRPr lang="en-US" sz="1500" dirty="0"/>
          </a:p>
          <a:p>
            <a:pPr rtl="1" algn="r" marL="342900" indent="-342900">
              <a:spcAft>
                <a:spcPts val="800"/>
              </a:spcAft>
              <a:buSzPct val="100000"/>
              <a:buChar char="•"/>
            </a:pPr>
            <a:r>
              <a:rPr lang="ar-EG" altLang="en-US" sz="1500" b="1" dirty="0">
                <a:solidFill>
                  <a:srgbClr val="2B2620"/>
                </a:solidFill>
              </a:rPr>
              <a:t>التخطيط للموقع</a:t>
            </a:r>
            <a:pPr rtl="1" algn="r" marL="342900" indent="-342900">
              <a:spcAft>
                <a:spcPts val="800"/>
              </a:spcAft>
              <a:buSzPct val="100000"/>
              <a:buChar char="•"/>
            </a:pPr>
            <a:r>
              <a:rPr lang="ar-EG" altLang="en-US" sz="1500" dirty="0">
                <a:solidFill>
                  <a:srgbClr val="2B2620"/>
                </a:solidFill>
              </a:rPr>
              <a:t>: الأوناش، مسارات العربيات، أماكن التشوين.</a:t>
            </a:r>
            <a:endParaRPr lang="en-US" sz="1500" dirty="0"/>
          </a:p>
          <a:p>
            <a:pPr rtl="1" algn="r" marL="342900" indent="-342900">
              <a:spcAft>
                <a:spcPts val="800"/>
              </a:spcAft>
              <a:buSzPct val="100000"/>
              <a:buChar char="•"/>
            </a:pPr>
            <a:r>
              <a:rPr lang="ar-EG" altLang="en-US" sz="1500" b="1" dirty="0">
                <a:solidFill>
                  <a:srgbClr val="2B2620"/>
                </a:solidFill>
              </a:rPr>
              <a:t>رسومات الورشة</a:t>
            </a:r>
            <a:pPr rtl="1" algn="r" marL="342900" indent="-342900">
              <a:spcAft>
                <a:spcPts val="800"/>
              </a:spcAft>
              <a:buSzPct val="100000"/>
              <a:buChar char="•"/>
            </a:pPr>
            <a:r>
              <a:rPr lang="ar-EG" altLang="en-US" sz="1500" dirty="0">
                <a:solidFill>
                  <a:srgbClr val="2B2620"/>
                </a:solidFill>
              </a:rPr>
              <a:t> من النموذج مباشرة.</a:t>
            </a:r>
            <a:endParaRPr lang="en-US" sz="15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BIM للمصنّعين والموردين</a:t>
            </a:r>
            <a:endParaRPr lang="ar-EG" sz="3000" dirty="0"/>
          </a:p>
        </p:txBody>
      </p:sp>
      <p:sp>
        <p:nvSpPr>
          <p:cNvPr id="3" name="card0"/>
          <p:cNvSpPr/>
          <p:nvPr/>
        </p:nvSpPr>
        <p:spPr>
          <a:xfrm>
            <a:off x="6233008" y="1371600"/>
            <a:ext cx="541004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11002975" y="1554480"/>
            <a:ext cx="457200" cy="457200"/>
          </a:xfrm>
          <a:prstGeom prst="ellipse">
            <a:avLst/>
          </a:prstGeom>
          <a:solidFill>
            <a:schemeClr val="accent2"/>
          </a:solidFill>
          <a:ln/>
        </p:spPr>
      </p:sp>
      <p:sp>
        <p:nvSpPr>
          <p:cNvPr id="5" name="Text 3"/>
          <p:cNvSpPr txBox="1"/>
          <p:nvPr/>
        </p:nvSpPr>
        <p:spPr>
          <a:xfrm>
            <a:off x="11002975"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6415888" y="2103120"/>
            <a:ext cx="5044288" cy="914400"/>
          </a:xfrm>
          <a:prstGeom prst="rect">
            <a:avLst/>
          </a:prstGeom>
          <a:noFill/>
          <a:ln/>
        </p:spPr>
        <p:txBody>
          <a:bodyPr wrap="square" rtlCol="0" anchor="t"/>
          <a:lstStyle/>
          <a:p>
            <a:pPr rtl="1" algn="r" indent="0" marL="0">
              <a:buNone/>
            </a:pPr>
            <a:r>
              <a:rPr lang="ar-EG" altLang="en-US" sz="1400" dirty="0">
                <a:solidFill>
                  <a:srgbClr val="2B2620"/>
                </a:solidFill>
              </a:rPr>
              <a:t>الحديد الإنشائي، الواجهات، الدكت، والأثاث المدمج بيتصنعوا </a:t>
            </a:r>
            <a:pPr rtl="1" algn="r" indent="0" marL="0">
              <a:buNone/>
            </a:pPr>
            <a:r>
              <a:rPr lang="ar-EG" altLang="en-US" sz="1400" b="1" dirty="0">
                <a:solidFill>
                  <a:srgbClr val="2B2620"/>
                </a:solidFill>
              </a:rPr>
              <a:t>مباشرة من النموذج</a:t>
            </a:r>
            <a:pPr rtl="1" algn="r" indent="0" marL="0">
              <a:buNone/>
            </a:pPr>
            <a:r>
              <a:rPr lang="ar-EG" altLang="en-US" sz="1400" dirty="0">
                <a:solidFill>
                  <a:srgbClr val="2B2620"/>
                </a:solidFill>
              </a:rPr>
              <a:t> (CNC والقص الآلي).</a:t>
            </a:r>
            <a:endParaRPr lang="en-US" sz="1400" dirty="0"/>
          </a:p>
        </p:txBody>
      </p:sp>
      <p:sp>
        <p:nvSpPr>
          <p:cNvPr id="7" name="card1"/>
          <p:cNvSpPr/>
          <p:nvPr/>
        </p:nvSpPr>
        <p:spPr>
          <a:xfrm>
            <a:off x="548640" y="1371600"/>
            <a:ext cx="541004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5318608" y="1554480"/>
            <a:ext cx="457200" cy="457200"/>
          </a:xfrm>
          <a:prstGeom prst="ellipse">
            <a:avLst/>
          </a:prstGeom>
          <a:solidFill>
            <a:schemeClr val="accent2"/>
          </a:solidFill>
          <a:ln/>
        </p:spPr>
      </p:sp>
      <p:sp>
        <p:nvSpPr>
          <p:cNvPr id="9" name="Text 7"/>
          <p:cNvSpPr txBox="1"/>
          <p:nvPr/>
        </p:nvSpPr>
        <p:spPr>
          <a:xfrm>
            <a:off x="531860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731520" y="2103120"/>
            <a:ext cx="5044288" cy="914400"/>
          </a:xfrm>
          <a:prstGeom prst="rect">
            <a:avLst/>
          </a:prstGeom>
          <a:noFill/>
          <a:ln/>
        </p:spPr>
        <p:txBody>
          <a:bodyPr wrap="square" rtlCol="0" anchor="t"/>
          <a:lstStyle/>
          <a:p>
            <a:pPr rtl="1" algn="r" indent="0" marL="0">
              <a:buNone/>
            </a:pPr>
            <a:r>
              <a:rPr lang="ar-EG" altLang="en-US" sz="1400" dirty="0">
                <a:solidFill>
                  <a:srgbClr val="2B2620"/>
                </a:solidFill>
              </a:rPr>
              <a:t>دقة أعلى، هالك أقل، وتركيب أسرع في الموقع.</a:t>
            </a:r>
            <a:endParaRPr lang="en-US" sz="1400" dirty="0"/>
          </a:p>
        </p:txBody>
      </p:sp>
      <p:sp>
        <p:nvSpPr>
          <p:cNvPr id="11" name="card2"/>
          <p:cNvSpPr/>
          <p:nvPr/>
        </p:nvSpPr>
        <p:spPr>
          <a:xfrm>
            <a:off x="6233008" y="3383280"/>
            <a:ext cx="541004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11002975" y="3566160"/>
            <a:ext cx="457200" cy="457200"/>
          </a:xfrm>
          <a:prstGeom prst="ellipse">
            <a:avLst/>
          </a:prstGeom>
          <a:solidFill>
            <a:schemeClr val="accent2"/>
          </a:solidFill>
          <a:ln/>
        </p:spPr>
      </p:sp>
      <p:sp>
        <p:nvSpPr>
          <p:cNvPr id="13" name="Text 11"/>
          <p:cNvSpPr txBox="1"/>
          <p:nvPr/>
        </p:nvSpPr>
        <p:spPr>
          <a:xfrm>
            <a:off x="11002975"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6415888" y="4114800"/>
            <a:ext cx="5044288" cy="914400"/>
          </a:xfrm>
          <a:prstGeom prst="rect">
            <a:avLst/>
          </a:prstGeom>
          <a:noFill/>
          <a:ln/>
        </p:spPr>
        <p:txBody>
          <a:bodyPr wrap="square" rtlCol="0" anchor="t"/>
          <a:lstStyle/>
          <a:p>
            <a:pPr rtl="1" algn="r" indent="0" marL="0">
              <a:buNone/>
            </a:pPr>
            <a:r>
              <a:rPr lang="ar-EG" altLang="en-US" sz="1400" b="1" dirty="0">
                <a:solidFill>
                  <a:srgbClr val="2B2620"/>
                </a:solidFill>
              </a:rPr>
              <a:t>التصنيع المسبق (Prefabrication)</a:t>
            </a:r>
            <a:pPr rtl="1" algn="r" indent="0" marL="0">
              <a:buNone/>
            </a:pPr>
            <a:r>
              <a:rPr lang="ar-EG" altLang="en-US" sz="1400" dirty="0">
                <a:solidFill>
                  <a:srgbClr val="2B2620"/>
                </a:solidFill>
              </a:rPr>
              <a:t> والوحدات الجاهزة بقت أسهل مع BIM.</a:t>
            </a:r>
            <a:endParaRPr lang="en-US" sz="14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مستويات التطوير LOD</a:t>
            </a:r>
            <a:endParaRPr lang="ar-EG" sz="30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384048">
                <a:tc>
                  <a:txBody>
                    <a:bodyPr/>
                    <a:lstStyle/>
                    <a:p>
                      <a:pPr rtl="1" algn="r" indent="0" marL="0">
                        <a:buNone/>
                      </a:pPr>
                      <a:r>
                        <a:rPr lang="ar-EG" altLang="en-US" sz="1300" b="1" dirty="0">
                          <a:solidFill>
                            <a:srgbClr val="FFFFFF"/>
                          </a:solidFill>
                        </a:rPr>
                        <a:t>الاستخدام</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rtl="1" algn="r" indent="0" marL="0">
                        <a:buNone/>
                      </a:pPr>
                      <a:r>
                        <a:rPr lang="ar-EG" altLang="en-US" sz="1300" b="1" dirty="0">
                          <a:solidFill>
                            <a:srgbClr val="FFFFFF"/>
                          </a:solidFill>
                        </a:rPr>
                        <a:t>المعنى</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rtl="1" algn="r" indent="0" marL="0">
                        <a:buNone/>
                      </a:pPr>
                      <a:r>
                        <a:rPr lang="ar-EG" altLang="en-US" sz="1300" b="1" dirty="0">
                          <a:solidFill>
                            <a:srgbClr val="FFFFFF"/>
                          </a:solidFill>
                        </a:rPr>
                        <a:t>LOD</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r>
              <a:tr h="384048">
                <a:tc>
                  <a:txBody>
                    <a:bodyPr/>
                    <a:lstStyle/>
                    <a:p>
                      <a:pPr rtl="1" algn="r" indent="0" marL="0">
                        <a:buNone/>
                      </a:pPr>
                      <a:r>
                        <a:rPr lang="ar-EG" altLang="en-US" sz="1300" dirty="0">
                          <a:solidFill>
                            <a:srgbClr val="2B2620"/>
                          </a:solidFill>
                        </a:rPr>
                        <a:t>دراسات المساحة والتكلفة المبدئية</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كتلة أو رمز</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100</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rtl="1" algn="r" indent="0" marL="0">
                        <a:buNone/>
                      </a:pPr>
                      <a:r>
                        <a:rPr lang="ar-EG" altLang="en-US" sz="1300" dirty="0">
                          <a:solidFill>
                            <a:srgbClr val="2B2620"/>
                          </a:solidFill>
                        </a:rPr>
                        <a:t>التصميم المبدئي</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عنصر عام بمقاس وشكل تقريبي</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200</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rtl="1" algn="r" indent="0" marL="0">
                        <a:buNone/>
                      </a:pPr>
                      <a:r>
                        <a:rPr lang="ar-EG" altLang="en-US" sz="1300" dirty="0">
                          <a:solidFill>
                            <a:srgbClr val="2B2620"/>
                          </a:solidFill>
                        </a:rPr>
                        <a:t>التصميم النهائي ولوحات المناقصة</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مقاس ومكان وشكل دقيق</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300</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rtl="1" algn="r" indent="0" marL="0">
                        <a:buNone/>
                      </a:pPr>
                      <a:r>
                        <a:rPr lang="ar-EG" altLang="en-US" sz="1300" dirty="0">
                          <a:solidFill>
                            <a:srgbClr val="2B2620"/>
                          </a:solidFill>
                        </a:rPr>
                        <a:t>التنسيق بين التخصصات</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 الوصلات مع العناصر التانية</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350</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rtl="1" algn="r" indent="0" marL="0">
                        <a:buNone/>
                      </a:pPr>
                      <a:r>
                        <a:rPr lang="ar-EG" altLang="en-US" sz="1300" dirty="0">
                          <a:solidFill>
                            <a:srgbClr val="2B2620"/>
                          </a:solidFill>
                        </a:rPr>
                        <a:t>رسومات الورشة</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تفاصيل التصنيع والتركيب</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rtl="1" algn="r" indent="0" marL="0">
                        <a:buNone/>
                      </a:pPr>
                      <a:r>
                        <a:rPr lang="ar-EG" altLang="en-US" sz="1300" dirty="0">
                          <a:solidFill>
                            <a:srgbClr val="2B2620"/>
                          </a:solidFill>
                        </a:rPr>
                        <a:t>400</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rtl="1" algn="r" indent="0" marL="0">
                        <a:buNone/>
                      </a:pPr>
                      <a:r>
                        <a:rPr lang="ar-EG" altLang="en-US" sz="1300" dirty="0">
                          <a:solidFill>
                            <a:srgbClr val="2B2620"/>
                          </a:solidFill>
                        </a:rPr>
                        <a:t>التشغيل والصيانة</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كما نُفّذ (As-Built) ومراجع في الموقع</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rtl="1" algn="r" indent="0" marL="0">
                        <a:buNone/>
                      </a:pPr>
                      <a:r>
                        <a:rPr lang="ar-EG" altLang="en-US" sz="1300" dirty="0">
                          <a:solidFill>
                            <a:srgbClr val="2B2620"/>
                          </a:solidFill>
                        </a:rPr>
                        <a:t>500</a:t>
                      </a:r>
                      <a:endParaRPr lang="ar-EG"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bl>
          </a:graphicData>
        </a:graphic>
      </p:graphicFrame>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كشف التعارضات والتنسيق</a:t>
            </a:r>
            <a:endParaRPr lang="ar-EG" sz="3000" dirty="0"/>
          </a:p>
        </p:txBody>
      </p:sp>
      <p:sp>
        <p:nvSpPr>
          <p:cNvPr id="3" name="figure-frame"/>
          <p:cNvSpPr/>
          <p:nvPr/>
        </p:nvSpPr>
        <p:spPr>
          <a:xfrm>
            <a:off x="457200" y="1325880"/>
            <a:ext cx="5669280" cy="2730137"/>
          </a:xfrm>
          <a:prstGeom prst="roundRect">
            <a:avLst>
              <a:gd name="adj" fmla="val 3349"/>
            </a:avLst>
          </a:prstGeom>
          <a:solidFill>
            <a:srgbClr val="FFFFFF"/>
          </a:solidFill>
          <a:ln w="12700">
            <a:solidFill>
              <a:srgbClr val="E6DFD1"/>
            </a:solidFill>
            <a:prstDash val="solid"/>
          </a:ln>
          <a:effectLst>
            <a:outerShdw sx="100000" sy="100000" kx="0" ky="0" algn="bl" rotWithShape="0" blurRad="76200" dist="25400" dir="5400000">
              <a:srgbClr val="000000">
                <a:alpha val="12000"/>
              </a:srgbClr>
            </a:outerShdw>
          </a:effectLst>
        </p:spPr>
      </p:sp>
      <p:pic>
        <p:nvPicPr>
          <p:cNvPr id="4" name="figure" descr="preencoded.png">    </p:cNvPr>
          <p:cNvPicPr>
            <a:picLocks noChangeAspect="1"/>
          </p:cNvPicPr>
          <p:nvPr/>
        </p:nvPicPr>
        <p:blipFill>
          <a:blip r:embed="rId1"/>
          <a:stretch>
            <a:fillRect/>
          </a:stretch>
        </p:blipFill>
        <p:spPr>
          <a:xfrm>
            <a:off x="548640" y="1417320"/>
            <a:ext cx="5486400" cy="2547257"/>
          </a:xfrm>
          <a:prstGeom prst="rect">
            <a:avLst/>
          </a:prstGeom>
        </p:spPr>
      </p:pic>
      <p:sp>
        <p:nvSpPr>
          <p:cNvPr id="5" name="Text 2"/>
          <p:cNvSpPr txBox="1"/>
          <p:nvPr/>
        </p:nvSpPr>
        <p:spPr>
          <a:xfrm>
            <a:off x="548640" y="4101737"/>
            <a:ext cx="5486400" cy="365760"/>
          </a:xfrm>
          <a:prstGeom prst="rect">
            <a:avLst/>
          </a:prstGeom>
          <a:noFill/>
          <a:ln/>
        </p:spPr>
        <p:txBody>
          <a:bodyPr wrap="square" rtlCol="0" anchor="ctr"/>
          <a:lstStyle/>
          <a:p>
            <a:pPr rtl="1" algn="ctr" indent="0" marL="0">
              <a:buNone/>
            </a:pPr>
            <a:r>
              <a:rPr lang="ar-EG" altLang="en-US" sz="1100" i="1" dirty="0">
                <a:solidFill>
                  <a:srgbClr val="6B6152"/>
                </a:solidFill>
              </a:rPr>
              <a:t>تعارض صلب بين دكت وكمرة وتقرير التنسيق</a:t>
            </a:r>
            <a:endParaRPr lang="ar-EG" sz="1100" dirty="0"/>
          </a:p>
        </p:txBody>
      </p:sp>
      <p:sp>
        <p:nvSpPr>
          <p:cNvPr id="6" name="Text 3"/>
          <p:cNvSpPr txBox="1"/>
          <p:nvPr/>
        </p:nvSpPr>
        <p:spPr>
          <a:xfrm>
            <a:off x="6430975" y="1325880"/>
            <a:ext cx="5212080" cy="4480560"/>
          </a:xfrm>
          <a:prstGeom prst="rect">
            <a:avLst/>
          </a:prstGeom>
          <a:noFill/>
          <a:ln/>
        </p:spPr>
        <p:txBody>
          <a:bodyPr wrap="square" rtlCol="0" anchor="t"/>
          <a:lstStyle/>
          <a:p>
            <a:pPr rtl="1" algn="r" marL="342900" indent="-342900">
              <a:spcAft>
                <a:spcPts val="800"/>
              </a:spcAft>
              <a:buSzPct val="100000"/>
              <a:buChar char="•"/>
            </a:pPr>
            <a:r>
              <a:rPr lang="ar-EG" altLang="en-US" sz="1500" dirty="0">
                <a:solidFill>
                  <a:srgbClr val="2B2620"/>
                </a:solidFill>
              </a:rPr>
              <a:t>جمّع نماذج التخصصات في </a:t>
            </a:r>
            <a:pPr rtl="1" algn="r" marL="342900" indent="-342900">
              <a:spcAft>
                <a:spcPts val="800"/>
              </a:spcAft>
              <a:buSzPct val="100000"/>
              <a:buChar char="•"/>
            </a:pPr>
            <a:r>
              <a:rPr lang="ar-EG" altLang="en-US" sz="1500" b="1" dirty="0">
                <a:solidFill>
                  <a:srgbClr val="2B2620"/>
                </a:solidFill>
              </a:rPr>
              <a:t>نموذج تنسيق</a:t>
            </a:r>
            <a:pPr rtl="1" algn="r" marL="342900" indent="-342900">
              <a:spcAft>
                <a:spcPts val="800"/>
              </a:spcAft>
              <a:buSzPct val="100000"/>
              <a:buChar char="•"/>
            </a:pPr>
            <a:r>
              <a:rPr lang="ar-EG" altLang="en-US" sz="1500" dirty="0">
                <a:solidFill>
                  <a:srgbClr val="2B2620"/>
                </a:solidFill>
              </a:rPr>
              <a:t> (Navisworks أو Solibri أو غيرهم).</a:t>
            </a:r>
            <a:endParaRPr lang="en-US" sz="1500" dirty="0"/>
          </a:p>
          <a:p>
            <a:pPr rtl="1" algn="r" marL="342900" indent="-342900">
              <a:spcAft>
                <a:spcPts val="800"/>
              </a:spcAft>
              <a:buSzPct val="100000"/>
              <a:buChar char="•"/>
            </a:pPr>
            <a:r>
              <a:rPr lang="ar-EG" altLang="en-US" sz="1500" dirty="0">
                <a:solidFill>
                  <a:srgbClr val="2B2620"/>
                </a:solidFill>
              </a:rPr>
              <a:t>أنواع التعارض: </a:t>
            </a:r>
            <a:pPr rtl="1" algn="r" marL="342900" indent="-342900">
              <a:spcAft>
                <a:spcPts val="800"/>
              </a:spcAft>
              <a:buSzPct val="100000"/>
              <a:buChar char="•"/>
            </a:pPr>
            <a:r>
              <a:rPr lang="ar-EG" altLang="en-US" sz="1500" b="1" dirty="0">
                <a:solidFill>
                  <a:srgbClr val="2B2620"/>
                </a:solidFill>
              </a:rPr>
              <a:t>صلب</a:t>
            </a:r>
            <a:pPr rtl="1" algn="r" marL="342900" indent="-342900">
              <a:spcAft>
                <a:spcPts val="800"/>
              </a:spcAft>
              <a:buSzPct val="100000"/>
              <a:buChar char="•"/>
            </a:pPr>
            <a:r>
              <a:rPr lang="ar-EG" altLang="en-US" sz="1500" dirty="0">
                <a:solidFill>
                  <a:srgbClr val="2B2620"/>
                </a:solidFill>
              </a:rPr>
              <a:t> (ماسورة جوه كمرة)، </a:t>
            </a:r>
            <a:pPr rtl="1" algn="r" marL="342900" indent="-342900">
              <a:spcAft>
                <a:spcPts val="800"/>
              </a:spcAft>
              <a:buSzPct val="100000"/>
              <a:buChar char="•"/>
            </a:pPr>
            <a:r>
              <a:rPr lang="ar-EG" altLang="en-US" sz="1500" b="1" dirty="0">
                <a:solidFill>
                  <a:srgbClr val="2B2620"/>
                </a:solidFill>
              </a:rPr>
              <a:t>مسافات</a:t>
            </a:r>
            <a:pPr rtl="1" algn="r" marL="342900" indent="-342900">
              <a:spcAft>
                <a:spcPts val="800"/>
              </a:spcAft>
              <a:buSzPct val="100000"/>
              <a:buChar char="•"/>
            </a:pPr>
            <a:r>
              <a:rPr lang="ar-EG" altLang="en-US" sz="1500" dirty="0">
                <a:solidFill>
                  <a:srgbClr val="2B2620"/>
                </a:solidFill>
              </a:rPr>
              <a:t> (خلوص صيانة أو عزل)، </a:t>
            </a:r>
            <a:pPr rtl="1" algn="r" marL="342900" indent="-342900">
              <a:spcAft>
                <a:spcPts val="800"/>
              </a:spcAft>
              <a:buSzPct val="100000"/>
              <a:buChar char="•"/>
            </a:pPr>
            <a:r>
              <a:rPr lang="ar-EG" altLang="en-US" sz="1500" b="1" dirty="0">
                <a:solidFill>
                  <a:srgbClr val="2B2620"/>
                </a:solidFill>
              </a:rPr>
              <a:t>زمني</a:t>
            </a:r>
            <a:pPr rtl="1" algn="r" marL="342900" indent="-342900">
              <a:spcAft>
                <a:spcPts val="800"/>
              </a:spcAft>
              <a:buSzPct val="100000"/>
              <a:buChar char="•"/>
            </a:pPr>
            <a:r>
              <a:rPr lang="ar-EG" altLang="en-US" sz="1500" dirty="0">
                <a:solidFill>
                  <a:srgbClr val="2B2620"/>
                </a:solidFill>
              </a:rPr>
              <a:t> (تسلسل تنفيذ).</a:t>
            </a:r>
            <a:endParaRPr lang="en-US" sz="1500" dirty="0"/>
          </a:p>
          <a:p>
            <a:pPr rtl="1" algn="r" marL="342900" indent="-342900">
              <a:spcAft>
                <a:spcPts val="800"/>
              </a:spcAft>
              <a:buSzPct val="100000"/>
              <a:buChar char="•"/>
            </a:pPr>
            <a:r>
              <a:rPr lang="ar-EG" altLang="en-US" sz="1500" dirty="0">
                <a:solidFill>
                  <a:srgbClr val="2B2620"/>
                </a:solidFill>
              </a:rPr>
              <a:t>اعمل </a:t>
            </a:r>
            <a:pPr rtl="1" algn="r" marL="342900" indent="-342900">
              <a:spcAft>
                <a:spcPts val="800"/>
              </a:spcAft>
              <a:buSzPct val="100000"/>
              <a:buChar char="•"/>
            </a:pPr>
            <a:r>
              <a:rPr lang="ar-EG" altLang="en-US" sz="1500" b="1" dirty="0">
                <a:solidFill>
                  <a:srgbClr val="2B2620"/>
                </a:solidFill>
              </a:rPr>
              <a:t>مصفوفة اختبارات</a:t>
            </a:r>
            <a:pPr rtl="1" algn="r" marL="342900" indent="-342900">
              <a:spcAft>
                <a:spcPts val="800"/>
              </a:spcAft>
              <a:buSzPct val="100000"/>
              <a:buChar char="•"/>
            </a:pPr>
            <a:r>
              <a:rPr lang="ar-EG" altLang="en-US" sz="1500" dirty="0">
                <a:solidFill>
                  <a:srgbClr val="2B2620"/>
                </a:solidFill>
              </a:rPr>
              <a:t>: معماري × إنشائي، إنشائي × ميكانيكا، ميكانيكا × كهرباء...</a:t>
            </a:r>
            <a:endParaRPr lang="en-US" sz="1500" dirty="0"/>
          </a:p>
          <a:p>
            <a:pPr rtl="1" algn="r" marL="342900" indent="-342900">
              <a:spcAft>
                <a:spcPts val="800"/>
              </a:spcAft>
              <a:buSzPct val="100000"/>
              <a:buChar char="•"/>
            </a:pPr>
            <a:r>
              <a:rPr lang="ar-EG" altLang="en-US" sz="1500" b="1" dirty="0">
                <a:solidFill>
                  <a:srgbClr val="2B2620"/>
                </a:solidFill>
              </a:rPr>
              <a:t>اجتماع تنسيق</a:t>
            </a:r>
            <a:pPr rtl="1" algn="r" marL="342900" indent="-342900">
              <a:spcAft>
                <a:spcPts val="800"/>
              </a:spcAft>
              <a:buSzPct val="100000"/>
              <a:buChar char="•"/>
            </a:pPr>
            <a:r>
              <a:rPr lang="ar-EG" altLang="en-US" sz="1500" dirty="0">
                <a:solidFill>
                  <a:srgbClr val="2B2620"/>
                </a:solidFill>
              </a:rPr>
              <a:t> أسبوعي، وكل تعارض له مسؤول وموعد حل.</a:t>
            </a:r>
            <a:endParaRPr lang="en-US" sz="15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بيئة البيانات المشتركة (CDE) وسير العمل</a:t>
            </a:r>
            <a:endParaRPr lang="ar-EG" sz="3000" dirty="0"/>
          </a:p>
        </p:txBody>
      </p:sp>
      <p:sp>
        <p:nvSpPr>
          <p:cNvPr id="3" name="card0"/>
          <p:cNvSpPr/>
          <p:nvPr/>
        </p:nvSpPr>
        <p:spPr>
          <a:xfrm>
            <a:off x="6233008" y="1371600"/>
            <a:ext cx="541004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11002975" y="1554480"/>
            <a:ext cx="457200" cy="457200"/>
          </a:xfrm>
          <a:prstGeom prst="ellipse">
            <a:avLst/>
          </a:prstGeom>
          <a:solidFill>
            <a:schemeClr val="accent2"/>
          </a:solidFill>
          <a:ln/>
        </p:spPr>
      </p:sp>
      <p:sp>
        <p:nvSpPr>
          <p:cNvPr id="5" name="Text 3"/>
          <p:cNvSpPr txBox="1"/>
          <p:nvPr/>
        </p:nvSpPr>
        <p:spPr>
          <a:xfrm>
            <a:off x="11002975"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6415888" y="2103120"/>
            <a:ext cx="5044288" cy="914400"/>
          </a:xfrm>
          <a:prstGeom prst="rect">
            <a:avLst/>
          </a:prstGeom>
          <a:noFill/>
          <a:ln/>
        </p:spPr>
        <p:txBody>
          <a:bodyPr wrap="square" rtlCol="0" anchor="t"/>
          <a:lstStyle/>
          <a:p>
            <a:pPr rtl="1" algn="r" indent="0" marL="0">
              <a:buNone/>
            </a:pPr>
            <a:r>
              <a:rPr lang="ar-EG" altLang="en-US" sz="1400" dirty="0">
                <a:solidFill>
                  <a:srgbClr val="2B2620"/>
                </a:solidFill>
              </a:rPr>
              <a:t>CDE = مكان واحد للملفات بحالات: </a:t>
            </a:r>
            <a:pPr rtl="1" algn="r" indent="0" marL="0">
              <a:buNone/>
            </a:pPr>
            <a:r>
              <a:rPr lang="ar-EG" altLang="en-US" sz="1400" b="1" dirty="0">
                <a:solidFill>
                  <a:srgbClr val="2B2620"/>
                </a:solidFill>
              </a:rPr>
              <a:t>قيد العمل ← مشترك ← منشور ← مؤرشف</a:t>
            </a:r>
            <a:pPr rtl="1" algn="r" indent="0" marL="0">
              <a:buNone/>
            </a:pPr>
            <a:r>
              <a:rPr lang="ar-EG" altLang="en-US" sz="1400" dirty="0">
                <a:solidFill>
                  <a:srgbClr val="2B2620"/>
                </a:solidFill>
              </a:rPr>
              <a:t>.</a:t>
            </a:r>
            <a:endParaRPr lang="en-US" sz="1400" dirty="0"/>
          </a:p>
        </p:txBody>
      </p:sp>
      <p:sp>
        <p:nvSpPr>
          <p:cNvPr id="7" name="card1"/>
          <p:cNvSpPr/>
          <p:nvPr/>
        </p:nvSpPr>
        <p:spPr>
          <a:xfrm>
            <a:off x="548640" y="1371600"/>
            <a:ext cx="541004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5318608" y="1554480"/>
            <a:ext cx="457200" cy="457200"/>
          </a:xfrm>
          <a:prstGeom prst="ellipse">
            <a:avLst/>
          </a:prstGeom>
          <a:solidFill>
            <a:schemeClr val="accent2"/>
          </a:solidFill>
          <a:ln/>
        </p:spPr>
      </p:sp>
      <p:sp>
        <p:nvSpPr>
          <p:cNvPr id="9" name="Text 7"/>
          <p:cNvSpPr txBox="1"/>
          <p:nvPr/>
        </p:nvSpPr>
        <p:spPr>
          <a:xfrm>
            <a:off x="531860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731520" y="2103120"/>
            <a:ext cx="5044288" cy="914400"/>
          </a:xfrm>
          <a:prstGeom prst="rect">
            <a:avLst/>
          </a:prstGeom>
          <a:noFill/>
          <a:ln/>
        </p:spPr>
        <p:txBody>
          <a:bodyPr wrap="square" rtlCol="0" anchor="t"/>
          <a:lstStyle/>
          <a:p>
            <a:pPr rtl="1" algn="r" indent="0" marL="0">
              <a:buNone/>
            </a:pPr>
            <a:r>
              <a:rPr lang="ar-EG" altLang="en-US" sz="1400" dirty="0">
                <a:solidFill>
                  <a:srgbClr val="2B2620"/>
                </a:solidFill>
              </a:rPr>
              <a:t>المعيار الدولي </a:t>
            </a:r>
            <a:pPr rtl="1" algn="r" indent="0" marL="0">
              <a:buNone/>
            </a:pPr>
            <a:r>
              <a:rPr lang="ar-EG" altLang="en-US" sz="1400" b="1" dirty="0">
                <a:solidFill>
                  <a:srgbClr val="2B2620"/>
                </a:solidFill>
              </a:rPr>
              <a:t>ISO 19650</a:t>
            </a:r>
            <a:pPr rtl="1" algn="r" indent="0" marL="0">
              <a:buNone/>
            </a:pPr>
            <a:r>
              <a:rPr lang="ar-EG" altLang="en-US" sz="1400" dirty="0">
                <a:solidFill>
                  <a:srgbClr val="2B2620"/>
                </a:solidFill>
              </a:rPr>
              <a:t> بيحدد إدارة المعلومات في مشاريع BIM.</a:t>
            </a:r>
            <a:endParaRPr lang="en-US" sz="1400" dirty="0"/>
          </a:p>
        </p:txBody>
      </p:sp>
      <p:sp>
        <p:nvSpPr>
          <p:cNvPr id="11" name="card2"/>
          <p:cNvSpPr/>
          <p:nvPr/>
        </p:nvSpPr>
        <p:spPr>
          <a:xfrm>
            <a:off x="6233008" y="3383280"/>
            <a:ext cx="541004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11002975" y="3566160"/>
            <a:ext cx="457200" cy="457200"/>
          </a:xfrm>
          <a:prstGeom prst="ellipse">
            <a:avLst/>
          </a:prstGeom>
          <a:solidFill>
            <a:schemeClr val="accent2"/>
          </a:solidFill>
          <a:ln/>
        </p:spPr>
      </p:sp>
      <p:sp>
        <p:nvSpPr>
          <p:cNvPr id="13" name="Text 11"/>
          <p:cNvSpPr txBox="1"/>
          <p:nvPr/>
        </p:nvSpPr>
        <p:spPr>
          <a:xfrm>
            <a:off x="11002975"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6415888" y="4114800"/>
            <a:ext cx="5044288" cy="914400"/>
          </a:xfrm>
          <a:prstGeom prst="rect">
            <a:avLst/>
          </a:prstGeom>
          <a:noFill/>
          <a:ln/>
        </p:spPr>
        <p:txBody>
          <a:bodyPr wrap="square" rtlCol="0" anchor="t"/>
          <a:lstStyle/>
          <a:p>
            <a:pPr rtl="1" algn="r" indent="0" marL="0">
              <a:buNone/>
            </a:pPr>
            <a:r>
              <a:rPr lang="ar-EG" altLang="en-US" sz="1400" dirty="0">
                <a:solidFill>
                  <a:srgbClr val="2B2620"/>
                </a:solidFill>
              </a:rPr>
              <a:t>كل ملف ليه </a:t>
            </a:r>
            <a:pPr rtl="1" algn="r" indent="0" marL="0">
              <a:buNone/>
            </a:pPr>
            <a:r>
              <a:rPr lang="ar-EG" altLang="en-US" sz="1400" b="1" dirty="0">
                <a:solidFill>
                  <a:srgbClr val="2B2620"/>
                </a:solidFill>
              </a:rPr>
              <a:t>اسم موحد</a:t>
            </a:r>
            <a:pPr rtl="1" algn="r" indent="0" marL="0">
              <a:buNone/>
            </a:pPr>
            <a:r>
              <a:rPr lang="ar-EG" altLang="en-US" sz="1400" dirty="0">
                <a:solidFill>
                  <a:srgbClr val="2B2620"/>
                </a:solidFill>
              </a:rPr>
              <a:t> و</a:t>
            </a:r>
            <a:pPr rtl="1" algn="r" indent="0" marL="0">
              <a:buNone/>
            </a:pPr>
            <a:r>
              <a:rPr lang="ar-EG" altLang="en-US" sz="1400" b="1" dirty="0">
                <a:solidFill>
                  <a:srgbClr val="2B2620"/>
                </a:solidFill>
              </a:rPr>
              <a:t>رقم إصدار</a:t>
            </a:r>
            <a:pPr rtl="1" algn="r" indent="0" marL="0">
              <a:buNone/>
            </a:pPr>
            <a:r>
              <a:rPr lang="ar-EG" altLang="en-US" sz="1400" dirty="0">
                <a:solidFill>
                  <a:srgbClr val="2B2620"/>
                </a:solidFill>
              </a:rPr>
              <a:t> و</a:t>
            </a:r>
            <a:pPr rtl="1" algn="r" indent="0" marL="0">
              <a:buNone/>
            </a:pPr>
            <a:r>
              <a:rPr lang="ar-EG" altLang="en-US" sz="1400" b="1" dirty="0">
                <a:solidFill>
                  <a:srgbClr val="2B2620"/>
                </a:solidFill>
              </a:rPr>
              <a:t>حالة</a:t>
            </a:r>
            <a:pPr rtl="1" algn="r" indent="0" marL="0">
              <a:buNone/>
            </a:pPr>
            <a:r>
              <a:rPr lang="ar-EG" altLang="en-US" sz="1400" dirty="0">
                <a:solidFill>
                  <a:srgbClr val="2B2620"/>
                </a:solidFill>
              </a:rPr>
              <a:t>.</a:t>
            </a:r>
            <a:endParaRPr lang="en-US" sz="14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خطة تنفيذ BIM (BEP)</a:t>
            </a:r>
            <a:endParaRPr lang="ar-EG" sz="3000" dirty="0"/>
          </a:p>
        </p:txBody>
      </p:sp>
      <p:sp>
        <p:nvSpPr>
          <p:cNvPr id="3" name="card0"/>
          <p:cNvSpPr/>
          <p:nvPr/>
        </p:nvSpPr>
        <p:spPr>
          <a:xfrm>
            <a:off x="8127797" y="1371600"/>
            <a:ext cx="351525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11002975" y="1554480"/>
            <a:ext cx="457200" cy="457200"/>
          </a:xfrm>
          <a:prstGeom prst="ellipse">
            <a:avLst/>
          </a:prstGeom>
          <a:solidFill>
            <a:schemeClr val="accent2"/>
          </a:solidFill>
          <a:ln/>
        </p:spPr>
      </p:sp>
      <p:sp>
        <p:nvSpPr>
          <p:cNvPr id="5" name="Text 3"/>
          <p:cNvSpPr txBox="1"/>
          <p:nvPr/>
        </p:nvSpPr>
        <p:spPr>
          <a:xfrm>
            <a:off x="11002975"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8310677" y="2103120"/>
            <a:ext cx="3149498" cy="914400"/>
          </a:xfrm>
          <a:prstGeom prst="rect">
            <a:avLst/>
          </a:prstGeom>
          <a:noFill/>
          <a:ln/>
        </p:spPr>
        <p:txBody>
          <a:bodyPr wrap="square" rtlCol="0" anchor="t"/>
          <a:lstStyle/>
          <a:p>
            <a:pPr rtl="1" algn="r" indent="0" marL="0">
              <a:buNone/>
            </a:pPr>
            <a:r>
              <a:rPr lang="ar-EG" altLang="en-US" sz="1400" dirty="0">
                <a:solidFill>
                  <a:srgbClr val="2B2620"/>
                </a:solidFill>
              </a:rPr>
              <a:t>تحتوي عادة على:</a:t>
            </a:r>
            <a:endParaRPr lang="en-US" sz="1400" dirty="0"/>
          </a:p>
        </p:txBody>
      </p:sp>
      <p:sp>
        <p:nvSpPr>
          <p:cNvPr id="7" name="card1"/>
          <p:cNvSpPr/>
          <p:nvPr/>
        </p:nvSpPr>
        <p:spPr>
          <a:xfrm>
            <a:off x="4338218" y="1371600"/>
            <a:ext cx="351525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7213397" y="1554480"/>
            <a:ext cx="457200" cy="457200"/>
          </a:xfrm>
          <a:prstGeom prst="ellipse">
            <a:avLst/>
          </a:prstGeom>
          <a:solidFill>
            <a:schemeClr val="accent2"/>
          </a:solidFill>
          <a:ln/>
        </p:spPr>
      </p:sp>
      <p:sp>
        <p:nvSpPr>
          <p:cNvPr id="9" name="Text 7"/>
          <p:cNvSpPr txBox="1"/>
          <p:nvPr/>
        </p:nvSpPr>
        <p:spPr>
          <a:xfrm>
            <a:off x="7213397"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4521098" y="2103120"/>
            <a:ext cx="3149498" cy="914400"/>
          </a:xfrm>
          <a:prstGeom prst="rect">
            <a:avLst/>
          </a:prstGeom>
          <a:noFill/>
          <a:ln/>
        </p:spPr>
        <p:txBody>
          <a:bodyPr wrap="square" rtlCol="0" anchor="t"/>
          <a:lstStyle/>
          <a:p>
            <a:pPr rtl="1" algn="r" indent="0" marL="0">
              <a:buNone/>
            </a:pPr>
            <a:r>
              <a:rPr lang="ar-EG" altLang="en-US" sz="1400" dirty="0">
                <a:solidFill>
                  <a:srgbClr val="2B2620"/>
                </a:solidFill>
              </a:rPr>
              <a:t>أهداف BIM في المشروع (حصر؟ تنسيق؟ 4D؟ تسليم للصيانة؟).</a:t>
            </a:r>
            <a:endParaRPr lang="en-US" sz="1400" dirty="0"/>
          </a:p>
        </p:txBody>
      </p:sp>
      <p:sp>
        <p:nvSpPr>
          <p:cNvPr id="11" name="card2"/>
          <p:cNvSpPr/>
          <p:nvPr/>
        </p:nvSpPr>
        <p:spPr>
          <a:xfrm>
            <a:off x="548640" y="1371600"/>
            <a:ext cx="351525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3423818" y="1554480"/>
            <a:ext cx="457200" cy="457200"/>
          </a:xfrm>
          <a:prstGeom prst="ellipse">
            <a:avLst/>
          </a:prstGeom>
          <a:solidFill>
            <a:schemeClr val="accent2"/>
          </a:solidFill>
          <a:ln/>
        </p:spPr>
      </p:sp>
      <p:sp>
        <p:nvSpPr>
          <p:cNvPr id="13" name="Text 11"/>
          <p:cNvSpPr txBox="1"/>
          <p:nvPr/>
        </p:nvSpPr>
        <p:spPr>
          <a:xfrm>
            <a:off x="342381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731520" y="2103120"/>
            <a:ext cx="3149498" cy="914400"/>
          </a:xfrm>
          <a:prstGeom prst="rect">
            <a:avLst/>
          </a:prstGeom>
          <a:noFill/>
          <a:ln/>
        </p:spPr>
        <p:txBody>
          <a:bodyPr wrap="square" rtlCol="0" anchor="t"/>
          <a:lstStyle/>
          <a:p>
            <a:pPr rtl="1" algn="r" indent="0" marL="0">
              <a:buNone/>
            </a:pPr>
            <a:r>
              <a:rPr lang="ar-EG" altLang="en-US" sz="1400" dirty="0">
                <a:solidFill>
                  <a:srgbClr val="2B2620"/>
                </a:solidFill>
              </a:rPr>
              <a:t>الأطراف والأدوار (مدير BIM، منسق، نمذّاجين).</a:t>
            </a:r>
            <a:endParaRPr lang="en-US" sz="1400" dirty="0"/>
          </a:p>
        </p:txBody>
      </p:sp>
      <p:sp>
        <p:nvSpPr>
          <p:cNvPr id="15" name="card3"/>
          <p:cNvSpPr/>
          <p:nvPr/>
        </p:nvSpPr>
        <p:spPr>
          <a:xfrm>
            <a:off x="8127797" y="3383280"/>
            <a:ext cx="351525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11002975" y="3566160"/>
            <a:ext cx="457200" cy="457200"/>
          </a:xfrm>
          <a:prstGeom prst="ellipse">
            <a:avLst/>
          </a:prstGeom>
          <a:solidFill>
            <a:schemeClr val="accent2"/>
          </a:solidFill>
          <a:ln/>
        </p:spPr>
      </p:sp>
      <p:sp>
        <p:nvSpPr>
          <p:cNvPr id="17" name="Text 15"/>
          <p:cNvSpPr txBox="1"/>
          <p:nvPr/>
        </p:nvSpPr>
        <p:spPr>
          <a:xfrm>
            <a:off x="11002975"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8310677" y="4114800"/>
            <a:ext cx="3149498" cy="914400"/>
          </a:xfrm>
          <a:prstGeom prst="rect">
            <a:avLst/>
          </a:prstGeom>
          <a:noFill/>
          <a:ln/>
        </p:spPr>
        <p:txBody>
          <a:bodyPr wrap="square" rtlCol="0" anchor="t"/>
          <a:lstStyle/>
          <a:p>
            <a:pPr rtl="1" algn="r" indent="0" marL="0">
              <a:buNone/>
            </a:pPr>
            <a:r>
              <a:rPr lang="ar-EG" altLang="en-US" sz="1400" dirty="0">
                <a:solidFill>
                  <a:srgbClr val="2B2620"/>
                </a:solidFill>
              </a:rPr>
              <a:t>البرامج والإصدارات وصيغ التبادل.</a:t>
            </a:r>
            <a:endParaRPr lang="en-US" sz="1400" dirty="0"/>
          </a:p>
        </p:txBody>
      </p:sp>
      <p:sp>
        <p:nvSpPr>
          <p:cNvPr id="19" name="card4"/>
          <p:cNvSpPr/>
          <p:nvPr/>
        </p:nvSpPr>
        <p:spPr>
          <a:xfrm>
            <a:off x="4338218" y="3383280"/>
            <a:ext cx="3515258" cy="1737360"/>
          </a:xfrm>
          <a:prstGeom prst="roundRect">
            <a:avLst>
              <a:gd name="adj" fmla="val 6316"/>
            </a:avLst>
          </a:prstGeom>
          <a:solidFill>
            <a:srgbClr val="F7F2E8"/>
          </a:solidFill>
          <a:ln w="9525">
            <a:solidFill>
              <a:srgbClr val="E6DFD1"/>
            </a:solidFill>
            <a:prstDash val="solid"/>
          </a:ln>
        </p:spPr>
      </p:sp>
      <p:sp>
        <p:nvSpPr>
          <p:cNvPr id="20" name="card-dot4"/>
          <p:cNvSpPr/>
          <p:nvPr/>
        </p:nvSpPr>
        <p:spPr>
          <a:xfrm>
            <a:off x="7213397" y="3566160"/>
            <a:ext cx="457200" cy="457200"/>
          </a:xfrm>
          <a:prstGeom prst="ellipse">
            <a:avLst/>
          </a:prstGeom>
          <a:solidFill>
            <a:schemeClr val="accent2"/>
          </a:solidFill>
          <a:ln/>
        </p:spPr>
      </p:sp>
      <p:sp>
        <p:nvSpPr>
          <p:cNvPr id="21" name="Text 19"/>
          <p:cNvSpPr txBox="1"/>
          <p:nvPr/>
        </p:nvSpPr>
        <p:spPr>
          <a:xfrm>
            <a:off x="7213397"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2" name="Text 20"/>
          <p:cNvSpPr txBox="1"/>
          <p:nvPr/>
        </p:nvSpPr>
        <p:spPr>
          <a:xfrm>
            <a:off x="4521098" y="4114800"/>
            <a:ext cx="3149498" cy="914400"/>
          </a:xfrm>
          <a:prstGeom prst="rect">
            <a:avLst/>
          </a:prstGeom>
          <a:noFill/>
          <a:ln/>
        </p:spPr>
        <p:txBody>
          <a:bodyPr wrap="square" rtlCol="0" anchor="t"/>
          <a:lstStyle/>
          <a:p>
            <a:pPr rtl="1" algn="r" indent="0" marL="0">
              <a:buNone/>
            </a:pPr>
            <a:r>
              <a:rPr lang="ar-EG" altLang="en-US" sz="1400" dirty="0">
                <a:solidFill>
                  <a:srgbClr val="2B2620"/>
                </a:solidFill>
              </a:rPr>
              <a:t>مستويات LOD لكل مرحلة ولكل عنصر.</a:t>
            </a:r>
            <a:endParaRPr lang="en-US" sz="1400" dirty="0"/>
          </a:p>
        </p:txBody>
      </p:sp>
      <p:sp>
        <p:nvSpPr>
          <p:cNvPr id="23" name="card5"/>
          <p:cNvSpPr/>
          <p:nvPr/>
        </p:nvSpPr>
        <p:spPr>
          <a:xfrm>
            <a:off x="548640" y="3383280"/>
            <a:ext cx="3515258" cy="1737360"/>
          </a:xfrm>
          <a:prstGeom prst="roundRect">
            <a:avLst>
              <a:gd name="adj" fmla="val 6316"/>
            </a:avLst>
          </a:prstGeom>
          <a:solidFill>
            <a:srgbClr val="F7F2E8"/>
          </a:solidFill>
          <a:ln w="9525">
            <a:solidFill>
              <a:srgbClr val="E6DFD1"/>
            </a:solidFill>
            <a:prstDash val="solid"/>
          </a:ln>
        </p:spPr>
      </p:sp>
      <p:sp>
        <p:nvSpPr>
          <p:cNvPr id="24" name="card-dot5"/>
          <p:cNvSpPr/>
          <p:nvPr/>
        </p:nvSpPr>
        <p:spPr>
          <a:xfrm>
            <a:off x="3423818" y="3566160"/>
            <a:ext cx="457200" cy="457200"/>
          </a:xfrm>
          <a:prstGeom prst="ellipse">
            <a:avLst/>
          </a:prstGeom>
          <a:solidFill>
            <a:schemeClr val="accent2"/>
          </a:solidFill>
          <a:ln/>
        </p:spPr>
      </p:sp>
      <p:sp>
        <p:nvSpPr>
          <p:cNvPr id="25" name="Text 23"/>
          <p:cNvSpPr txBox="1"/>
          <p:nvPr/>
        </p:nvSpPr>
        <p:spPr>
          <a:xfrm>
            <a:off x="342381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6" name="Text 24"/>
          <p:cNvSpPr txBox="1"/>
          <p:nvPr/>
        </p:nvSpPr>
        <p:spPr>
          <a:xfrm>
            <a:off x="731520" y="4114800"/>
            <a:ext cx="3149498" cy="914400"/>
          </a:xfrm>
          <a:prstGeom prst="rect">
            <a:avLst/>
          </a:prstGeom>
          <a:noFill/>
          <a:ln/>
        </p:spPr>
        <p:txBody>
          <a:bodyPr wrap="square" rtlCol="0" anchor="t"/>
          <a:lstStyle/>
          <a:p>
            <a:pPr rtl="1" algn="r" indent="0" marL="0">
              <a:buNone/>
            </a:pPr>
            <a:r>
              <a:rPr lang="ar-EG" altLang="en-US" sz="1400" dirty="0">
                <a:solidFill>
                  <a:srgbClr val="2B2620"/>
                </a:solidFill>
              </a:rPr>
              <a:t>الإحداثيات والوحدات والتسمية.</a:t>
            </a:r>
            <a:endParaRPr lang="en-US" sz="14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التحديات والتطبيق في المكتب</a:t>
            </a:r>
            <a:endParaRPr lang="ar-EG" sz="3000" dirty="0"/>
          </a:p>
        </p:txBody>
      </p:sp>
      <p:sp>
        <p:nvSpPr>
          <p:cNvPr id="3" name="card0"/>
          <p:cNvSpPr/>
          <p:nvPr/>
        </p:nvSpPr>
        <p:spPr>
          <a:xfrm>
            <a:off x="8127797" y="1371600"/>
            <a:ext cx="351525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11002975" y="1554480"/>
            <a:ext cx="457200" cy="457200"/>
          </a:xfrm>
          <a:prstGeom prst="ellipse">
            <a:avLst/>
          </a:prstGeom>
          <a:solidFill>
            <a:schemeClr val="accent2"/>
          </a:solidFill>
          <a:ln/>
        </p:spPr>
      </p:sp>
      <p:sp>
        <p:nvSpPr>
          <p:cNvPr id="5" name="Text 3"/>
          <p:cNvSpPr txBox="1"/>
          <p:nvPr/>
        </p:nvSpPr>
        <p:spPr>
          <a:xfrm>
            <a:off x="11002975"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8310677" y="2103120"/>
            <a:ext cx="3149498" cy="914400"/>
          </a:xfrm>
          <a:prstGeom prst="rect">
            <a:avLst/>
          </a:prstGeom>
          <a:noFill/>
          <a:ln/>
        </p:spPr>
        <p:txBody>
          <a:bodyPr wrap="square" rtlCol="0" anchor="t"/>
          <a:lstStyle/>
          <a:p>
            <a:pPr rtl="1" algn="r" indent="0" marL="0">
              <a:buNone/>
            </a:pPr>
            <a:r>
              <a:rPr lang="ar-EG" altLang="en-US" sz="1400" b="1" dirty="0">
                <a:solidFill>
                  <a:srgbClr val="2B2620"/>
                </a:solidFill>
              </a:rPr>
              <a:t>التكلفة الأولية</a:t>
            </a:r>
            <a:pPr rtl="1" algn="r" indent="0" marL="0">
              <a:buNone/>
            </a:pPr>
            <a:r>
              <a:rPr lang="ar-EG" altLang="en-US" sz="1400" dirty="0">
                <a:solidFill>
                  <a:srgbClr val="2B2620"/>
                </a:solidFill>
              </a:rPr>
              <a:t>: رخص وأجهزة وتدريب.</a:t>
            </a:r>
            <a:endParaRPr lang="en-US" sz="1400" dirty="0"/>
          </a:p>
        </p:txBody>
      </p:sp>
      <p:sp>
        <p:nvSpPr>
          <p:cNvPr id="7" name="card1"/>
          <p:cNvSpPr/>
          <p:nvPr/>
        </p:nvSpPr>
        <p:spPr>
          <a:xfrm>
            <a:off x="4338218" y="1371600"/>
            <a:ext cx="351525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7213397" y="1554480"/>
            <a:ext cx="457200" cy="457200"/>
          </a:xfrm>
          <a:prstGeom prst="ellipse">
            <a:avLst/>
          </a:prstGeom>
          <a:solidFill>
            <a:schemeClr val="accent2"/>
          </a:solidFill>
          <a:ln/>
        </p:spPr>
      </p:sp>
      <p:sp>
        <p:nvSpPr>
          <p:cNvPr id="9" name="Text 7"/>
          <p:cNvSpPr txBox="1"/>
          <p:nvPr/>
        </p:nvSpPr>
        <p:spPr>
          <a:xfrm>
            <a:off x="7213397"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4521098" y="2103120"/>
            <a:ext cx="3149498" cy="914400"/>
          </a:xfrm>
          <a:prstGeom prst="rect">
            <a:avLst/>
          </a:prstGeom>
          <a:noFill/>
          <a:ln/>
        </p:spPr>
        <p:txBody>
          <a:bodyPr wrap="square" rtlCol="0" anchor="t"/>
          <a:lstStyle/>
          <a:p>
            <a:pPr rtl="1" algn="r" indent="0" marL="0">
              <a:buNone/>
            </a:pPr>
            <a:r>
              <a:rPr lang="ar-EG" altLang="en-US" sz="1400" b="1" dirty="0">
                <a:solidFill>
                  <a:srgbClr val="2B2620"/>
                </a:solidFill>
              </a:rPr>
              <a:t>تغيير الثقافة</a:t>
            </a:r>
            <a:pPr rtl="1" algn="r" indent="0" marL="0">
              <a:buNone/>
            </a:pPr>
            <a:r>
              <a:rPr lang="ar-EG" altLang="en-US" sz="1400" dirty="0">
                <a:solidFill>
                  <a:srgbClr val="2B2620"/>
                </a:solidFill>
              </a:rPr>
              <a:t>: الشغل يتنقل من «رسم» لـ«بناء نموذج».</a:t>
            </a:r>
            <a:endParaRPr lang="en-US" sz="1400" dirty="0"/>
          </a:p>
        </p:txBody>
      </p:sp>
      <p:sp>
        <p:nvSpPr>
          <p:cNvPr id="11" name="card2"/>
          <p:cNvSpPr/>
          <p:nvPr/>
        </p:nvSpPr>
        <p:spPr>
          <a:xfrm>
            <a:off x="548640" y="1371600"/>
            <a:ext cx="351525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3423818" y="1554480"/>
            <a:ext cx="457200" cy="457200"/>
          </a:xfrm>
          <a:prstGeom prst="ellipse">
            <a:avLst/>
          </a:prstGeom>
          <a:solidFill>
            <a:schemeClr val="accent2"/>
          </a:solidFill>
          <a:ln/>
        </p:spPr>
      </p:sp>
      <p:sp>
        <p:nvSpPr>
          <p:cNvPr id="13" name="Text 11"/>
          <p:cNvSpPr txBox="1"/>
          <p:nvPr/>
        </p:nvSpPr>
        <p:spPr>
          <a:xfrm>
            <a:off x="342381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731520" y="2103120"/>
            <a:ext cx="3149498" cy="914400"/>
          </a:xfrm>
          <a:prstGeom prst="rect">
            <a:avLst/>
          </a:prstGeom>
          <a:noFill/>
          <a:ln/>
        </p:spPr>
        <p:txBody>
          <a:bodyPr wrap="square" rtlCol="0" anchor="t"/>
          <a:lstStyle/>
          <a:p>
            <a:pPr rtl="1" algn="r" indent="0" marL="0">
              <a:buNone/>
            </a:pPr>
            <a:r>
              <a:rPr lang="ar-EG" altLang="en-US" sz="1400" b="1" dirty="0">
                <a:solidFill>
                  <a:srgbClr val="2B2620"/>
                </a:solidFill>
              </a:rPr>
              <a:t>الملكية الفكرية والمسؤولية</a:t>
            </a:r>
            <a:pPr rtl="1" algn="r" indent="0" marL="0">
              <a:buNone/>
            </a:pPr>
            <a:r>
              <a:rPr lang="ar-EG" altLang="en-US" sz="1400" dirty="0">
                <a:solidFill>
                  <a:srgbClr val="2B2620"/>
                </a:solidFill>
              </a:rPr>
              <a:t>: مين مسؤول عن النموذج؟ تتحدد في العقد.</a:t>
            </a:r>
            <a:endParaRPr lang="en-US" sz="1400" dirty="0"/>
          </a:p>
        </p:txBody>
      </p:sp>
      <p:sp>
        <p:nvSpPr>
          <p:cNvPr id="15" name="card3"/>
          <p:cNvSpPr/>
          <p:nvPr/>
        </p:nvSpPr>
        <p:spPr>
          <a:xfrm>
            <a:off x="8127797" y="3383280"/>
            <a:ext cx="351525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11002975" y="3566160"/>
            <a:ext cx="457200" cy="457200"/>
          </a:xfrm>
          <a:prstGeom prst="ellipse">
            <a:avLst/>
          </a:prstGeom>
          <a:solidFill>
            <a:schemeClr val="accent2"/>
          </a:solidFill>
          <a:ln/>
        </p:spPr>
      </p:sp>
      <p:sp>
        <p:nvSpPr>
          <p:cNvPr id="17" name="Text 15"/>
          <p:cNvSpPr txBox="1"/>
          <p:nvPr/>
        </p:nvSpPr>
        <p:spPr>
          <a:xfrm>
            <a:off x="11002975"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8310677" y="4114800"/>
            <a:ext cx="3149498" cy="914400"/>
          </a:xfrm>
          <a:prstGeom prst="rect">
            <a:avLst/>
          </a:prstGeom>
          <a:noFill/>
          <a:ln/>
        </p:spPr>
        <p:txBody>
          <a:bodyPr wrap="square" rtlCol="0" anchor="t"/>
          <a:lstStyle/>
          <a:p>
            <a:pPr rtl="1" algn="r" indent="0" marL="0">
              <a:buNone/>
            </a:pPr>
            <a:r>
              <a:rPr lang="ar-EG" altLang="en-US" sz="1400" dirty="0">
                <a:solidFill>
                  <a:srgbClr val="2B2620"/>
                </a:solidFill>
              </a:rPr>
              <a:t>مشروع تجريبي صغير.</a:t>
            </a:r>
            <a:endParaRPr lang="en-US" sz="1400" dirty="0"/>
          </a:p>
        </p:txBody>
      </p:sp>
      <p:sp>
        <p:nvSpPr>
          <p:cNvPr id="19" name="card4"/>
          <p:cNvSpPr/>
          <p:nvPr/>
        </p:nvSpPr>
        <p:spPr>
          <a:xfrm>
            <a:off x="4338218" y="3383280"/>
            <a:ext cx="3515258" cy="1737360"/>
          </a:xfrm>
          <a:prstGeom prst="roundRect">
            <a:avLst>
              <a:gd name="adj" fmla="val 6316"/>
            </a:avLst>
          </a:prstGeom>
          <a:solidFill>
            <a:srgbClr val="F7F2E8"/>
          </a:solidFill>
          <a:ln w="9525">
            <a:solidFill>
              <a:srgbClr val="E6DFD1"/>
            </a:solidFill>
            <a:prstDash val="solid"/>
          </a:ln>
        </p:spPr>
      </p:sp>
      <p:sp>
        <p:nvSpPr>
          <p:cNvPr id="20" name="card-dot4"/>
          <p:cNvSpPr/>
          <p:nvPr/>
        </p:nvSpPr>
        <p:spPr>
          <a:xfrm>
            <a:off x="7213397" y="3566160"/>
            <a:ext cx="457200" cy="457200"/>
          </a:xfrm>
          <a:prstGeom prst="ellipse">
            <a:avLst/>
          </a:prstGeom>
          <a:solidFill>
            <a:schemeClr val="accent2"/>
          </a:solidFill>
          <a:ln/>
        </p:spPr>
      </p:sp>
      <p:sp>
        <p:nvSpPr>
          <p:cNvPr id="21" name="Text 19"/>
          <p:cNvSpPr txBox="1"/>
          <p:nvPr/>
        </p:nvSpPr>
        <p:spPr>
          <a:xfrm>
            <a:off x="7213397"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2" name="Text 20"/>
          <p:cNvSpPr txBox="1"/>
          <p:nvPr/>
        </p:nvSpPr>
        <p:spPr>
          <a:xfrm>
            <a:off x="4521098" y="4114800"/>
            <a:ext cx="3149498" cy="914400"/>
          </a:xfrm>
          <a:prstGeom prst="rect">
            <a:avLst/>
          </a:prstGeom>
          <a:noFill/>
          <a:ln/>
        </p:spPr>
        <p:txBody>
          <a:bodyPr wrap="square" rtlCol="0" anchor="t"/>
          <a:lstStyle/>
          <a:p>
            <a:pPr rtl="1" algn="r" indent="0" marL="0">
              <a:buNone/>
            </a:pPr>
            <a:r>
              <a:rPr lang="ar-EG" altLang="en-US" sz="1400" dirty="0">
                <a:solidFill>
                  <a:srgbClr val="2B2620"/>
                </a:solidFill>
              </a:rPr>
              <a:t>قالب ومكتبة عائلات للمكتب.</a:t>
            </a:r>
            <a:endParaRPr lang="en-US" sz="1400" dirty="0"/>
          </a:p>
        </p:txBody>
      </p:sp>
      <p:sp>
        <p:nvSpPr>
          <p:cNvPr id="23" name="card5"/>
          <p:cNvSpPr/>
          <p:nvPr/>
        </p:nvSpPr>
        <p:spPr>
          <a:xfrm>
            <a:off x="548640" y="3383280"/>
            <a:ext cx="3515258" cy="1737360"/>
          </a:xfrm>
          <a:prstGeom prst="roundRect">
            <a:avLst>
              <a:gd name="adj" fmla="val 6316"/>
            </a:avLst>
          </a:prstGeom>
          <a:solidFill>
            <a:srgbClr val="F7F2E8"/>
          </a:solidFill>
          <a:ln w="9525">
            <a:solidFill>
              <a:srgbClr val="E6DFD1"/>
            </a:solidFill>
            <a:prstDash val="solid"/>
          </a:ln>
        </p:spPr>
      </p:sp>
      <p:sp>
        <p:nvSpPr>
          <p:cNvPr id="24" name="card-dot5"/>
          <p:cNvSpPr/>
          <p:nvPr/>
        </p:nvSpPr>
        <p:spPr>
          <a:xfrm>
            <a:off x="3423818" y="3566160"/>
            <a:ext cx="457200" cy="457200"/>
          </a:xfrm>
          <a:prstGeom prst="ellipse">
            <a:avLst/>
          </a:prstGeom>
          <a:solidFill>
            <a:schemeClr val="accent2"/>
          </a:solidFill>
          <a:ln/>
        </p:spPr>
      </p:sp>
      <p:sp>
        <p:nvSpPr>
          <p:cNvPr id="25" name="Text 23"/>
          <p:cNvSpPr txBox="1"/>
          <p:nvPr/>
        </p:nvSpPr>
        <p:spPr>
          <a:xfrm>
            <a:off x="342381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6" name="Text 24"/>
          <p:cNvSpPr txBox="1"/>
          <p:nvPr/>
        </p:nvSpPr>
        <p:spPr>
          <a:xfrm>
            <a:off x="731520" y="4114800"/>
            <a:ext cx="3149498" cy="914400"/>
          </a:xfrm>
          <a:prstGeom prst="rect">
            <a:avLst/>
          </a:prstGeom>
          <a:noFill/>
          <a:ln/>
        </p:spPr>
        <p:txBody>
          <a:bodyPr wrap="square" rtlCol="0" anchor="t"/>
          <a:lstStyle/>
          <a:p>
            <a:pPr rtl="1" algn="r" indent="0" marL="0">
              <a:buNone/>
            </a:pPr>
            <a:r>
              <a:rPr lang="ar-EG" altLang="en-US" sz="1400" dirty="0">
                <a:solidFill>
                  <a:srgbClr val="2B2620"/>
                </a:solidFill>
              </a:rPr>
              <a:t>تدريب الفريق على مراحل.</a:t>
            </a:r>
            <a:endParaRPr lang="en-US" sz="14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دراسات الحالة (دروس عامة)</a:t>
            </a:r>
            <a:endParaRPr lang="ar-EG" sz="3000" dirty="0"/>
          </a:p>
        </p:txBody>
      </p:sp>
      <p:sp>
        <p:nvSpPr>
          <p:cNvPr id="3" name="card0"/>
          <p:cNvSpPr/>
          <p:nvPr/>
        </p:nvSpPr>
        <p:spPr>
          <a:xfrm>
            <a:off x="6233008" y="1371600"/>
            <a:ext cx="541004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11002975" y="1554480"/>
            <a:ext cx="457200" cy="457200"/>
          </a:xfrm>
          <a:prstGeom prst="ellipse">
            <a:avLst/>
          </a:prstGeom>
          <a:solidFill>
            <a:schemeClr val="accent2"/>
          </a:solidFill>
          <a:ln/>
        </p:spPr>
      </p:sp>
      <p:sp>
        <p:nvSpPr>
          <p:cNvPr id="5" name="Text 3"/>
          <p:cNvSpPr txBox="1"/>
          <p:nvPr/>
        </p:nvSpPr>
        <p:spPr>
          <a:xfrm>
            <a:off x="11002975"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6415888" y="2103120"/>
            <a:ext cx="5044288" cy="914400"/>
          </a:xfrm>
          <a:prstGeom prst="rect">
            <a:avLst/>
          </a:prstGeom>
          <a:noFill/>
          <a:ln/>
        </p:spPr>
        <p:txBody>
          <a:bodyPr wrap="square" rtlCol="0" anchor="t"/>
          <a:lstStyle/>
          <a:p>
            <a:pPr rtl="1" algn="r" indent="0" marL="0">
              <a:buNone/>
            </a:pPr>
            <a:r>
              <a:rPr lang="ar-EG" altLang="en-US" sz="1400" dirty="0">
                <a:solidFill>
                  <a:srgbClr val="2B2620"/>
                </a:solidFill>
              </a:rPr>
              <a:t>المشاريع الناجحة حددت </a:t>
            </a:r>
            <a:pPr rtl="1" algn="r" indent="0" marL="0">
              <a:buNone/>
            </a:pPr>
            <a:r>
              <a:rPr lang="ar-EG" altLang="en-US" sz="1400" b="1" dirty="0">
                <a:solidFill>
                  <a:srgbClr val="2B2620"/>
                </a:solidFill>
              </a:rPr>
              <a:t>أهداف BIM</a:t>
            </a:r>
            <a:pPr rtl="1" algn="r" indent="0" marL="0">
              <a:buNone/>
            </a:pPr>
            <a:r>
              <a:rPr lang="ar-EG" altLang="en-US" sz="1400" dirty="0">
                <a:solidFill>
                  <a:srgbClr val="2B2620"/>
                </a:solidFill>
              </a:rPr>
              <a:t> بوضوح من الأول.</a:t>
            </a:r>
            <a:endParaRPr lang="en-US" sz="1400" dirty="0"/>
          </a:p>
        </p:txBody>
      </p:sp>
      <p:sp>
        <p:nvSpPr>
          <p:cNvPr id="7" name="card1"/>
          <p:cNvSpPr/>
          <p:nvPr/>
        </p:nvSpPr>
        <p:spPr>
          <a:xfrm>
            <a:off x="548640" y="1371600"/>
            <a:ext cx="541004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5318608" y="1554480"/>
            <a:ext cx="457200" cy="457200"/>
          </a:xfrm>
          <a:prstGeom prst="ellipse">
            <a:avLst/>
          </a:prstGeom>
          <a:solidFill>
            <a:schemeClr val="accent2"/>
          </a:solidFill>
          <a:ln/>
        </p:spPr>
      </p:sp>
      <p:sp>
        <p:nvSpPr>
          <p:cNvPr id="9" name="Text 7"/>
          <p:cNvSpPr txBox="1"/>
          <p:nvPr/>
        </p:nvSpPr>
        <p:spPr>
          <a:xfrm>
            <a:off x="531860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731520" y="2103120"/>
            <a:ext cx="5044288" cy="914400"/>
          </a:xfrm>
          <a:prstGeom prst="rect">
            <a:avLst/>
          </a:prstGeom>
          <a:noFill/>
          <a:ln/>
        </p:spPr>
        <p:txBody>
          <a:bodyPr wrap="square" rtlCol="0" anchor="t"/>
          <a:lstStyle/>
          <a:p>
            <a:pPr rtl="1" algn="r" indent="0" marL="0">
              <a:buNone/>
            </a:pPr>
            <a:r>
              <a:rPr lang="ar-EG" altLang="en-US" sz="1400" b="1" dirty="0">
                <a:solidFill>
                  <a:srgbClr val="2B2620"/>
                </a:solidFill>
              </a:rPr>
              <a:t>مشاركة المقاول بدري</a:t>
            </a:r>
            <a:pPr rtl="1" algn="r" indent="0" marL="0">
              <a:buNone/>
            </a:pPr>
            <a:r>
              <a:rPr lang="ar-EG" altLang="en-US" sz="1400" dirty="0">
                <a:solidFill>
                  <a:srgbClr val="2B2620"/>
                </a:solidFill>
              </a:rPr>
              <a:t> بتقلل التعارضات والتعديلات.</a:t>
            </a:r>
            <a:endParaRPr lang="en-US" sz="1400" dirty="0"/>
          </a:p>
        </p:txBody>
      </p:sp>
      <p:sp>
        <p:nvSpPr>
          <p:cNvPr id="11" name="card2"/>
          <p:cNvSpPr/>
          <p:nvPr/>
        </p:nvSpPr>
        <p:spPr>
          <a:xfrm>
            <a:off x="6233008" y="3383280"/>
            <a:ext cx="541004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11002975" y="3566160"/>
            <a:ext cx="457200" cy="457200"/>
          </a:xfrm>
          <a:prstGeom prst="ellipse">
            <a:avLst/>
          </a:prstGeom>
          <a:solidFill>
            <a:schemeClr val="accent2"/>
          </a:solidFill>
          <a:ln/>
        </p:spPr>
      </p:sp>
      <p:sp>
        <p:nvSpPr>
          <p:cNvPr id="13" name="Text 11"/>
          <p:cNvSpPr txBox="1"/>
          <p:nvPr/>
        </p:nvSpPr>
        <p:spPr>
          <a:xfrm>
            <a:off x="11002975"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6415888" y="4114800"/>
            <a:ext cx="5044288" cy="914400"/>
          </a:xfrm>
          <a:prstGeom prst="rect">
            <a:avLst/>
          </a:prstGeom>
          <a:noFill/>
          <a:ln/>
        </p:spPr>
        <p:txBody>
          <a:bodyPr wrap="square" rtlCol="0" anchor="t"/>
          <a:lstStyle/>
          <a:p>
            <a:pPr rtl="1" algn="r" indent="0" marL="0">
              <a:buNone/>
            </a:pPr>
            <a:r>
              <a:rPr lang="ar-EG" altLang="en-US" sz="1400" b="1" dirty="0">
                <a:solidFill>
                  <a:srgbClr val="2B2620"/>
                </a:solidFill>
              </a:rPr>
              <a:t>التصنيع المسبق</a:t>
            </a:r>
            <a:pPr rtl="1" algn="r" indent="0" marL="0">
              <a:buNone/>
            </a:pPr>
            <a:r>
              <a:rPr lang="ar-EG" altLang="en-US" sz="1400" dirty="0">
                <a:solidFill>
                  <a:srgbClr val="2B2620"/>
                </a:solidFill>
              </a:rPr>
              <a:t> وفّر وقت كبير في المشاريع المعقدة.</a:t>
            </a:r>
            <a:endParaRPr lang="en-US" sz="1400" dirty="0"/>
          </a:p>
        </p:txBody>
      </p:sp>
      <p:sp>
        <p:nvSpPr>
          <p:cNvPr id="15" name="card3"/>
          <p:cNvSpPr/>
          <p:nvPr/>
        </p:nvSpPr>
        <p:spPr>
          <a:xfrm>
            <a:off x="548640" y="3383280"/>
            <a:ext cx="541004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5318608" y="3566160"/>
            <a:ext cx="457200" cy="457200"/>
          </a:xfrm>
          <a:prstGeom prst="ellipse">
            <a:avLst/>
          </a:prstGeom>
          <a:solidFill>
            <a:schemeClr val="accent2"/>
          </a:solidFill>
          <a:ln/>
        </p:spPr>
      </p:sp>
      <p:sp>
        <p:nvSpPr>
          <p:cNvPr id="17" name="Text 15"/>
          <p:cNvSpPr txBox="1"/>
          <p:nvPr/>
        </p:nvSpPr>
        <p:spPr>
          <a:xfrm>
            <a:off x="531860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731520" y="4114800"/>
            <a:ext cx="5044288" cy="914400"/>
          </a:xfrm>
          <a:prstGeom prst="rect">
            <a:avLst/>
          </a:prstGeom>
          <a:noFill/>
          <a:ln/>
        </p:spPr>
        <p:txBody>
          <a:bodyPr wrap="square" rtlCol="0" anchor="t"/>
          <a:lstStyle/>
          <a:p>
            <a:pPr rtl="1" algn="r" indent="0" marL="0">
              <a:buNone/>
            </a:pPr>
            <a:r>
              <a:rPr lang="ar-EG" altLang="en-US" sz="1400" b="1" dirty="0">
                <a:solidFill>
                  <a:srgbClr val="2B2620"/>
                </a:solidFill>
              </a:rPr>
              <a:t>نموذج التسليم</a:t>
            </a:r>
            <a:pPr rtl="1" algn="r" indent="0" marL="0">
              <a:buNone/>
            </a:pPr>
            <a:r>
              <a:rPr lang="ar-EG" altLang="en-US" sz="1400" dirty="0">
                <a:solidFill>
                  <a:srgbClr val="2B2620"/>
                </a:solidFill>
              </a:rPr>
              <a:t> مفيد للمالك فقط لو اتعمل بالبيانات اللي محتاجها فعلاً للصيانة.</a:t>
            </a:r>
            <a:endParaRPr lang="en-US" sz="14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خلاصة م. عمر خميس</a:t>
            </a:r>
            <a:endParaRPr lang="ar-EG" sz="3000" dirty="0"/>
          </a:p>
        </p:txBody>
      </p:sp>
      <p:sp>
        <p:nvSpPr>
          <p:cNvPr id="3" name="card0"/>
          <p:cNvSpPr/>
          <p:nvPr/>
        </p:nvSpPr>
        <p:spPr>
          <a:xfrm>
            <a:off x="8127797" y="1371600"/>
            <a:ext cx="351525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11002975" y="1554480"/>
            <a:ext cx="457200" cy="457200"/>
          </a:xfrm>
          <a:prstGeom prst="ellipse">
            <a:avLst/>
          </a:prstGeom>
          <a:solidFill>
            <a:schemeClr val="accent2"/>
          </a:solidFill>
          <a:ln/>
        </p:spPr>
      </p:sp>
      <p:sp>
        <p:nvSpPr>
          <p:cNvPr id="5" name="Text 3"/>
          <p:cNvSpPr txBox="1"/>
          <p:nvPr/>
        </p:nvSpPr>
        <p:spPr>
          <a:xfrm>
            <a:off x="11002975"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8310677" y="2103120"/>
            <a:ext cx="3149498" cy="914400"/>
          </a:xfrm>
          <a:prstGeom prst="rect">
            <a:avLst/>
          </a:prstGeom>
          <a:noFill/>
          <a:ln/>
        </p:spPr>
        <p:txBody>
          <a:bodyPr wrap="square" rtlCol="0" anchor="t"/>
          <a:lstStyle/>
          <a:p>
            <a:pPr rtl="1" algn="r" indent="0" marL="0">
              <a:buNone/>
            </a:pPr>
            <a:r>
              <a:rPr lang="ar-EG" altLang="en-US" sz="1400" dirty="0">
                <a:solidFill>
                  <a:srgbClr val="2B2620"/>
                </a:solidFill>
              </a:rPr>
              <a:t>BIM = </a:t>
            </a:r>
            <a:pPr rtl="1" algn="r" indent="0" marL="0">
              <a:buNone/>
            </a:pPr>
            <a:r>
              <a:rPr lang="ar-EG" altLang="en-US" sz="1400" b="1" dirty="0">
                <a:solidFill>
                  <a:srgbClr val="2B2620"/>
                </a:solidFill>
              </a:rPr>
              <a:t>نموذج + معلومات + تعاون</a:t>
            </a:r>
            <a:pPr rtl="1" algn="r" indent="0" marL="0">
              <a:buNone/>
            </a:pPr>
            <a:r>
              <a:rPr lang="ar-EG" altLang="en-US" sz="1400" dirty="0">
                <a:solidFill>
                  <a:srgbClr val="2B2620"/>
                </a:solidFill>
              </a:rPr>
              <a:t>، مش برنامج.</a:t>
            </a:r>
            <a:endParaRPr lang="en-US" sz="1400" dirty="0"/>
          </a:p>
        </p:txBody>
      </p:sp>
      <p:sp>
        <p:nvSpPr>
          <p:cNvPr id="7" name="card1"/>
          <p:cNvSpPr/>
          <p:nvPr/>
        </p:nvSpPr>
        <p:spPr>
          <a:xfrm>
            <a:off x="4338218" y="1371600"/>
            <a:ext cx="351525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7213397" y="1554480"/>
            <a:ext cx="457200" cy="457200"/>
          </a:xfrm>
          <a:prstGeom prst="ellipse">
            <a:avLst/>
          </a:prstGeom>
          <a:solidFill>
            <a:schemeClr val="accent2"/>
          </a:solidFill>
          <a:ln/>
        </p:spPr>
      </p:sp>
      <p:sp>
        <p:nvSpPr>
          <p:cNvPr id="9" name="Text 7"/>
          <p:cNvSpPr txBox="1"/>
          <p:nvPr/>
        </p:nvSpPr>
        <p:spPr>
          <a:xfrm>
            <a:off x="7213397"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4521098" y="2103120"/>
            <a:ext cx="3149498" cy="914400"/>
          </a:xfrm>
          <a:prstGeom prst="rect">
            <a:avLst/>
          </a:prstGeom>
          <a:noFill/>
          <a:ln/>
        </p:spPr>
        <p:txBody>
          <a:bodyPr wrap="square" rtlCol="0" anchor="t"/>
          <a:lstStyle/>
          <a:p>
            <a:pPr rtl="1" algn="r" indent="0" marL="0">
              <a:buNone/>
            </a:pPr>
            <a:r>
              <a:rPr lang="ar-EG" altLang="en-US" sz="1400" dirty="0">
                <a:solidFill>
                  <a:srgbClr val="2B2620"/>
                </a:solidFill>
              </a:rPr>
              <a:t>اتفقوا على </a:t>
            </a:r>
            <a:pPr rtl="1" algn="r" indent="0" marL="0">
              <a:buNone/>
            </a:pPr>
            <a:r>
              <a:rPr lang="ar-EG" altLang="en-US" sz="1400" b="1" dirty="0">
                <a:solidFill>
                  <a:srgbClr val="2B2620"/>
                </a:solidFill>
              </a:rPr>
              <a:t>الإحداثيات والوحدات والتسمية وLOD</a:t>
            </a:r>
            <a:pPr rtl="1" algn="r" indent="0" marL="0">
              <a:buNone/>
            </a:pPr>
            <a:r>
              <a:rPr lang="ar-EG" altLang="en-US" sz="1400" dirty="0">
                <a:solidFill>
                  <a:srgbClr val="2B2620"/>
                </a:solidFill>
              </a:rPr>
              <a:t> من أول يوم.</a:t>
            </a:r>
            <a:endParaRPr lang="en-US" sz="1400" dirty="0"/>
          </a:p>
        </p:txBody>
      </p:sp>
      <p:sp>
        <p:nvSpPr>
          <p:cNvPr id="11" name="card2"/>
          <p:cNvSpPr/>
          <p:nvPr/>
        </p:nvSpPr>
        <p:spPr>
          <a:xfrm>
            <a:off x="548640" y="1371600"/>
            <a:ext cx="351525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3423818" y="1554480"/>
            <a:ext cx="457200" cy="457200"/>
          </a:xfrm>
          <a:prstGeom prst="ellipse">
            <a:avLst/>
          </a:prstGeom>
          <a:solidFill>
            <a:schemeClr val="accent2"/>
          </a:solidFill>
          <a:ln/>
        </p:spPr>
      </p:sp>
      <p:sp>
        <p:nvSpPr>
          <p:cNvPr id="13" name="Text 11"/>
          <p:cNvSpPr txBox="1"/>
          <p:nvPr/>
        </p:nvSpPr>
        <p:spPr>
          <a:xfrm>
            <a:off x="342381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731520" y="2103120"/>
            <a:ext cx="3149498" cy="914400"/>
          </a:xfrm>
          <a:prstGeom prst="rect">
            <a:avLst/>
          </a:prstGeom>
          <a:noFill/>
          <a:ln/>
        </p:spPr>
        <p:txBody>
          <a:bodyPr wrap="square" rtlCol="0" anchor="t"/>
          <a:lstStyle/>
          <a:p>
            <a:pPr rtl="1" algn="r" indent="0" marL="0">
              <a:buNone/>
            </a:pPr>
            <a:r>
              <a:rPr lang="ar-EG" altLang="en-US" sz="1400" dirty="0">
                <a:solidFill>
                  <a:srgbClr val="2B2620"/>
                </a:solidFill>
              </a:rPr>
              <a:t>التعارض على الشاشة أرخص بمراحل من التعارض في الموقع.</a:t>
            </a:r>
            <a:endParaRPr lang="en-US" sz="1400" dirty="0"/>
          </a:p>
        </p:txBody>
      </p:sp>
      <p:sp>
        <p:nvSpPr>
          <p:cNvPr id="15" name="card3"/>
          <p:cNvSpPr/>
          <p:nvPr/>
        </p:nvSpPr>
        <p:spPr>
          <a:xfrm>
            <a:off x="8127797" y="3383280"/>
            <a:ext cx="351525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11002975" y="3566160"/>
            <a:ext cx="457200" cy="457200"/>
          </a:xfrm>
          <a:prstGeom prst="ellipse">
            <a:avLst/>
          </a:prstGeom>
          <a:solidFill>
            <a:schemeClr val="accent2"/>
          </a:solidFill>
          <a:ln/>
        </p:spPr>
      </p:sp>
      <p:sp>
        <p:nvSpPr>
          <p:cNvPr id="17" name="Text 15"/>
          <p:cNvSpPr txBox="1"/>
          <p:nvPr/>
        </p:nvSpPr>
        <p:spPr>
          <a:xfrm>
            <a:off x="11002975"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8310677" y="4114800"/>
            <a:ext cx="3149498" cy="914400"/>
          </a:xfrm>
          <a:prstGeom prst="rect">
            <a:avLst/>
          </a:prstGeom>
          <a:noFill/>
          <a:ln/>
        </p:spPr>
        <p:txBody>
          <a:bodyPr wrap="square" rtlCol="0" anchor="t"/>
          <a:lstStyle/>
          <a:p>
            <a:pPr rtl="1" algn="r" indent="0" marL="0">
              <a:buNone/>
            </a:pPr>
            <a:r>
              <a:rPr lang="ar-EG" altLang="en-US" sz="1400" dirty="0">
                <a:solidFill>
                  <a:srgbClr val="2B2620"/>
                </a:solidFill>
              </a:rPr>
              <a:t>ابدأ بمشروع تجريبي، وابني </a:t>
            </a:r>
            <a:pPr rtl="1" algn="r" indent="0" marL="0">
              <a:buNone/>
            </a:pPr>
            <a:r>
              <a:rPr lang="ar-EG" altLang="en-US" sz="1400" b="1" dirty="0">
                <a:solidFill>
                  <a:srgbClr val="2B2620"/>
                </a:solidFill>
              </a:rPr>
              <a:t>قالب ومكتبة</a:t>
            </a:r>
            <a:pPr rtl="1" algn="r" indent="0" marL="0">
              <a:buNone/>
            </a:pPr>
            <a:r>
              <a:rPr lang="ar-EG" altLang="en-US" sz="1400" dirty="0">
                <a:solidFill>
                  <a:srgbClr val="2B2620"/>
                </a:solidFill>
              </a:rPr>
              <a:t> للمكتب.</a:t>
            </a:r>
            <a:endParaRPr lang="en-US" sz="1400" dirty="0"/>
          </a:p>
        </p:txBody>
      </p:sp>
      <p:sp>
        <p:nvSpPr>
          <p:cNvPr id="19" name="card4"/>
          <p:cNvSpPr/>
          <p:nvPr/>
        </p:nvSpPr>
        <p:spPr>
          <a:xfrm>
            <a:off x="4338218" y="3383280"/>
            <a:ext cx="3515258" cy="1737360"/>
          </a:xfrm>
          <a:prstGeom prst="roundRect">
            <a:avLst>
              <a:gd name="adj" fmla="val 6316"/>
            </a:avLst>
          </a:prstGeom>
          <a:solidFill>
            <a:srgbClr val="F7F2E8"/>
          </a:solidFill>
          <a:ln w="9525">
            <a:solidFill>
              <a:srgbClr val="E6DFD1"/>
            </a:solidFill>
            <a:prstDash val="solid"/>
          </a:ln>
        </p:spPr>
      </p:sp>
      <p:sp>
        <p:nvSpPr>
          <p:cNvPr id="20" name="card-dot4"/>
          <p:cNvSpPr/>
          <p:nvPr/>
        </p:nvSpPr>
        <p:spPr>
          <a:xfrm>
            <a:off x="7213397" y="3566160"/>
            <a:ext cx="457200" cy="457200"/>
          </a:xfrm>
          <a:prstGeom prst="ellipse">
            <a:avLst/>
          </a:prstGeom>
          <a:solidFill>
            <a:schemeClr val="accent2"/>
          </a:solidFill>
          <a:ln/>
        </p:spPr>
      </p:sp>
      <p:sp>
        <p:nvSpPr>
          <p:cNvPr id="21" name="Text 19"/>
          <p:cNvSpPr txBox="1"/>
          <p:nvPr/>
        </p:nvSpPr>
        <p:spPr>
          <a:xfrm>
            <a:off x="7213397"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2" name="Text 20"/>
          <p:cNvSpPr txBox="1"/>
          <p:nvPr/>
        </p:nvSpPr>
        <p:spPr>
          <a:xfrm>
            <a:off x="4521098" y="4114800"/>
            <a:ext cx="3149498" cy="914400"/>
          </a:xfrm>
          <a:prstGeom prst="rect">
            <a:avLst/>
          </a:prstGeom>
          <a:noFill/>
          <a:ln/>
        </p:spPr>
        <p:txBody>
          <a:bodyPr wrap="square" rtlCol="0" anchor="t"/>
          <a:lstStyle/>
          <a:p>
            <a:pPr rtl="1" algn="r" indent="0" marL="0">
              <a:buNone/>
            </a:pPr>
            <a:r>
              <a:rPr lang="ar-EG" altLang="en-US" sz="1400" dirty="0">
                <a:solidFill>
                  <a:srgbClr val="2B2620"/>
                </a:solidFill>
              </a:rPr>
              <a:t>التسليم النهائي للمالك نموذج </a:t>
            </a:r>
            <a:pPr rtl="1" algn="r" indent="0" marL="0">
              <a:buNone/>
            </a:pPr>
            <a:r>
              <a:rPr lang="ar-EG" altLang="en-US" sz="1400" b="1" dirty="0">
                <a:solidFill>
                  <a:srgbClr val="2B2620"/>
                </a:solidFill>
              </a:rPr>
              <a:t>As-Built</a:t>
            </a:r>
            <a:pPr rtl="1" algn="r" indent="0" marL="0">
              <a:buNone/>
            </a:pPr>
            <a:r>
              <a:rPr lang="ar-EG" altLang="en-US" sz="1400" dirty="0">
                <a:solidFill>
                  <a:srgbClr val="2B2620"/>
                </a:solidFill>
              </a:rPr>
              <a:t> فيه بيانات الصيانة.</a:t>
            </a:r>
            <a:endParaRPr lang="en-US" sz="1400" dirty="0"/>
          </a:p>
        </p:txBody>
      </p:sp>
      <p:sp>
        <p:nvSpPr>
          <p:cNvPr id="23" name="Text 21"/>
          <p:cNvSpPr txBox="1"/>
          <p:nvPr/>
        </p:nvSpPr>
        <p:spPr>
          <a:xfrm>
            <a:off x="548640" y="5806440"/>
            <a:ext cx="11094415" cy="457200"/>
          </a:xfrm>
          <a:prstGeom prst="rect">
            <a:avLst/>
          </a:prstGeom>
          <a:solidFill>
            <a:srgbClr val="FBF6EA"/>
          </a:solidFill>
          <a:ln/>
        </p:spPr>
        <p:txBody>
          <a:bodyPr wrap="square" rtlCol="0" anchor="ctr"/>
          <a:lstStyle/>
          <a:p>
            <a:pPr rtl="1" algn="r" indent="0" marL="0">
              <a:buNone/>
            </a:pPr>
            <a:r>
              <a:rPr lang="ar-EG" altLang="en-US" sz="1200" i="1" dirty="0">
                <a:solidFill>
                  <a:srgbClr val="8A5A10"/>
                </a:solidFill>
              </a:rPr>
              <a:t>مختصر وتلخيص م. عمر خميس — مكتبة م. عمر خميس للاسكتش اب.</a:t>
            </a:r>
            <a:endParaRPr lang="en-US" sz="12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728655" cy="1463040"/>
          </a:xfrm>
          <a:prstGeom prst="rect">
            <a:avLst/>
          </a:prstGeom>
          <a:noFill/>
          <a:ln/>
        </p:spPr>
        <p:txBody>
          <a:bodyPr wrap="square" rtlCol="0" anchor="ctr"/>
          <a:lstStyle/>
          <a:p>
            <a:pPr rtl="1" algn="ctr" indent="0" marL="0">
              <a:buNone/>
            </a:pPr>
            <a:r>
              <a:rPr lang="ar-EG" altLang="en-US" sz="4000" b="1" dirty="0">
                <a:solidFill>
                  <a:srgbClr val="FFFFFF"/>
                </a:solidFill>
              </a:rPr>
              <a:t>شكراً</a:t>
            </a:r>
            <a:endParaRPr lang="ar-EG" sz="4000" dirty="0"/>
          </a:p>
        </p:txBody>
      </p:sp>
      <p:sp>
        <p:nvSpPr>
          <p:cNvPr id="3" name="Text 0"/>
          <p:cNvSpPr/>
          <p:nvPr>
            <p:ph idx="101" type="body" hasCustomPrompt="1"/>
          </p:nvPr>
        </p:nvSpPr>
        <p:spPr>
          <a:xfrm>
            <a:off x="1097280" y="3566160"/>
            <a:ext cx="9997135" cy="914400"/>
          </a:xfrm>
          <a:prstGeom prst="rect">
            <a:avLst/>
          </a:prstGeom>
          <a:noFill/>
          <a:ln/>
        </p:spPr>
        <p:txBody>
          <a:bodyPr wrap="square" rtlCol="0"/>
          <a:lstStyle/>
          <a:p>
            <a:pPr rtl="1" algn="ctr" indent="0" marL="0">
              <a:buNone/>
            </a:pPr>
            <a:r>
              <a:rPr lang="ar-EG" altLang="en-US" sz="1800" dirty="0">
                <a:solidFill>
                  <a:srgbClr val="E3C278"/>
                </a:solidFill>
              </a:rPr>
              <a:t>مختصر وتلخيص م. عمر خميس  •  +20 100 543 3170</a:t>
            </a:r>
            <a:endParaRPr lang="ar-EG" sz="1800" dirty="0"/>
          </a:p>
        </p:txBody>
      </p:sp>
      <p:sp>
        <p:nvSpPr>
          <p:cNvPr id="4" name="Text 2"/>
          <p:cNvSpPr txBox="1"/>
          <p:nvPr/>
        </p:nvSpPr>
        <p:spPr>
          <a:xfrm>
            <a:off x="914400" y="5577840"/>
            <a:ext cx="10362895" cy="548640"/>
          </a:xfrm>
          <a:prstGeom prst="rect">
            <a:avLst/>
          </a:prstGeom>
          <a:noFill/>
          <a:ln/>
        </p:spPr>
        <p:txBody>
          <a:bodyPr wrap="square" rtlCol="0" anchor="ctr"/>
          <a:lstStyle/>
          <a:p>
            <a:pPr rtl="1" algn="ctr" indent="0" marL="0">
              <a:buNone/>
            </a:pPr>
            <a:r>
              <a:rPr lang="ar-EG" altLang="en-US" sz="1400" dirty="0">
                <a:solidFill>
                  <a:srgbClr val="E3C278"/>
                </a:solidFill>
              </a:rPr>
              <a:t>لا تنسوا صاحب المكتبة من الدعاء — عمر بن جمال خميس، غفر الله له ولوالديه</a:t>
            </a:r>
            <a:endParaRPr lang="ar-EG" sz="1400" dirty="0"/>
          </a:p>
        </p:txBody>
      </p:sp>
    </p:spTree>
  </p:cSld>
  <p:clrMapOvr>
    <a:masterClrMapping/>
  </p:clrMapOvr>
</p:sld>
</file>

<file path=ppt/theme/theme1.xml><?xml version="1.0" encoding="utf-8"?>
<a:theme xmlns:a="http://schemas.openxmlformats.org/drawingml/2006/main" name="Omar Khamis Library">
  <a:themeElements>
    <a:clrScheme name="Omar Khamis Library">
      <a:dk1>
        <a:srgbClr val="2B2620"/>
      </a:dk1>
      <a:lt1>
        <a:srgbClr val="FFFFFF"/>
      </a:lt1>
      <a:dk2>
        <a:srgbClr val="4A3F2E"/>
      </a:dk2>
      <a:lt2>
        <a:srgbClr val="F3ECDD"/>
      </a:lt2>
      <a:accent1>
        <a:srgbClr val="C9A24A"/>
      </a:accent1>
      <a:accent2>
        <a:srgbClr val="2E7D5B"/>
      </a:accent2>
      <a:accent3>
        <a:srgbClr val="1D5FA8"/>
      </a:accent3>
      <a:accent4>
        <a:srgbClr val="2E7D5B"/>
      </a:accent4>
      <a:accent5>
        <a:srgbClr val="A0522D"/>
      </a:accent5>
      <a:accent6>
        <a:srgbClr val="7A3E65"/>
      </a:accent6>
      <a:hlink>
        <a:srgbClr val="1D5FA8"/>
      </a:hlink>
      <a:folHlink>
        <a:srgbClr val="8A5A10"/>
      </a:folHlink>
    </a:clrScheme>
    <a:fontScheme name="Omar Khamis Librar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Omar Khamis Library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ملخص: دليل نمذجة معلومات البناء BIM</dc:title>
  <dc:subject>PptxGenJS Presentation</dc:subject>
  <dc:creator>Eng. Omar Khamis</dc:creator>
  <cp:lastModifiedBy>Eng. Omar Khamis</cp:lastModifiedBy>
  <cp:revision>1</cp:revision>
  <dcterms:created xsi:type="dcterms:W3CDTF">2026-10-15T12:37:10Z</dcterms:created>
  <dcterms:modified xsi:type="dcterms:W3CDTF">2026-10-15T12:37:10Z</dcterms:modified>
</cp:coreProperties>
</file>