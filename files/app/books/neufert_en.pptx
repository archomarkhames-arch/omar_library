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c118190-66b3-00a7-8e87-036eac8e1957}">
          <p14:sldIdLst>
            <p14:sldId id="256"/>
          </p14:sldIdLst>
        </p14:section>
        <p14:section name="Contents" id="{df748454-7c46-87c7-d1c6-669dfaf76af4}">
          <p14:sldIdLst>
            <p14:sldId id="257"/>
          </p14:sldIdLst>
        </p14:section>
        <p14:section name="Summary" id="{bd0fbe95-5e6c-8b04-a403-1245fc6bc009}">
          <p14:sldIdLst>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Closing" id="{1b2e999d-c9fe-2418-38ec-14744d21371c}">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Ernst Neufert's Architects' Data first appeared in German in 1936 as Bauentwurfslehre and has since become the best-known dimensional reference in the world. The 5th English edition (2019) was edited by a team led by Johannes Kister and updated to current European standards.
The book is not read from cover to cover. It is an atlas of sheets: almost every page is a dimensioned drawing, and every building type has a group of sheets showing the spaces it needs, their sizes and how they relate.
Using the book well
Start with the chapter for your project type (housing, office, school...) and learn the usual space programme.
Go back to the basics (human body and movement) when you need to justify a corridor width or a clearance around furniture.
Treat every figure as a starting point, then check it against the local code (Egyptian, Saudi...) and the client's requirements.
How the book is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Neufert's core idea is that the human body and its movement set the dimensions of everything around it, from a stair riser to a corridor width and a ceiling height.
Approximate body dimensions (average adult)
Movement space
One person walking needs about 60–65 cm; with bags about 75–80 cm.
Two people side by side or passing: 110–125 cm.
Wheelchair: 75–80 cm wide, turning circle 150 cm diameter.
Comfortable reach zones
Frequently used shelves between 70 and 170 cm.
Below 40 cm and above 190 cm: storage that is rarely used.
Standing work surfaces: about 10–15 cm below elbow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Modular coordination means element sizes are multiples of a basic unit so parts fit together with little cutting.
The common basic module worldwide is M = 10 cm, with multiples 3M, 6M and 12M.
Tiles of 30, 60 and 120, plasterboard 120 cm wide, bricks about 25×12×6 are all designed to fit a grid.
When a plan sits on a regular grid (60 or 120 cm, say), waste in tiles, ceilings and partitions drops.
Proportion and scale
Neufert discusses aesthetic proportions (such as the golden ratio 1:1.618) and how architects have used them. In practice the key is consistency: the same grid and rhythm in plan and elevation.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 scales: site plan 1:500 or 1:200, plans 1:100 or 1:50, details 1:20, 1:10 and 1:5.
Each scale has its level of detail: at 1:100 a wall is two lines; at 1:20 plaster and insulation layers show.
Dimensioning: staggered external dimension lines (openings, grid, overall) and levels relative to the project datum.
Drawing stages in a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 rule
Neufert's well-known rule: 2 × riser + tread ≈ 63 cm (a normal human stride), acceptable between 59 and 65.
General requirements
Minimum headroom over a stair about 210 cm.
A landing after about 16–18 steps in one flight.
Landing at least as wide as the stair.
Handrail about 90 cm above the nosing, higher in public buildings and at upper floors.
Ramps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Doors
Door swing: open towards the wall, not into the room, and never hit another door or furniture.
Escape doors in public buildings open in the direction of escape.
Windows
Sill height in living rooms and bedrooms 80–100 cm, kitchen above worktop 105–110 cm, bathroom 150–170 cm.
Glazing for daylight about 1/8 to 1/10 of floor area, at least half of it openable (the local code decides).
A room is well daylit from one window to a depth of about 2–2.5 times the window head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approximate areas
Relationships between spaces
Separate the public zone (reception, living, dining, kitchen, guest WC) from the private zone (bedrooms and bathrooms).
Kitchen close to dining and to the service entrance.
An en-suite for the master bedroom and a shared bathroom for the other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triangle
The three sides (sink, hob, fridge) total 4.0–7.9 m.
Each side 1.2–2.7 m.
Sink in the middle; hob away from the window and the fridge.
Heights and depths
Kitchen layouts
I (single run): narrow spaces, 2.4–3.6 m long.
II (galley): very efficient, 1.2 m aisle.
L: the most common, comfortable triangle.
U: most storage, needs at least 2.4 m width.
Island: needs 1.0–1.2 m all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Bathroom floor falls 1–2% to the drain and sits 1–2 cm below the corridor.
Accessible bathroom: 150 cm turning circle and grab bars at 70–75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Dining
60 cm width and 40 cm depth per diner.
Behind a chair 75–90 cm to sit and rise, 90–120 cm to pass behind.
Living
Sofa: seat 40–45 cm, depth 85–100 cm.
Coffee table 40–45 cm from the sofa.
TV viewing distance about 1.5–2.5 times the screen diagonal.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8–12 m² per person in open plan including circulation; a private manager's office 15–25 m².
Desk top 72–75 cm, 80–100 cm behind the chair.
Meeting room about 2–2.5 m² per person.
About 500 lux on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Classroom about 1.8–2.2 m² per pupil depending on age.
Classroom depth preferably no more than 7–8 m for daylight from one side.
School corridors are wider (often 1.8–2.4 m or per code) because of crowd flows.
Labs and workshops need more area per pupil and special ventilation.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rooms: space for the bed with at least 90 cm on the sides for nursing.
Corridors used by beds about 2.4 m (per the health code).
Patient room doors wide enough for a bed (about 110–130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Hotels
A standard hotel room is about 24–32 m² including the bathroom.
Room width 3.6–4.2 m for the bed, passage and wardrobe.
Restaurants
Dining area about 1.2–1.8 m² per seat depending on the standard.
Commercial kitchen about 30–40% of the dining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height in a car park at least 2.10–2.30 m under beams.
Accessible bay 3.50 m wide, close to the lift or entrance.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Daylight
North light (northern hemisphere) is steady and glare-free; south needs shading.
In Egypt and Saudi Arabia: minimise west openings, use horizontal shading to the south and vertical fins east and west.
Artificial lighting
Ventilation and sound
Cross ventilation (windows on opposite walls) is far more effective than a single window.
Sound separation between dwellings depends on the mass of the wall/slab and on breaks and insulation.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Garden paths 1.2–2.0 m, a car drive 3.0–3.5 m.
External steps with lower risers (12–15 cm) and deeper treads.
A common residential pool is 8×4 m or 10×5 m, 1.2 to 1.8 m deep or more for diving.
Large trees at least 4–6 m from buildings because of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Neufert is a reference for dimensions and spaces — use it at the start of design and to review plans.
Every figure is guidance and must match the local code and requirements.
Design for movement around furniture, not just for the furniture.
Keep plans on a regular grid to make building easier and cheaper.
Remember the basics: step 17×29, door 90×210, corridor 110–120, chair 45, table 75, worktop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K_TITLE">
    <p:bg>
      <p:bgPr>
        <a:solidFill>
          <a:srgbClr val="2B26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lvl1pPr algn="ctr" indent="0" marL="0">
              <a:buNone/>
              <a:defRPr lang="en-US" sz="1800" dirty="0">
                <a:solidFill>
                  <a:srgbClr val="E3C278"/>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000" b="1" dirty="0">
                <a:solidFill>
                  <a:srgbClr val="2B2620"/>
                </a:solidFill>
              </a:defRPr>
            </a:lvl1pPr>
          </a:lstStyle>
          <a:p>
            <a:pPr algn="l" indent="0" marL="0">
              <a:buNone/>
            </a:pPr>
            <a:endParaRPr lang="en-US" sz="3000" dirty="0"/>
          </a:p>
        </p:txBody>
      </p:sp>
      <p:sp>
        <p:nvSpPr>
          <p:cNvPr id="3" name="Text 0"/>
          <p:cNvSpPr/>
          <p:nvPr/>
        </p:nvSpPr>
        <p:spPr>
          <a:xfrm>
            <a:off x="548640" y="6400800"/>
            <a:ext cx="7315200" cy="320040"/>
          </a:xfrm>
          <a:prstGeom prst="rect">
            <a:avLst/>
          </a:prstGeom>
          <a:noFill/>
          <a:ln/>
        </p:spPr>
        <p:txBody>
          <a:bodyPr wrap="square" rtlCol="0" anchor="ctr"/>
          <a:lstStyle/>
          <a:p>
            <a:pPr algn="l" indent="0" marL="0">
              <a:buNone/>
            </a:pPr>
            <a:r>
              <a:rPr lang="en-US" altLang="en-US" sz="1000" dirty="0">
                <a:solidFill>
                  <a:srgbClr val="8A7E6A"/>
                </a:solidFill>
              </a:rPr>
              <a:t>Summary by Eng. Omar Khamis  —  +20 100 543 3170</a:t>
            </a:r>
            <a:endParaRPr lang="en-US" sz="10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algn="ctr" indent="0" marL="0">
              <a:buNone/>
            </a:pPr>
            <a:r>
              <a:rPr lang="en-US" altLang="en-US" sz="4000" b="1" dirty="0">
                <a:solidFill>
                  <a:srgbClr val="FFFFFF"/>
                </a:solidFill>
              </a:rPr>
              <a:t>Summary: Neufert Architects' Data</a:t>
            </a: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algn="ctr" indent="0" marL="0">
              <a:buNone/>
            </a:pPr>
            <a:r>
              <a:rPr lang="en-US" altLang="en-US" sz="1800" dirty="0">
                <a:solidFill>
                  <a:srgbClr val="E3C278"/>
                </a:solidFill>
              </a:rPr>
              <a:t>Summary by Eng. Omar Khamis  •  Omar Khamis Library — 2026</a:t>
            </a:r>
            <a:endParaRPr lang="en-US" sz="1800" dirty="0"/>
          </a:p>
        </p:txBody>
      </p:sp>
      <p:sp>
        <p:nvSpPr>
          <p:cNvPr id="4" name="logo-circle"/>
          <p:cNvSpPr/>
          <p:nvPr/>
        </p:nvSpPr>
        <p:spPr>
          <a:xfrm>
            <a:off x="5592928" y="731520"/>
            <a:ext cx="1005840" cy="1005840"/>
          </a:xfrm>
          <a:prstGeom prst="ellipse">
            <a:avLst/>
          </a:prstGeom>
          <a:solidFill>
            <a:srgbClr val="C9A24A"/>
          </a:solidFill>
          <a:ln/>
        </p:spPr>
      </p:sp>
      <p:sp>
        <p:nvSpPr>
          <p:cNvPr id="5" name="logo"/>
          <p:cNvSpPr txBox="1"/>
          <p:nvPr/>
        </p:nvSpPr>
        <p:spPr>
          <a:xfrm>
            <a:off x="5592928" y="731520"/>
            <a:ext cx="1005840" cy="1005840"/>
          </a:xfrm>
          <a:prstGeom prst="rect">
            <a:avLst/>
          </a:prstGeom>
          <a:noFill/>
          <a:ln/>
        </p:spPr>
        <p:txBody>
          <a:bodyPr wrap="square" rtlCol="0" anchor="ctr"/>
          <a:lstStyle/>
          <a:p>
            <a:pPr algn="ctr" indent="0" marL="0">
              <a:buNone/>
            </a:pPr>
            <a:r>
              <a:rPr lang="en-US" sz="2800" b="1" dirty="0">
                <a:solidFill>
                  <a:srgbClr val="2B2620"/>
                </a:solidFill>
              </a:rPr>
              <a:t>OK</a:t>
            </a:r>
            <a:endParaRPr lang="en-US" sz="2800" dirty="0"/>
          </a:p>
        </p:txBody>
      </p:sp>
      <p:sp>
        <p:nvSpPr>
          <p:cNvPr id="6" name="Text 4"/>
          <p:cNvSpPr txBox="1"/>
          <p:nvPr/>
        </p:nvSpPr>
        <p:spPr>
          <a:xfrm>
            <a:off x="914400" y="5760720"/>
            <a:ext cx="10362895" cy="457200"/>
          </a:xfrm>
          <a:prstGeom prst="rect">
            <a:avLst/>
          </a:prstGeom>
          <a:noFill/>
          <a:ln/>
        </p:spPr>
        <p:txBody>
          <a:bodyPr wrap="square" rtlCol="0" anchor="ctr"/>
          <a:lstStyle/>
          <a:p>
            <a:pPr algn="ctr" indent="0" marL="0">
              <a:buNone/>
            </a:pPr>
            <a:r>
              <a:rPr lang="en-US" altLang="en-US" sz="1200" dirty="0">
                <a:solidFill>
                  <a:srgbClr val="B9AE97"/>
                </a:solidFill>
              </a:rPr>
              <a:t>A learning summary — not a substitute for the original book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What this deck covers</a:t>
            </a:r>
            <a:endParaRPr lang="en-US" sz="3000" dirty="0"/>
          </a:p>
        </p:txBody>
      </p:sp>
      <p:sp>
        <p:nvSpPr>
          <p:cNvPr id="3" name="n1"/>
          <p:cNvSpPr/>
          <p:nvPr/>
        </p:nvSpPr>
        <p:spPr>
          <a:xfrm>
            <a:off x="548640" y="1362456"/>
            <a:ext cx="384048" cy="384048"/>
          </a:xfrm>
          <a:prstGeom prst="ellipse">
            <a:avLst/>
          </a:prstGeom>
          <a:solidFill>
            <a:schemeClr val="accent1"/>
          </a:solidFill>
          <a:ln/>
        </p:spPr>
      </p:sp>
      <p:sp>
        <p:nvSpPr>
          <p:cNvPr id="4" name="Text 2"/>
          <p:cNvSpPr txBox="1"/>
          <p:nvPr/>
        </p:nvSpPr>
        <p:spPr>
          <a:xfrm>
            <a:off x="548640"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51560" y="1325880"/>
            <a:ext cx="4907128" cy="457200"/>
          </a:xfrm>
          <a:prstGeom prst="rect">
            <a:avLst/>
          </a:prstGeom>
          <a:noFill/>
          <a:ln/>
        </p:spPr>
        <p:txBody>
          <a:bodyPr wrap="square" rtlCol="0" anchor="ctr"/>
          <a:lstStyle/>
          <a:p>
            <a:pPr algn="l" indent="0" marL="0">
              <a:buNone/>
            </a:pPr>
            <a:r>
              <a:rPr lang="en-US" altLang="en-US" sz="1500" dirty="0">
                <a:solidFill>
                  <a:schemeClr val="tx1"/>
                </a:solidFill>
              </a:rPr>
              <a:t>Introduction: why Neufert?</a:t>
            </a:r>
            <a:endParaRPr lang="en-US" sz="1500" dirty="0"/>
          </a:p>
        </p:txBody>
      </p:sp>
      <p:sp>
        <p:nvSpPr>
          <p:cNvPr id="6" name="n2"/>
          <p:cNvSpPr/>
          <p:nvPr/>
        </p:nvSpPr>
        <p:spPr>
          <a:xfrm>
            <a:off x="548640" y="1874520"/>
            <a:ext cx="384048" cy="384048"/>
          </a:xfrm>
          <a:prstGeom prst="ellipse">
            <a:avLst/>
          </a:prstGeom>
          <a:solidFill>
            <a:schemeClr val="accent1"/>
          </a:solidFill>
          <a:ln/>
        </p:spPr>
      </p:sp>
      <p:sp>
        <p:nvSpPr>
          <p:cNvPr id="7" name="Text 5"/>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51560" y="1837944"/>
            <a:ext cx="4907128" cy="457200"/>
          </a:xfrm>
          <a:prstGeom prst="rect">
            <a:avLst/>
          </a:prstGeom>
          <a:noFill/>
          <a:ln/>
        </p:spPr>
        <p:txBody>
          <a:bodyPr wrap="square" rtlCol="0" anchor="ctr"/>
          <a:lstStyle/>
          <a:p>
            <a:pPr algn="l" indent="0" marL="0">
              <a:buNone/>
            </a:pPr>
            <a:r>
              <a:rPr lang="en-US" altLang="en-US" sz="1500" dirty="0">
                <a:solidFill>
                  <a:schemeClr val="tx1"/>
                </a:solidFill>
              </a:rPr>
              <a:t>The human as the measure</a:t>
            </a:r>
            <a:endParaRPr lang="en-US" sz="1500" dirty="0"/>
          </a:p>
        </p:txBody>
      </p:sp>
      <p:sp>
        <p:nvSpPr>
          <p:cNvPr id="9" name="n3"/>
          <p:cNvSpPr/>
          <p:nvPr/>
        </p:nvSpPr>
        <p:spPr>
          <a:xfrm>
            <a:off x="548640" y="2386584"/>
            <a:ext cx="384048" cy="384048"/>
          </a:xfrm>
          <a:prstGeom prst="ellipse">
            <a:avLst/>
          </a:prstGeom>
          <a:solidFill>
            <a:schemeClr val="accent1"/>
          </a:solidFill>
          <a:ln/>
        </p:spPr>
      </p:sp>
      <p:sp>
        <p:nvSpPr>
          <p:cNvPr id="10" name="Text 8"/>
          <p:cNvSpPr txBox="1"/>
          <p:nvPr/>
        </p:nvSpPr>
        <p:spPr>
          <a:xfrm>
            <a:off x="548640"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51560" y="2350008"/>
            <a:ext cx="4907128" cy="457200"/>
          </a:xfrm>
          <a:prstGeom prst="rect">
            <a:avLst/>
          </a:prstGeom>
          <a:noFill/>
          <a:ln/>
        </p:spPr>
        <p:txBody>
          <a:bodyPr wrap="square" rtlCol="0" anchor="ctr"/>
          <a:lstStyle/>
          <a:p>
            <a:pPr algn="l" indent="0" marL="0">
              <a:buNone/>
            </a:pPr>
            <a:r>
              <a:rPr lang="en-US" altLang="en-US" sz="1500" dirty="0">
                <a:solidFill>
                  <a:schemeClr val="tx1"/>
                </a:solidFill>
              </a:rPr>
              <a:t>Units and dimensional coordination</a:t>
            </a:r>
            <a:endParaRPr lang="en-US" sz="1500" dirty="0"/>
          </a:p>
        </p:txBody>
      </p:sp>
      <p:sp>
        <p:nvSpPr>
          <p:cNvPr id="12" name="n4"/>
          <p:cNvSpPr/>
          <p:nvPr/>
        </p:nvSpPr>
        <p:spPr>
          <a:xfrm>
            <a:off x="548640" y="2898648"/>
            <a:ext cx="384048" cy="384048"/>
          </a:xfrm>
          <a:prstGeom prst="ellipse">
            <a:avLst/>
          </a:prstGeom>
          <a:solidFill>
            <a:schemeClr val="accent1"/>
          </a:solidFill>
          <a:ln/>
        </p:spPr>
      </p:sp>
      <p:sp>
        <p:nvSpPr>
          <p:cNvPr id="13" name="Text 11"/>
          <p:cNvSpPr txBox="1"/>
          <p:nvPr/>
        </p:nvSpPr>
        <p:spPr>
          <a:xfrm>
            <a:off x="54864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51560" y="2862072"/>
            <a:ext cx="4907128" cy="457200"/>
          </a:xfrm>
          <a:prstGeom prst="rect">
            <a:avLst/>
          </a:prstGeom>
          <a:noFill/>
          <a:ln/>
        </p:spPr>
        <p:txBody>
          <a:bodyPr wrap="square" rtlCol="0" anchor="ctr"/>
          <a:lstStyle/>
          <a:p>
            <a:pPr algn="l" indent="0" marL="0">
              <a:buNone/>
            </a:pPr>
            <a:r>
              <a:rPr lang="en-US" altLang="en-US" sz="1500" dirty="0">
                <a:solidFill>
                  <a:schemeClr val="tx1"/>
                </a:solidFill>
              </a:rPr>
              <a:t>Architectural drawing and scales</a:t>
            </a:r>
            <a:endParaRPr lang="en-US" sz="1500" dirty="0"/>
          </a:p>
        </p:txBody>
      </p:sp>
      <p:sp>
        <p:nvSpPr>
          <p:cNvPr id="15" name="n5"/>
          <p:cNvSpPr/>
          <p:nvPr/>
        </p:nvSpPr>
        <p:spPr>
          <a:xfrm>
            <a:off x="548640" y="3410712"/>
            <a:ext cx="384048" cy="384048"/>
          </a:xfrm>
          <a:prstGeom prst="ellipse">
            <a:avLst/>
          </a:prstGeom>
          <a:solidFill>
            <a:schemeClr val="accent1"/>
          </a:solidFill>
          <a:ln/>
        </p:spPr>
      </p:sp>
      <p:sp>
        <p:nvSpPr>
          <p:cNvPr id="16" name="Text 14"/>
          <p:cNvSpPr txBox="1"/>
          <p:nvPr/>
        </p:nvSpPr>
        <p:spPr>
          <a:xfrm>
            <a:off x="548640"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51560" y="3374136"/>
            <a:ext cx="4907128" cy="457200"/>
          </a:xfrm>
          <a:prstGeom prst="rect">
            <a:avLst/>
          </a:prstGeom>
          <a:noFill/>
          <a:ln/>
        </p:spPr>
        <p:txBody>
          <a:bodyPr wrap="square" rtlCol="0" anchor="ctr"/>
          <a:lstStyle/>
          <a:p>
            <a:pPr algn="l" indent="0" marL="0">
              <a:buNone/>
            </a:pPr>
            <a:r>
              <a:rPr lang="en-US" altLang="en-US" sz="1500" dirty="0">
                <a:solidFill>
                  <a:schemeClr val="tx1"/>
                </a:solidFill>
              </a:rPr>
              <a:t>Stairs and ramps</a:t>
            </a:r>
            <a:endParaRPr lang="en-US" sz="1500" dirty="0"/>
          </a:p>
        </p:txBody>
      </p:sp>
      <p:sp>
        <p:nvSpPr>
          <p:cNvPr id="18" name="n6"/>
          <p:cNvSpPr/>
          <p:nvPr/>
        </p:nvSpPr>
        <p:spPr>
          <a:xfrm>
            <a:off x="548640" y="3922776"/>
            <a:ext cx="384048" cy="384048"/>
          </a:xfrm>
          <a:prstGeom prst="ellipse">
            <a:avLst/>
          </a:prstGeom>
          <a:solidFill>
            <a:schemeClr val="accent1"/>
          </a:solidFill>
          <a:ln/>
        </p:spPr>
      </p:sp>
      <p:sp>
        <p:nvSpPr>
          <p:cNvPr id="19" name="Text 17"/>
          <p:cNvSpPr txBox="1"/>
          <p:nvPr/>
        </p:nvSpPr>
        <p:spPr>
          <a:xfrm>
            <a:off x="548640"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51560" y="3886200"/>
            <a:ext cx="4907128" cy="457200"/>
          </a:xfrm>
          <a:prstGeom prst="rect">
            <a:avLst/>
          </a:prstGeom>
          <a:noFill/>
          <a:ln/>
        </p:spPr>
        <p:txBody>
          <a:bodyPr wrap="square" rtlCol="0" anchor="ctr"/>
          <a:lstStyle/>
          <a:p>
            <a:pPr algn="l" indent="0" marL="0">
              <a:buNone/>
            </a:pPr>
            <a:r>
              <a:rPr lang="en-US" altLang="en-US" sz="1500" dirty="0">
                <a:solidFill>
                  <a:schemeClr val="tx1"/>
                </a:solidFill>
              </a:rPr>
              <a:t>Doors and windows</a:t>
            </a:r>
            <a:endParaRPr lang="en-US" sz="1500" dirty="0"/>
          </a:p>
        </p:txBody>
      </p:sp>
      <p:sp>
        <p:nvSpPr>
          <p:cNvPr id="21" name="n7"/>
          <p:cNvSpPr/>
          <p:nvPr/>
        </p:nvSpPr>
        <p:spPr>
          <a:xfrm>
            <a:off x="548640" y="4434840"/>
            <a:ext cx="384048" cy="384048"/>
          </a:xfrm>
          <a:prstGeom prst="ellipse">
            <a:avLst/>
          </a:prstGeom>
          <a:solidFill>
            <a:schemeClr val="accent1"/>
          </a:solidFill>
          <a:ln/>
        </p:spPr>
      </p:sp>
      <p:sp>
        <p:nvSpPr>
          <p:cNvPr id="22" name="Text 20"/>
          <p:cNvSpPr txBox="1"/>
          <p:nvPr/>
        </p:nvSpPr>
        <p:spPr>
          <a:xfrm>
            <a:off x="548640"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51560" y="4398264"/>
            <a:ext cx="4907128" cy="457200"/>
          </a:xfrm>
          <a:prstGeom prst="rect">
            <a:avLst/>
          </a:prstGeom>
          <a:noFill/>
          <a:ln/>
        </p:spPr>
        <p:txBody>
          <a:bodyPr wrap="square" rtlCol="0" anchor="ctr"/>
          <a:lstStyle/>
          <a:p>
            <a:pPr algn="l" indent="0" marL="0">
              <a:buNone/>
            </a:pPr>
            <a:r>
              <a:rPr lang="en-US" altLang="en-US" sz="1500" dirty="0">
                <a:solidFill>
                  <a:schemeClr val="tx1"/>
                </a:solidFill>
              </a:rPr>
              <a:t>Housing: rooms and areas</a:t>
            </a:r>
            <a:endParaRPr lang="en-US" sz="1500" dirty="0"/>
          </a:p>
        </p:txBody>
      </p:sp>
      <p:sp>
        <p:nvSpPr>
          <p:cNvPr id="24" name="n8"/>
          <p:cNvSpPr/>
          <p:nvPr/>
        </p:nvSpPr>
        <p:spPr>
          <a:xfrm>
            <a:off x="548640" y="4946904"/>
            <a:ext cx="384048" cy="384048"/>
          </a:xfrm>
          <a:prstGeom prst="ellipse">
            <a:avLst/>
          </a:prstGeom>
          <a:solidFill>
            <a:schemeClr val="accent1"/>
          </a:solidFill>
          <a:ln/>
        </p:spPr>
      </p:sp>
      <p:sp>
        <p:nvSpPr>
          <p:cNvPr id="25" name="Text 23"/>
          <p:cNvSpPr txBox="1"/>
          <p:nvPr/>
        </p:nvSpPr>
        <p:spPr>
          <a:xfrm>
            <a:off x="548640" y="4946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1051560" y="4910328"/>
            <a:ext cx="4907128" cy="457200"/>
          </a:xfrm>
          <a:prstGeom prst="rect">
            <a:avLst/>
          </a:prstGeom>
          <a:noFill/>
          <a:ln/>
        </p:spPr>
        <p:txBody>
          <a:bodyPr wrap="square" rtlCol="0" anchor="ctr"/>
          <a:lstStyle/>
          <a:p>
            <a:pPr algn="l" indent="0" marL="0">
              <a:buNone/>
            </a:pPr>
            <a:r>
              <a:rPr lang="en-US" altLang="en-US" sz="1500" dirty="0">
                <a:solidFill>
                  <a:schemeClr val="tx1"/>
                </a:solidFill>
              </a:rPr>
              <a:t>The kitchen</a:t>
            </a:r>
            <a:endParaRPr lang="en-US" sz="1500" dirty="0"/>
          </a:p>
        </p:txBody>
      </p:sp>
      <p:sp>
        <p:nvSpPr>
          <p:cNvPr id="27" name="n9"/>
          <p:cNvSpPr/>
          <p:nvPr/>
        </p:nvSpPr>
        <p:spPr>
          <a:xfrm>
            <a:off x="548640" y="5458968"/>
            <a:ext cx="384048" cy="384048"/>
          </a:xfrm>
          <a:prstGeom prst="ellipse">
            <a:avLst/>
          </a:prstGeom>
          <a:solidFill>
            <a:schemeClr val="accent1"/>
          </a:solidFill>
          <a:ln/>
        </p:spPr>
      </p:sp>
      <p:sp>
        <p:nvSpPr>
          <p:cNvPr id="28" name="Text 26"/>
          <p:cNvSpPr txBox="1"/>
          <p:nvPr/>
        </p:nvSpPr>
        <p:spPr>
          <a:xfrm>
            <a:off x="548640" y="5458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29" name="Text 27"/>
          <p:cNvSpPr txBox="1"/>
          <p:nvPr/>
        </p:nvSpPr>
        <p:spPr>
          <a:xfrm>
            <a:off x="1051560" y="5422392"/>
            <a:ext cx="4907128" cy="457200"/>
          </a:xfrm>
          <a:prstGeom prst="rect">
            <a:avLst/>
          </a:prstGeom>
          <a:noFill/>
          <a:ln/>
        </p:spPr>
        <p:txBody>
          <a:bodyPr wrap="square" rtlCol="0" anchor="ctr"/>
          <a:lstStyle/>
          <a:p>
            <a:pPr algn="l" indent="0" marL="0">
              <a:buNone/>
            </a:pPr>
            <a:r>
              <a:rPr lang="en-US" altLang="en-US" sz="1500" dirty="0">
                <a:solidFill>
                  <a:schemeClr val="tx1"/>
                </a:solidFill>
              </a:rPr>
              <a:t>Bathrooms</a:t>
            </a:r>
            <a:endParaRPr lang="en-US" sz="1500" dirty="0"/>
          </a:p>
        </p:txBody>
      </p:sp>
      <p:sp>
        <p:nvSpPr>
          <p:cNvPr id="30" name="n10"/>
          <p:cNvSpPr/>
          <p:nvPr/>
        </p:nvSpPr>
        <p:spPr>
          <a:xfrm>
            <a:off x="6187288" y="1362456"/>
            <a:ext cx="384048" cy="384048"/>
          </a:xfrm>
          <a:prstGeom prst="ellipse">
            <a:avLst/>
          </a:prstGeom>
          <a:solidFill>
            <a:schemeClr val="accent1"/>
          </a:solidFill>
          <a:ln/>
        </p:spPr>
      </p:sp>
      <p:sp>
        <p:nvSpPr>
          <p:cNvPr id="31" name="Text 29"/>
          <p:cNvSpPr txBox="1"/>
          <p:nvPr/>
        </p:nvSpPr>
        <p:spPr>
          <a:xfrm>
            <a:off x="6187288"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2" name="Text 30"/>
          <p:cNvSpPr txBox="1"/>
          <p:nvPr/>
        </p:nvSpPr>
        <p:spPr>
          <a:xfrm>
            <a:off x="6690208" y="1325880"/>
            <a:ext cx="4907128" cy="457200"/>
          </a:xfrm>
          <a:prstGeom prst="rect">
            <a:avLst/>
          </a:prstGeom>
          <a:noFill/>
          <a:ln/>
        </p:spPr>
        <p:txBody>
          <a:bodyPr wrap="square" rtlCol="0" anchor="ctr"/>
          <a:lstStyle/>
          <a:p>
            <a:pPr algn="l" indent="0" marL="0">
              <a:buNone/>
            </a:pPr>
            <a:r>
              <a:rPr lang="en-US" altLang="en-US" sz="1500" dirty="0">
                <a:solidFill>
                  <a:schemeClr val="tx1"/>
                </a:solidFill>
              </a:rPr>
              <a:t>Seating and dining</a:t>
            </a:r>
            <a:endParaRPr lang="en-US" sz="1500" dirty="0"/>
          </a:p>
        </p:txBody>
      </p:sp>
      <p:sp>
        <p:nvSpPr>
          <p:cNvPr id="33" name="n11"/>
          <p:cNvSpPr/>
          <p:nvPr/>
        </p:nvSpPr>
        <p:spPr>
          <a:xfrm>
            <a:off x="6187288" y="1874520"/>
            <a:ext cx="384048" cy="384048"/>
          </a:xfrm>
          <a:prstGeom prst="ellipse">
            <a:avLst/>
          </a:prstGeom>
          <a:solidFill>
            <a:schemeClr val="accent1"/>
          </a:solidFill>
          <a:ln/>
        </p:spPr>
      </p:sp>
      <p:sp>
        <p:nvSpPr>
          <p:cNvPr id="34" name="Text 32"/>
          <p:cNvSpPr txBox="1"/>
          <p:nvPr/>
        </p:nvSpPr>
        <p:spPr>
          <a:xfrm>
            <a:off x="618728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5" name="Text 33"/>
          <p:cNvSpPr txBox="1"/>
          <p:nvPr/>
        </p:nvSpPr>
        <p:spPr>
          <a:xfrm>
            <a:off x="6690208" y="1837944"/>
            <a:ext cx="4907128" cy="457200"/>
          </a:xfrm>
          <a:prstGeom prst="rect">
            <a:avLst/>
          </a:prstGeom>
          <a:noFill/>
          <a:ln/>
        </p:spPr>
        <p:txBody>
          <a:bodyPr wrap="square" rtlCol="0" anchor="ctr"/>
          <a:lstStyle/>
          <a:p>
            <a:pPr algn="l" indent="0" marL="0">
              <a:buNone/>
            </a:pPr>
            <a:r>
              <a:rPr lang="en-US" altLang="en-US" sz="1500" dirty="0">
                <a:solidFill>
                  <a:schemeClr val="tx1"/>
                </a:solidFill>
              </a:rPr>
              <a:t>Offices</a:t>
            </a:r>
            <a:endParaRPr lang="en-US" sz="1500" dirty="0"/>
          </a:p>
        </p:txBody>
      </p:sp>
      <p:sp>
        <p:nvSpPr>
          <p:cNvPr id="36" name="n12"/>
          <p:cNvSpPr/>
          <p:nvPr/>
        </p:nvSpPr>
        <p:spPr>
          <a:xfrm>
            <a:off x="6187288" y="2386584"/>
            <a:ext cx="384048" cy="384048"/>
          </a:xfrm>
          <a:prstGeom prst="ellipse">
            <a:avLst/>
          </a:prstGeom>
          <a:solidFill>
            <a:schemeClr val="accent1"/>
          </a:solidFill>
          <a:ln/>
        </p:spPr>
      </p:sp>
      <p:sp>
        <p:nvSpPr>
          <p:cNvPr id="37" name="Text 35"/>
          <p:cNvSpPr txBox="1"/>
          <p:nvPr/>
        </p:nvSpPr>
        <p:spPr>
          <a:xfrm>
            <a:off x="6187288"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12</a:t>
            </a:r>
            <a:endParaRPr lang="en-US" sz="1300" dirty="0"/>
          </a:p>
        </p:txBody>
      </p:sp>
      <p:sp>
        <p:nvSpPr>
          <p:cNvPr id="38" name="Text 36"/>
          <p:cNvSpPr txBox="1"/>
          <p:nvPr/>
        </p:nvSpPr>
        <p:spPr>
          <a:xfrm>
            <a:off x="6690208" y="2350008"/>
            <a:ext cx="4907128" cy="457200"/>
          </a:xfrm>
          <a:prstGeom prst="rect">
            <a:avLst/>
          </a:prstGeom>
          <a:noFill/>
          <a:ln/>
        </p:spPr>
        <p:txBody>
          <a:bodyPr wrap="square" rtlCol="0" anchor="ctr"/>
          <a:lstStyle/>
          <a:p>
            <a:pPr algn="l" indent="0" marL="0">
              <a:buNone/>
            </a:pPr>
            <a:r>
              <a:rPr lang="en-US" altLang="en-US" sz="1500" dirty="0">
                <a:solidFill>
                  <a:schemeClr val="tx1"/>
                </a:solidFill>
              </a:rPr>
              <a:t>Schools</a:t>
            </a:r>
            <a:endParaRPr lang="en-US" sz="1500" dirty="0"/>
          </a:p>
        </p:txBody>
      </p:sp>
      <p:sp>
        <p:nvSpPr>
          <p:cNvPr id="39" name="n13"/>
          <p:cNvSpPr/>
          <p:nvPr/>
        </p:nvSpPr>
        <p:spPr>
          <a:xfrm>
            <a:off x="6187288" y="2898648"/>
            <a:ext cx="384048" cy="384048"/>
          </a:xfrm>
          <a:prstGeom prst="ellipse">
            <a:avLst/>
          </a:prstGeom>
          <a:solidFill>
            <a:schemeClr val="accent1"/>
          </a:solidFill>
          <a:ln/>
        </p:spPr>
      </p:sp>
      <p:sp>
        <p:nvSpPr>
          <p:cNvPr id="40" name="Text 38"/>
          <p:cNvSpPr txBox="1"/>
          <p:nvPr/>
        </p:nvSpPr>
        <p:spPr>
          <a:xfrm>
            <a:off x="618728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13</a:t>
            </a:r>
            <a:endParaRPr lang="en-US" sz="1300" dirty="0"/>
          </a:p>
        </p:txBody>
      </p:sp>
      <p:sp>
        <p:nvSpPr>
          <p:cNvPr id="41" name="Text 39"/>
          <p:cNvSpPr txBox="1"/>
          <p:nvPr/>
        </p:nvSpPr>
        <p:spPr>
          <a:xfrm>
            <a:off x="6690208" y="2862072"/>
            <a:ext cx="4907128" cy="457200"/>
          </a:xfrm>
          <a:prstGeom prst="rect">
            <a:avLst/>
          </a:prstGeom>
          <a:noFill/>
          <a:ln/>
        </p:spPr>
        <p:txBody>
          <a:bodyPr wrap="square" rtlCol="0" anchor="ctr"/>
          <a:lstStyle/>
          <a:p>
            <a:pPr algn="l" indent="0" marL="0">
              <a:buNone/>
            </a:pPr>
            <a:r>
              <a:rPr lang="en-US" altLang="en-US" sz="1500" dirty="0">
                <a:solidFill>
                  <a:schemeClr val="tx1"/>
                </a:solidFill>
              </a:rPr>
              <a:t>Health buildings (overview)</a:t>
            </a:r>
            <a:endParaRPr lang="en-US" sz="1500" dirty="0"/>
          </a:p>
        </p:txBody>
      </p:sp>
      <p:sp>
        <p:nvSpPr>
          <p:cNvPr id="42" name="n14"/>
          <p:cNvSpPr/>
          <p:nvPr/>
        </p:nvSpPr>
        <p:spPr>
          <a:xfrm>
            <a:off x="6187288" y="3410712"/>
            <a:ext cx="384048" cy="384048"/>
          </a:xfrm>
          <a:prstGeom prst="ellipse">
            <a:avLst/>
          </a:prstGeom>
          <a:solidFill>
            <a:schemeClr val="accent1"/>
          </a:solidFill>
          <a:ln/>
        </p:spPr>
      </p:sp>
      <p:sp>
        <p:nvSpPr>
          <p:cNvPr id="43" name="Text 41"/>
          <p:cNvSpPr txBox="1"/>
          <p:nvPr/>
        </p:nvSpPr>
        <p:spPr>
          <a:xfrm>
            <a:off x="6187288"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14</a:t>
            </a:r>
            <a:endParaRPr lang="en-US" sz="1300" dirty="0"/>
          </a:p>
        </p:txBody>
      </p:sp>
      <p:sp>
        <p:nvSpPr>
          <p:cNvPr id="44" name="Text 42"/>
          <p:cNvSpPr txBox="1"/>
          <p:nvPr/>
        </p:nvSpPr>
        <p:spPr>
          <a:xfrm>
            <a:off x="6690208" y="3374136"/>
            <a:ext cx="4907128" cy="457200"/>
          </a:xfrm>
          <a:prstGeom prst="rect">
            <a:avLst/>
          </a:prstGeom>
          <a:noFill/>
          <a:ln/>
        </p:spPr>
        <p:txBody>
          <a:bodyPr wrap="square" rtlCol="0" anchor="ctr"/>
          <a:lstStyle/>
          <a:p>
            <a:pPr algn="l" indent="0" marL="0">
              <a:buNone/>
            </a:pPr>
            <a:r>
              <a:rPr lang="en-US" altLang="en-US" sz="1500" dirty="0">
                <a:solidFill>
                  <a:schemeClr val="tx1"/>
                </a:solidFill>
              </a:rPr>
              <a:t>Hotels and restaurants</a:t>
            </a:r>
            <a:endParaRPr lang="en-US" sz="1500" dirty="0"/>
          </a:p>
        </p:txBody>
      </p:sp>
      <p:sp>
        <p:nvSpPr>
          <p:cNvPr id="45" name="n15"/>
          <p:cNvSpPr/>
          <p:nvPr/>
        </p:nvSpPr>
        <p:spPr>
          <a:xfrm>
            <a:off x="6187288" y="3922776"/>
            <a:ext cx="384048" cy="384048"/>
          </a:xfrm>
          <a:prstGeom prst="ellipse">
            <a:avLst/>
          </a:prstGeom>
          <a:solidFill>
            <a:schemeClr val="accent1"/>
          </a:solidFill>
          <a:ln/>
        </p:spPr>
      </p:sp>
      <p:sp>
        <p:nvSpPr>
          <p:cNvPr id="46" name="Text 44"/>
          <p:cNvSpPr txBox="1"/>
          <p:nvPr/>
        </p:nvSpPr>
        <p:spPr>
          <a:xfrm>
            <a:off x="6187288"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15</a:t>
            </a:r>
            <a:endParaRPr lang="en-US" sz="1300" dirty="0"/>
          </a:p>
        </p:txBody>
      </p:sp>
      <p:sp>
        <p:nvSpPr>
          <p:cNvPr id="47" name="Text 45"/>
          <p:cNvSpPr txBox="1"/>
          <p:nvPr/>
        </p:nvSpPr>
        <p:spPr>
          <a:xfrm>
            <a:off x="6690208" y="3886200"/>
            <a:ext cx="4907128" cy="457200"/>
          </a:xfrm>
          <a:prstGeom prst="rect">
            <a:avLst/>
          </a:prstGeom>
          <a:noFill/>
          <a:ln/>
        </p:spPr>
        <p:txBody>
          <a:bodyPr wrap="square" rtlCol="0" anchor="ctr"/>
          <a:lstStyle/>
          <a:p>
            <a:pPr algn="l" indent="0" marL="0">
              <a:buNone/>
            </a:pPr>
            <a:r>
              <a:rPr lang="en-US" altLang="en-US" sz="1500" dirty="0">
                <a:solidFill>
                  <a:schemeClr val="tx1"/>
                </a:solidFill>
              </a:rPr>
              <a:t>Car parks</a:t>
            </a:r>
            <a:endParaRPr lang="en-US" sz="1500" dirty="0"/>
          </a:p>
        </p:txBody>
      </p:sp>
      <p:sp>
        <p:nvSpPr>
          <p:cNvPr id="48" name="n16"/>
          <p:cNvSpPr/>
          <p:nvPr/>
        </p:nvSpPr>
        <p:spPr>
          <a:xfrm>
            <a:off x="6187288" y="4434840"/>
            <a:ext cx="384048" cy="384048"/>
          </a:xfrm>
          <a:prstGeom prst="ellipse">
            <a:avLst/>
          </a:prstGeom>
          <a:solidFill>
            <a:schemeClr val="accent1"/>
          </a:solidFill>
          <a:ln/>
        </p:spPr>
      </p:sp>
      <p:sp>
        <p:nvSpPr>
          <p:cNvPr id="49" name="Text 47"/>
          <p:cNvSpPr txBox="1"/>
          <p:nvPr/>
        </p:nvSpPr>
        <p:spPr>
          <a:xfrm>
            <a:off x="6187288"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16</a:t>
            </a:r>
            <a:endParaRPr lang="en-US" sz="1300" dirty="0"/>
          </a:p>
        </p:txBody>
      </p:sp>
      <p:sp>
        <p:nvSpPr>
          <p:cNvPr id="50" name="Text 48"/>
          <p:cNvSpPr txBox="1"/>
          <p:nvPr/>
        </p:nvSpPr>
        <p:spPr>
          <a:xfrm>
            <a:off x="6690208" y="4398264"/>
            <a:ext cx="4907128" cy="457200"/>
          </a:xfrm>
          <a:prstGeom prst="rect">
            <a:avLst/>
          </a:prstGeom>
          <a:noFill/>
          <a:ln/>
        </p:spPr>
        <p:txBody>
          <a:bodyPr wrap="square" rtlCol="0" anchor="ctr"/>
          <a:lstStyle/>
          <a:p>
            <a:pPr algn="l" indent="0" marL="0">
              <a:buNone/>
            </a:pPr>
            <a:r>
              <a:rPr lang="en-US" altLang="en-US" sz="1500" dirty="0">
                <a:solidFill>
                  <a:schemeClr val="tx1"/>
                </a:solidFill>
              </a:rPr>
              <a:t>Lighting, ventilation and acoustics</a:t>
            </a:r>
            <a:endParaRPr lang="en-US" sz="1500" dirty="0"/>
          </a:p>
        </p:txBody>
      </p:sp>
      <p:sp>
        <p:nvSpPr>
          <p:cNvPr id="51" name="n17"/>
          <p:cNvSpPr/>
          <p:nvPr/>
        </p:nvSpPr>
        <p:spPr>
          <a:xfrm>
            <a:off x="6187288" y="4946904"/>
            <a:ext cx="384048" cy="384048"/>
          </a:xfrm>
          <a:prstGeom prst="ellipse">
            <a:avLst/>
          </a:prstGeom>
          <a:solidFill>
            <a:schemeClr val="accent1"/>
          </a:solidFill>
          <a:ln/>
        </p:spPr>
      </p:sp>
      <p:sp>
        <p:nvSpPr>
          <p:cNvPr id="52" name="Text 50"/>
          <p:cNvSpPr txBox="1"/>
          <p:nvPr/>
        </p:nvSpPr>
        <p:spPr>
          <a:xfrm>
            <a:off x="6187288" y="4946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17</a:t>
            </a:r>
            <a:endParaRPr lang="en-US" sz="1300" dirty="0"/>
          </a:p>
        </p:txBody>
      </p:sp>
      <p:sp>
        <p:nvSpPr>
          <p:cNvPr id="53" name="Text 51"/>
          <p:cNvSpPr txBox="1"/>
          <p:nvPr/>
        </p:nvSpPr>
        <p:spPr>
          <a:xfrm>
            <a:off x="6690208" y="4910328"/>
            <a:ext cx="4907128" cy="457200"/>
          </a:xfrm>
          <a:prstGeom prst="rect">
            <a:avLst/>
          </a:prstGeom>
          <a:noFill/>
          <a:ln/>
        </p:spPr>
        <p:txBody>
          <a:bodyPr wrap="square" rtlCol="0" anchor="ctr"/>
          <a:lstStyle/>
          <a:p>
            <a:pPr algn="l" indent="0" marL="0">
              <a:buNone/>
            </a:pPr>
            <a:r>
              <a:rPr lang="en-US" altLang="en-US" sz="1500" dirty="0">
                <a:solidFill>
                  <a:schemeClr val="tx1"/>
                </a:solidFill>
              </a:rPr>
              <a:t>Outdoor spaces</a:t>
            </a:r>
            <a:endParaRPr lang="en-US" sz="1500" dirty="0"/>
          </a:p>
        </p:txBody>
      </p:sp>
      <p:sp>
        <p:nvSpPr>
          <p:cNvPr id="54" name="n18"/>
          <p:cNvSpPr/>
          <p:nvPr/>
        </p:nvSpPr>
        <p:spPr>
          <a:xfrm>
            <a:off x="6187288" y="5458968"/>
            <a:ext cx="384048" cy="384048"/>
          </a:xfrm>
          <a:prstGeom prst="ellipse">
            <a:avLst/>
          </a:prstGeom>
          <a:solidFill>
            <a:schemeClr val="accent1"/>
          </a:solidFill>
          <a:ln/>
        </p:spPr>
      </p:sp>
      <p:sp>
        <p:nvSpPr>
          <p:cNvPr id="55" name="Text 53"/>
          <p:cNvSpPr txBox="1"/>
          <p:nvPr/>
        </p:nvSpPr>
        <p:spPr>
          <a:xfrm>
            <a:off x="6187288" y="5458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18</a:t>
            </a:r>
            <a:endParaRPr lang="en-US" sz="1300" dirty="0"/>
          </a:p>
        </p:txBody>
      </p:sp>
      <p:sp>
        <p:nvSpPr>
          <p:cNvPr id="56" name="Text 54"/>
          <p:cNvSpPr txBox="1"/>
          <p:nvPr/>
        </p:nvSpPr>
        <p:spPr>
          <a:xfrm>
            <a:off x="6690208" y="5422392"/>
            <a:ext cx="4907128" cy="457200"/>
          </a:xfrm>
          <a:prstGeom prst="rect">
            <a:avLst/>
          </a:prstGeom>
          <a:noFill/>
          <a:ln/>
        </p:spPr>
        <p:txBody>
          <a:bodyPr wrap="square" rtlCol="0" anchor="ctr"/>
          <a:lstStyle/>
          <a:p>
            <a:pPr algn="l" indent="0" marL="0">
              <a:buNone/>
            </a:pPr>
            <a:r>
              <a:rPr lang="en-US" altLang="en-US" sz="1500" dirty="0">
                <a:solidFill>
                  <a:schemeClr val="tx1"/>
                </a:solidFill>
              </a:rPr>
              <a:t>Eng. Omar Khamis's takeaways</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Introduction: why Neufert?</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dirty="0">
                <a:solidFill>
                  <a:srgbClr val="2B2620"/>
                </a:solidFill>
              </a:rPr>
              <a:t>Ernst Neufert's Architects' Data first appeared in German in 1936 as Bauentwurfslehre and has since become the best-known dimensional reference in …</a:t>
            </a:r>
            <a:endParaRPr lang="en-US" sz="1400" dirty="0"/>
          </a:p>
          <a:p>
            <a:pPr algn="l" marL="342900" indent="-342900">
              <a:spcAft>
                <a:spcPts val="800"/>
              </a:spcAft>
              <a:buSzPct val="100000"/>
              <a:buChar char="•"/>
            </a:pPr>
            <a:r>
              <a:rPr lang="en-US" altLang="en-US" sz="1400" dirty="0">
                <a:solidFill>
                  <a:srgbClr val="2B2620"/>
                </a:solidFill>
              </a:rPr>
              <a:t>The book is not read from cover to cover. It is an </a:t>
            </a:r>
            <a:pPr algn="l" marL="342900" indent="-342900">
              <a:spcAft>
                <a:spcPts val="800"/>
              </a:spcAft>
              <a:buSzPct val="100000"/>
              <a:buChar char="•"/>
            </a:pPr>
            <a:r>
              <a:rPr lang="en-US" altLang="en-US" sz="1400" b="1" dirty="0">
                <a:solidFill>
                  <a:srgbClr val="2B2620"/>
                </a:solidFill>
              </a:rPr>
              <a:t>atlas of sheets</a:t>
            </a:r>
            <a:pPr algn="l" marL="342900" indent="-342900">
              <a:spcAft>
                <a:spcPts val="800"/>
              </a:spcAft>
              <a:buSzPct val="100000"/>
              <a:buChar char="•"/>
            </a:pPr>
            <a:r>
              <a:rPr lang="en-US" altLang="en-US" sz="1400" dirty="0">
                <a:solidFill>
                  <a:srgbClr val="2B2620"/>
                </a:solidFill>
              </a:rPr>
              <a:t>: almost every page is a dimensioned drawing, …</a:t>
            </a:r>
            <a:endParaRPr lang="en-US" sz="14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Part</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What it covers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Basics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Units and scales, architectural drawing, the human as the measure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Building elements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Foundations, walls, roofs, stairs, ramps, doors and windows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Environment &amp; services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Daylight and lighting, ventilation, acoustics, fire protection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Building types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Housing, offices, education, health, hotels, restaurants, sport, transport and parking</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Outdoor spaces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Gardens, play areas, roads and car parks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The human as the measure</a:t>
            </a:r>
            <a:endParaRPr lang="en-US" sz="3000" dirty="0"/>
          </a:p>
        </p:txBody>
      </p:sp>
      <p:sp>
        <p:nvSpPr>
          <p:cNvPr id="3" name="figure-frame"/>
          <p:cNvSpPr/>
          <p:nvPr/>
        </p:nvSpPr>
        <p:spPr>
          <a:xfrm>
            <a:off x="6065215" y="1325880"/>
            <a:ext cx="5669280" cy="2560320"/>
          </a:xfrm>
          <a:prstGeom prst="roundRect">
            <a:avLst>
              <a:gd name="adj" fmla="val 357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377440"/>
          </a:xfrm>
          <a:prstGeom prst="rect">
            <a:avLst/>
          </a:prstGeom>
        </p:spPr>
      </p:pic>
      <p:sp>
        <p:nvSpPr>
          <p:cNvPr id="5" name="Text 2"/>
          <p:cNvSpPr txBox="1"/>
          <p:nvPr/>
        </p:nvSpPr>
        <p:spPr>
          <a:xfrm>
            <a:off x="6156655" y="3931920"/>
            <a:ext cx="5486400" cy="365760"/>
          </a:xfrm>
          <a:prstGeom prst="rect">
            <a:avLst/>
          </a:prstGeom>
          <a:noFill/>
          <a:ln/>
        </p:spPr>
        <p:txBody>
          <a:bodyPr wrap="square" rtlCol="0" anchor="ctr"/>
          <a:lstStyle/>
          <a:p>
            <a:pPr algn="ctr" indent="0" marL="0">
              <a:buNone/>
            </a:pPr>
            <a:r>
              <a:rPr lang="en-US" altLang="en-US" sz="1100" i="1" dirty="0">
                <a:solidFill>
                  <a:srgbClr val="6B6152"/>
                </a:solidFill>
              </a:rPr>
              <a:t>Basic human movement spaces (cm)</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Neufert's core idea is that the </a:t>
            </a:r>
            <a:pPr algn="l" marL="342900" indent="-342900">
              <a:spcAft>
                <a:spcPts val="800"/>
              </a:spcAft>
              <a:buSzPct val="100000"/>
              <a:buChar char="•"/>
            </a:pPr>
            <a:r>
              <a:rPr lang="en-US" altLang="en-US" sz="1500" b="1" dirty="0">
                <a:solidFill>
                  <a:srgbClr val="2B2620"/>
                </a:solidFill>
              </a:rPr>
              <a:t>human body and its movement</a:t>
            </a:r>
            <a:pPr algn="l" marL="342900" indent="-342900">
              <a:spcAft>
                <a:spcPts val="800"/>
              </a:spcAft>
              <a:buSzPct val="100000"/>
              <a:buChar char="•"/>
            </a:pPr>
            <a:r>
              <a:rPr lang="en-US" altLang="en-US" sz="1500" dirty="0">
                <a:solidFill>
                  <a:srgbClr val="2B2620"/>
                </a:solidFill>
              </a:rPr>
              <a:t> set the dimensions of everything around it, …</a:t>
            </a:r>
            <a:endParaRPr lang="en-US" sz="1500" dirty="0"/>
          </a:p>
          <a:p>
            <a:pPr algn="l" marL="342900" indent="-342900">
              <a:spcAft>
                <a:spcPts val="800"/>
              </a:spcAft>
              <a:buSzPct val="100000"/>
              <a:buChar char="•"/>
            </a:pPr>
            <a:r>
              <a:rPr lang="en-US" altLang="en-US" sz="1500" dirty="0">
                <a:solidFill>
                  <a:srgbClr val="2B2620"/>
                </a:solidFill>
              </a:rPr>
              <a:t>One person walking needs about </a:t>
            </a:r>
            <a:pPr algn="l" marL="342900" indent="-342900">
              <a:spcAft>
                <a:spcPts val="800"/>
              </a:spcAft>
              <a:buSzPct val="100000"/>
              <a:buChar char="•"/>
            </a:pPr>
            <a:r>
              <a:rPr lang="en-US" altLang="en-US" sz="1500" b="1" dirty="0">
                <a:solidFill>
                  <a:srgbClr val="2B2620"/>
                </a:solidFill>
              </a:rPr>
              <a:t>60–65 cm</a:t>
            </a:r>
            <a:pPr algn="l" marL="342900" indent="-342900">
              <a:spcAft>
                <a:spcPts val="800"/>
              </a:spcAft>
              <a:buSzPct val="100000"/>
              <a:buChar char="•"/>
            </a:pPr>
            <a:r>
              <a:rPr lang="en-US" altLang="en-US" sz="1500" dirty="0">
                <a:solidFill>
                  <a:srgbClr val="2B2620"/>
                </a:solidFill>
              </a:rPr>
              <a:t>; with bags about </a:t>
            </a:r>
            <a:pPr algn="l" marL="342900" indent="-342900">
              <a:spcAft>
                <a:spcPts val="800"/>
              </a:spcAft>
              <a:buSzPct val="100000"/>
              <a:buChar char="•"/>
            </a:pPr>
            <a:r>
              <a:rPr lang="en-US" altLang="en-US" sz="1500" b="1" dirty="0">
                <a:solidFill>
                  <a:srgbClr val="2B2620"/>
                </a:solidFill>
              </a:rPr>
              <a:t>75–80 cm</a:t>
            </a:r>
            <a:pPr algn="l" marL="342900" indent="-342900">
              <a:spcAft>
                <a:spcPts val="800"/>
              </a:spcAft>
              <a:buSzPct val="100000"/>
              <a:buChar char="•"/>
            </a:pPr>
            <a:r>
              <a:rPr lang="en-US" altLang="en-US" sz="1500" dirty="0">
                <a:solidFill>
                  <a:srgbClr val="2B2620"/>
                </a:solidFill>
              </a:rPr>
              <a:t>.</a:t>
            </a:r>
            <a:endParaRPr lang="en-US" sz="1500" dirty="0"/>
          </a:p>
          <a:p>
            <a:pPr algn="l" marL="342900" indent="-342900">
              <a:spcAft>
                <a:spcPts val="800"/>
              </a:spcAft>
              <a:buSzPct val="100000"/>
              <a:buChar char="•"/>
            </a:pPr>
            <a:r>
              <a:rPr lang="en-US" altLang="en-US" sz="1500" dirty="0">
                <a:solidFill>
                  <a:srgbClr val="2B2620"/>
                </a:solidFill>
              </a:rPr>
              <a:t>Two people side by side or passing: </a:t>
            </a:r>
            <a:pPr algn="l" marL="342900" indent="-342900">
              <a:spcAft>
                <a:spcPts val="800"/>
              </a:spcAft>
              <a:buSzPct val="100000"/>
              <a:buChar char="•"/>
            </a:pPr>
            <a:r>
              <a:rPr lang="en-US" altLang="en-US" sz="1500" b="1" dirty="0">
                <a:solidFill>
                  <a:srgbClr val="2B2620"/>
                </a:solidFill>
              </a:rPr>
              <a:t>110–125 cm</a:t>
            </a:r>
            <a:pPr algn="l" marL="342900" indent="-342900">
              <a:spcAft>
                <a:spcPts val="800"/>
              </a:spcAft>
              <a:buSzPct val="100000"/>
              <a:buChar char="•"/>
            </a:pPr>
            <a:r>
              <a:rPr lang="en-US" altLang="en-US" sz="1500" dirty="0">
                <a:solidFill>
                  <a:srgbClr val="2B2620"/>
                </a:solidFill>
              </a:rPr>
              <a:t>.</a:t>
            </a:r>
            <a:endParaRPr lang="en-US" sz="1500" dirty="0"/>
          </a:p>
          <a:p>
            <a:pPr algn="l" marL="342900" indent="-342900">
              <a:spcAft>
                <a:spcPts val="800"/>
              </a:spcAft>
              <a:buSzPct val="100000"/>
              <a:buChar char="•"/>
            </a:pPr>
            <a:r>
              <a:rPr lang="en-US" altLang="en-US" sz="1500" dirty="0">
                <a:solidFill>
                  <a:srgbClr val="2B2620"/>
                </a:solidFill>
              </a:rPr>
              <a:t>Wheelchair: </a:t>
            </a:r>
            <a:pPr algn="l" marL="342900" indent="-342900">
              <a:spcAft>
                <a:spcPts val="800"/>
              </a:spcAft>
              <a:buSzPct val="100000"/>
              <a:buChar char="•"/>
            </a:pPr>
            <a:r>
              <a:rPr lang="en-US" altLang="en-US" sz="1500" b="1" dirty="0">
                <a:solidFill>
                  <a:srgbClr val="2B2620"/>
                </a:solidFill>
              </a:rPr>
              <a:t>75–80 cm</a:t>
            </a:r>
            <a:pPr algn="l" marL="342900" indent="-342900">
              <a:spcAft>
                <a:spcPts val="800"/>
              </a:spcAft>
              <a:buSzPct val="100000"/>
              <a:buChar char="•"/>
            </a:pPr>
            <a:r>
              <a:rPr lang="en-US" altLang="en-US" sz="1500" dirty="0">
                <a:solidFill>
                  <a:srgbClr val="2B2620"/>
                </a:solidFill>
              </a:rPr>
              <a:t> wide, turning circle </a:t>
            </a:r>
            <a:pPr algn="l" marL="342900" indent="-342900">
              <a:spcAft>
                <a:spcPts val="800"/>
              </a:spcAft>
              <a:buSzPct val="100000"/>
              <a:buChar char="•"/>
            </a:pPr>
            <a:r>
              <a:rPr lang="en-US" altLang="en-US" sz="1500" b="1" dirty="0">
                <a:solidFill>
                  <a:srgbClr val="2B2620"/>
                </a:solidFill>
              </a:rPr>
              <a:t>150 cm</a:t>
            </a:r>
            <a:pPr algn="l" marL="342900" indent="-342900">
              <a:spcAft>
                <a:spcPts val="800"/>
              </a:spcAft>
              <a:buSzPct val="100000"/>
              <a:buChar char="•"/>
            </a:pPr>
            <a:r>
              <a:rPr lang="en-US" altLang="en-US" sz="1500" dirty="0">
                <a:solidFill>
                  <a:srgbClr val="2B2620"/>
                </a:solidFill>
              </a:rPr>
              <a:t> diameter.</a:t>
            </a:r>
            <a:endParaRPr lang="en-US" sz="1500" dirty="0"/>
          </a:p>
          <a:p>
            <a:pPr algn="l" marL="342900" indent="-342900">
              <a:spcAft>
                <a:spcPts val="800"/>
              </a:spcAft>
              <a:buSzPct val="100000"/>
              <a:buChar char="•"/>
            </a:pPr>
            <a:r>
              <a:rPr lang="en-US" altLang="en-US" sz="1500" dirty="0">
                <a:solidFill>
                  <a:srgbClr val="2B2620"/>
                </a:solidFill>
              </a:rPr>
              <a:t>Frequently used shelves between </a:t>
            </a:r>
            <a:pPr algn="l" marL="342900" indent="-342900">
              <a:spcAft>
                <a:spcPts val="800"/>
              </a:spcAft>
              <a:buSzPct val="100000"/>
              <a:buChar char="•"/>
            </a:pPr>
            <a:r>
              <a:rPr lang="en-US" altLang="en-US" sz="1500" b="1" dirty="0">
                <a:solidFill>
                  <a:srgbClr val="2B2620"/>
                </a:solidFill>
              </a:rPr>
              <a:t>70 and 170 cm</a:t>
            </a:r>
            <a:pPr algn="l" marL="342900" indent="-342900">
              <a:spcAft>
                <a:spcPts val="800"/>
              </a:spcAft>
              <a:buSzPct val="100000"/>
              <a:buChar char="•"/>
            </a:pPr>
            <a:r>
              <a:rPr lang="en-US" altLang="en-US" sz="1500" dirty="0">
                <a:solidFill>
                  <a:srgbClr val="2B2620"/>
                </a:solidFill>
              </a:rPr>
              <a:t>.</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Units and dimensional coordination</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dirty="0">
                <a:solidFill>
                  <a:srgbClr val="2B2620"/>
                </a:solidFill>
              </a:rPr>
              <a:t>Modular coordination means element sizes are multiples of a basic unit so parts fit together with little cutting.</a:t>
            </a:r>
            <a:endParaRPr lang="en-US" sz="1400" dirty="0"/>
          </a:p>
          <a:p>
            <a:pPr algn="l" marL="342900" indent="-342900">
              <a:spcAft>
                <a:spcPts val="800"/>
              </a:spcAft>
              <a:buSzPct val="100000"/>
              <a:buChar char="•"/>
            </a:pPr>
            <a:r>
              <a:rPr lang="en-US" altLang="en-US" sz="1400" dirty="0">
                <a:solidFill>
                  <a:srgbClr val="2B2620"/>
                </a:solidFill>
              </a:rPr>
              <a:t>The common basic module worldwide is </a:t>
            </a:r>
            <a:pPr algn="l" marL="342900" indent="-342900">
              <a:spcAft>
                <a:spcPts val="800"/>
              </a:spcAft>
              <a:buSzPct val="100000"/>
              <a:buChar char="•"/>
            </a:pPr>
            <a:r>
              <a:rPr lang="en-US" altLang="en-US" sz="1400" b="1" dirty="0">
                <a:solidFill>
                  <a:srgbClr val="2B2620"/>
                </a:solidFill>
              </a:rPr>
              <a:t>M = 10 cm</a:t>
            </a:r>
            <a:pPr algn="l" marL="342900" indent="-342900">
              <a:spcAft>
                <a:spcPts val="800"/>
              </a:spcAft>
              <a:buSzPct val="100000"/>
              <a:buChar char="•"/>
            </a:pPr>
            <a:r>
              <a:rPr lang="en-US" altLang="en-US" sz="1400" dirty="0">
                <a:solidFill>
                  <a:srgbClr val="2B2620"/>
                </a:solidFill>
              </a:rPr>
              <a:t>, with multiples 3M, 6M and 12M.</a:t>
            </a:r>
            <a:endParaRPr lang="en-US" sz="14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Element</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Common grid-friendly sizes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Floor tiles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30×30, 60×60, 60×120, 120×120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Plasterboard</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120×240 or 120×300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Ceiling tiles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60×60, 60×120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Internal doors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70, 80, 90 cm wide (clear opening + frame)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Architectural drawing and scales</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dirty="0">
                <a:solidFill>
                  <a:srgbClr val="2B2620"/>
                </a:solidFill>
              </a:rPr>
              <a:t>Usual scales: site plan 1:500 or 1:200, plans 1:100 or 1:50, details 1:20, 1:10 and 1:5.</a:t>
            </a:r>
            <a:endParaRPr lang="en-US" sz="1400" dirty="0"/>
          </a:p>
          <a:p>
            <a:pPr algn="l" marL="342900" indent="-342900">
              <a:spcAft>
                <a:spcPts val="800"/>
              </a:spcAft>
              <a:buSzPct val="100000"/>
              <a:buChar char="•"/>
            </a:pPr>
            <a:r>
              <a:rPr lang="en-US" altLang="en-US" sz="1400" dirty="0">
                <a:solidFill>
                  <a:srgbClr val="2B2620"/>
                </a:solidFill>
              </a:rPr>
              <a:t>Each scale has its level of detail: at 1:100 a wall is two lines; at 1:20 plaster and insulation layers show.</a:t>
            </a:r>
            <a:endParaRPr lang="en-US" sz="14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3698138"/>
                <a:gridCol w="3698138"/>
                <a:gridCol w="3698138"/>
              </a:tblGrid>
              <a:tr h="384048">
                <a:tc>
                  <a:txBody>
                    <a:bodyPr/>
                    <a:lstStyle/>
                    <a:p>
                      <a:pPr algn="l" indent="0" marL="0">
                        <a:buNone/>
                      </a:pPr>
                      <a:r>
                        <a:rPr lang="en-US" altLang="en-US" sz="1300" b="1" dirty="0">
                          <a:solidFill>
                            <a:srgbClr val="FFFFFF"/>
                          </a:solidFill>
                        </a:rPr>
                        <a:t>Stage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Usual scale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Purpose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Concept</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1:200 – 1:100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Idea, massing, areas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Developed design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1:100 – 1:50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Exact sizes, coordination of disciplines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Working drawings &amp; details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1:50 – 1:5</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Building on site without guesswork</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Stairs and ramps</a:t>
            </a:r>
            <a:endParaRPr lang="en-US" sz="3000" dirty="0"/>
          </a:p>
        </p:txBody>
      </p:sp>
      <p:sp>
        <p:nvSpPr>
          <p:cNvPr id="3" name="figure-frame"/>
          <p:cNvSpPr/>
          <p:nvPr/>
        </p:nvSpPr>
        <p:spPr>
          <a:xfrm>
            <a:off x="6065215" y="1325880"/>
            <a:ext cx="5669280" cy="2837590"/>
          </a:xfrm>
          <a:prstGeom prst="roundRect">
            <a:avLst>
              <a:gd name="adj" fmla="val 3222"/>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654710"/>
          </a:xfrm>
          <a:prstGeom prst="rect">
            <a:avLst/>
          </a:prstGeom>
        </p:spPr>
      </p:pic>
      <p:sp>
        <p:nvSpPr>
          <p:cNvPr id="5" name="Text 2"/>
          <p:cNvSpPr txBox="1"/>
          <p:nvPr/>
        </p:nvSpPr>
        <p:spPr>
          <a:xfrm>
            <a:off x="6156655" y="4209190"/>
            <a:ext cx="5486400" cy="365760"/>
          </a:xfrm>
          <a:prstGeom prst="rect">
            <a:avLst/>
          </a:prstGeom>
          <a:noFill/>
          <a:ln/>
        </p:spPr>
        <p:txBody>
          <a:bodyPr wrap="square" rtlCol="0" anchor="ctr"/>
          <a:lstStyle/>
          <a:p>
            <a:pPr algn="ctr" indent="0" marL="0">
              <a:buNone/>
            </a:pPr>
            <a:r>
              <a:rPr lang="en-US" altLang="en-US" sz="1100" i="1" dirty="0">
                <a:solidFill>
                  <a:srgbClr val="6B6152"/>
                </a:solidFill>
              </a:rPr>
              <a:t>Stair section showing riser, tread and headroom</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Neufert's well-known rule: </a:t>
            </a:r>
            <a:pPr algn="l" marL="342900" indent="-342900">
              <a:spcAft>
                <a:spcPts val="800"/>
              </a:spcAft>
              <a:buSzPct val="100000"/>
              <a:buChar char="•"/>
            </a:pPr>
            <a:r>
              <a:rPr lang="en-US" altLang="en-US" sz="1500" b="1" dirty="0">
                <a:solidFill>
                  <a:srgbClr val="2B2620"/>
                </a:solidFill>
              </a:rPr>
              <a:t>2 × riser + tread ≈ 63 cm</a:t>
            </a:r>
            <a:pPr algn="l" marL="342900" indent="-342900">
              <a:spcAft>
                <a:spcPts val="800"/>
              </a:spcAft>
              <a:buSzPct val="100000"/>
              <a:buChar char="•"/>
            </a:pPr>
            <a:r>
              <a:rPr lang="en-US" altLang="en-US" sz="1500" dirty="0">
                <a:solidFill>
                  <a:srgbClr val="2B2620"/>
                </a:solidFill>
              </a:rPr>
              <a:t> (a normal human stride), acceptable between 59 and 65.</a:t>
            </a:r>
            <a:endParaRPr lang="en-US" sz="1500" dirty="0"/>
          </a:p>
          <a:p>
            <a:pPr algn="l" marL="342900" indent="-342900">
              <a:spcAft>
                <a:spcPts val="800"/>
              </a:spcAft>
              <a:buSzPct val="100000"/>
              <a:buChar char="•"/>
            </a:pPr>
            <a:r>
              <a:rPr lang="en-US" altLang="en-US" sz="1500" dirty="0">
                <a:solidFill>
                  <a:srgbClr val="2B2620"/>
                </a:solidFill>
              </a:rPr>
              <a:t>Minimum headroom over a stair about </a:t>
            </a:r>
            <a:pPr algn="l" marL="342900" indent="-342900">
              <a:spcAft>
                <a:spcPts val="800"/>
              </a:spcAft>
              <a:buSzPct val="100000"/>
              <a:buChar char="•"/>
            </a:pPr>
            <a:r>
              <a:rPr lang="en-US" altLang="en-US" sz="1500" b="1" dirty="0">
                <a:solidFill>
                  <a:srgbClr val="2B2620"/>
                </a:solidFill>
              </a:rPr>
              <a:t>210 cm</a:t>
            </a:r>
            <a:pPr algn="l" marL="342900" indent="-342900">
              <a:spcAft>
                <a:spcPts val="800"/>
              </a:spcAft>
              <a:buSzPct val="100000"/>
              <a:buChar char="•"/>
            </a:pPr>
            <a:r>
              <a:rPr lang="en-US" altLang="en-US" sz="1500" dirty="0">
                <a:solidFill>
                  <a:srgbClr val="2B2620"/>
                </a:solidFill>
              </a:rPr>
              <a:t>.</a:t>
            </a:r>
            <a:endParaRPr lang="en-US" sz="1500" dirty="0"/>
          </a:p>
          <a:p>
            <a:pPr algn="l" marL="342900" indent="-342900">
              <a:spcAft>
                <a:spcPts val="800"/>
              </a:spcAft>
              <a:buSzPct val="100000"/>
              <a:buChar char="•"/>
            </a:pPr>
            <a:r>
              <a:rPr lang="en-US" altLang="en-US" sz="1500" dirty="0">
                <a:solidFill>
                  <a:srgbClr val="2B2620"/>
                </a:solidFill>
              </a:rPr>
              <a:t>A landing after about </a:t>
            </a:r>
            <a:pPr algn="l" marL="342900" indent="-342900">
              <a:spcAft>
                <a:spcPts val="800"/>
              </a:spcAft>
              <a:buSzPct val="100000"/>
              <a:buChar char="•"/>
            </a:pPr>
            <a:r>
              <a:rPr lang="en-US" altLang="en-US" sz="1500" b="1" dirty="0">
                <a:solidFill>
                  <a:srgbClr val="2B2620"/>
                </a:solidFill>
              </a:rPr>
              <a:t>16–18 steps</a:t>
            </a:r>
            <a:pPr algn="l" marL="342900" indent="-342900">
              <a:spcAft>
                <a:spcPts val="800"/>
              </a:spcAft>
              <a:buSzPct val="100000"/>
              <a:buChar char="•"/>
            </a:pPr>
            <a:r>
              <a:rPr lang="en-US" altLang="en-US" sz="1500" dirty="0">
                <a:solidFill>
                  <a:srgbClr val="2B2620"/>
                </a:solidFill>
              </a:rPr>
              <a:t> in one flight.</a:t>
            </a:r>
            <a:endParaRPr lang="en-US" sz="1500" dirty="0"/>
          </a:p>
          <a:p>
            <a:pPr algn="l" marL="342900" indent="-342900">
              <a:spcAft>
                <a:spcPts val="800"/>
              </a:spcAft>
              <a:buSzPct val="100000"/>
              <a:buChar char="•"/>
            </a:pPr>
            <a:r>
              <a:rPr lang="en-US" altLang="en-US" sz="1500" dirty="0">
                <a:solidFill>
                  <a:srgbClr val="2B2620"/>
                </a:solidFill>
              </a:rPr>
              <a:t>Landing at least as wide as the stair.</a:t>
            </a:r>
            <a:endParaRPr lang="en-US" sz="1500" dirty="0"/>
          </a:p>
          <a:p>
            <a:pPr algn="l" marL="342900" indent="-342900">
              <a:spcAft>
                <a:spcPts val="800"/>
              </a:spcAft>
              <a:buSzPct val="100000"/>
              <a:buChar char="•"/>
            </a:pPr>
            <a:r>
              <a:rPr lang="en-US" altLang="en-US" sz="1500" dirty="0">
                <a:solidFill>
                  <a:srgbClr val="2B2620"/>
                </a:solidFill>
              </a:rPr>
              <a:t>Handrail about </a:t>
            </a:r>
            <a:pPr algn="l" marL="342900" indent="-342900">
              <a:spcAft>
                <a:spcPts val="800"/>
              </a:spcAft>
              <a:buSzPct val="100000"/>
              <a:buChar char="•"/>
            </a:pPr>
            <a:r>
              <a:rPr lang="en-US" altLang="en-US" sz="1500" b="1" dirty="0">
                <a:solidFill>
                  <a:srgbClr val="2B2620"/>
                </a:solidFill>
              </a:rPr>
              <a:t>90 cm</a:t>
            </a:r>
            <a:pPr algn="l" marL="342900" indent="-342900">
              <a:spcAft>
                <a:spcPts val="800"/>
              </a:spcAft>
              <a:buSzPct val="100000"/>
              <a:buChar char="•"/>
            </a:pPr>
            <a:r>
              <a:rPr lang="en-US" altLang="en-US" sz="1500" dirty="0">
                <a:solidFill>
                  <a:srgbClr val="2B2620"/>
                </a:solidFill>
              </a:rPr>
              <a:t> above the nosing, higher in public buildings and at upper floors.</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Doors and windows</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dirty="0">
                <a:solidFill>
                  <a:srgbClr val="2B2620"/>
                </a:solidFill>
              </a:rPr>
              <a:t>Door swing: open </a:t>
            </a:r>
            <a:pPr algn="l" marL="342900" indent="-342900">
              <a:spcAft>
                <a:spcPts val="800"/>
              </a:spcAft>
              <a:buSzPct val="100000"/>
              <a:buChar char="•"/>
            </a:pPr>
            <a:r>
              <a:rPr lang="en-US" altLang="en-US" sz="1400" b="1" dirty="0">
                <a:solidFill>
                  <a:srgbClr val="2B2620"/>
                </a:solidFill>
              </a:rPr>
              <a:t>towards the wall</a:t>
            </a:r>
            <a:pPr algn="l" marL="342900" indent="-342900">
              <a:spcAft>
                <a:spcPts val="800"/>
              </a:spcAft>
              <a:buSzPct val="100000"/>
              <a:buChar char="•"/>
            </a:pPr>
            <a:r>
              <a:rPr lang="en-US" altLang="en-US" sz="1400" dirty="0">
                <a:solidFill>
                  <a:srgbClr val="2B2620"/>
                </a:solidFill>
              </a:rPr>
              <a:t>, not into the room, and never hit another door or furniture.</a:t>
            </a:r>
            <a:endParaRPr lang="en-US" sz="1400" dirty="0"/>
          </a:p>
          <a:p>
            <a:pPr algn="l" marL="342900" indent="-342900">
              <a:spcAft>
                <a:spcPts val="800"/>
              </a:spcAft>
              <a:buSzPct val="100000"/>
              <a:buChar char="•"/>
            </a:pPr>
            <a:r>
              <a:rPr lang="en-US" altLang="en-US" sz="1400" dirty="0">
                <a:solidFill>
                  <a:srgbClr val="2B2620"/>
                </a:solidFill>
              </a:rPr>
              <a:t>Escape doors in public buildings open </a:t>
            </a:r>
            <a:pPr algn="l" marL="342900" indent="-342900">
              <a:spcAft>
                <a:spcPts val="800"/>
              </a:spcAft>
              <a:buSzPct val="100000"/>
              <a:buChar char="•"/>
            </a:pPr>
            <a:r>
              <a:rPr lang="en-US" altLang="en-US" sz="1400" b="1" dirty="0">
                <a:solidFill>
                  <a:srgbClr val="2B2620"/>
                </a:solidFill>
              </a:rPr>
              <a:t>in the direction of escape</a:t>
            </a:r>
            <a:pPr algn="l" marL="342900" indent="-342900">
              <a:spcAft>
                <a:spcPts val="800"/>
              </a:spcAft>
              <a:buSzPct val="100000"/>
              <a:buChar char="•"/>
            </a:pPr>
            <a:r>
              <a:rPr lang="en-US" altLang="en-US" sz="1400" dirty="0">
                <a:solidFill>
                  <a:srgbClr val="2B2620"/>
                </a:solidFill>
              </a:rPr>
              <a:t>.</a:t>
            </a:r>
            <a:endParaRPr lang="en-US" sz="14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3698138"/>
                <a:gridCol w="3698138"/>
                <a:gridCol w="3698138"/>
              </a:tblGrid>
              <a:tr h="384048">
                <a:tc>
                  <a:txBody>
                    <a:bodyPr/>
                    <a:lstStyle/>
                    <a:p>
                      <a:pPr algn="l" indent="0" marL="0">
                        <a:buNone/>
                      </a:pPr>
                      <a:r>
                        <a:rPr lang="en-US" altLang="en-US" sz="1300" b="1" dirty="0">
                          <a:solidFill>
                            <a:srgbClr val="FFFFFF"/>
                          </a:solidFill>
                        </a:rPr>
                        <a:t>Type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Clear width</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Height</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Apartment / villa entrance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90–100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210–240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Rooms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80–90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210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Bathroom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70–80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210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Accessible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at least 90 cm clear</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210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Single garage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250–300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210–240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Housing: rooms and areas</a:t>
            </a:r>
            <a:endParaRPr lang="en-US" sz="3000" dirty="0"/>
          </a:p>
        </p:txBody>
      </p:sp>
      <p:sp>
        <p:nvSpPr>
          <p:cNvPr id="3" name="figure-frame"/>
          <p:cNvSpPr/>
          <p:nvPr/>
        </p:nvSpPr>
        <p:spPr>
          <a:xfrm>
            <a:off x="6065215" y="1325880"/>
            <a:ext cx="5669280" cy="3440430"/>
          </a:xfrm>
          <a:prstGeom prst="roundRect">
            <a:avLst>
              <a:gd name="adj" fmla="val 2658"/>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3257550"/>
          </a:xfrm>
          <a:prstGeom prst="rect">
            <a:avLst/>
          </a:prstGeom>
        </p:spPr>
      </p:pic>
      <p:sp>
        <p:nvSpPr>
          <p:cNvPr id="5" name="Text 2"/>
          <p:cNvSpPr txBox="1"/>
          <p:nvPr/>
        </p:nvSpPr>
        <p:spPr>
          <a:xfrm>
            <a:off x="6156655" y="4812030"/>
            <a:ext cx="5486400" cy="365760"/>
          </a:xfrm>
          <a:prstGeom prst="rect">
            <a:avLst/>
          </a:prstGeom>
          <a:noFill/>
          <a:ln/>
        </p:spPr>
        <p:txBody>
          <a:bodyPr wrap="square" rtlCol="0" anchor="ctr"/>
          <a:lstStyle/>
          <a:p>
            <a:pPr algn="ctr" indent="0" marL="0">
              <a:buNone/>
            </a:pPr>
            <a:r>
              <a:rPr lang="en-US" altLang="en-US" sz="1100" i="1" dirty="0">
                <a:solidFill>
                  <a:srgbClr val="6B6152"/>
                </a:solidFill>
              </a:rPr>
              <a:t>Typical master bedroom (4.20 × 3.60 m)</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Separate the </a:t>
            </a:r>
            <a:pPr algn="l" marL="342900" indent="-342900">
              <a:spcAft>
                <a:spcPts val="800"/>
              </a:spcAft>
              <a:buSzPct val="100000"/>
              <a:buChar char="•"/>
            </a:pPr>
            <a:r>
              <a:rPr lang="en-US" altLang="en-US" sz="1500" b="1" dirty="0">
                <a:solidFill>
                  <a:srgbClr val="2B2620"/>
                </a:solidFill>
              </a:rPr>
              <a:t>public</a:t>
            </a:r>
            <a:pPr algn="l" marL="342900" indent="-342900">
              <a:spcAft>
                <a:spcPts val="800"/>
              </a:spcAft>
              <a:buSzPct val="100000"/>
              <a:buChar char="•"/>
            </a:pPr>
            <a:r>
              <a:rPr lang="en-US" altLang="en-US" sz="1500" dirty="0">
                <a:solidFill>
                  <a:srgbClr val="2B2620"/>
                </a:solidFill>
              </a:rPr>
              <a:t> zone (reception, living, dining, kitchen, guest WC) from the </a:t>
            </a:r>
            <a:pPr algn="l" marL="342900" indent="-342900">
              <a:spcAft>
                <a:spcPts val="800"/>
              </a:spcAft>
              <a:buSzPct val="100000"/>
              <a:buChar char="•"/>
            </a:pPr>
            <a:r>
              <a:rPr lang="en-US" altLang="en-US" sz="1500" b="1" dirty="0">
                <a:solidFill>
                  <a:srgbClr val="2B2620"/>
                </a:solidFill>
              </a:rPr>
              <a:t>private</a:t>
            </a:r>
            <a:pPr algn="l" marL="342900" indent="-342900">
              <a:spcAft>
                <a:spcPts val="800"/>
              </a:spcAft>
              <a:buSzPct val="100000"/>
              <a:buChar char="•"/>
            </a:pPr>
            <a:r>
              <a:rPr lang="en-US" altLang="en-US" sz="1500" dirty="0">
                <a:solidFill>
                  <a:srgbClr val="2B2620"/>
                </a:solidFill>
              </a:rPr>
              <a:t> zone (bedrooms and bathrooms).</a:t>
            </a:r>
            <a:endParaRPr lang="en-US" sz="1500" dirty="0"/>
          </a:p>
          <a:p>
            <a:pPr algn="l" marL="342900" indent="-342900">
              <a:spcAft>
                <a:spcPts val="800"/>
              </a:spcAft>
              <a:buSzPct val="100000"/>
              <a:buChar char="•"/>
            </a:pPr>
            <a:r>
              <a:rPr lang="en-US" altLang="en-US" sz="1500" dirty="0">
                <a:solidFill>
                  <a:srgbClr val="2B2620"/>
                </a:solidFill>
              </a:rPr>
              <a:t>Kitchen close to dining and to the service entrance.</a:t>
            </a:r>
            <a:endParaRPr lang="en-US" sz="1500" dirty="0"/>
          </a:p>
          <a:p>
            <a:pPr algn="l" marL="342900" indent="-342900">
              <a:spcAft>
                <a:spcPts val="800"/>
              </a:spcAft>
              <a:buSzPct val="100000"/>
              <a:buChar char="•"/>
            </a:pPr>
            <a:r>
              <a:rPr lang="en-US" altLang="en-US" sz="1500" dirty="0">
                <a:solidFill>
                  <a:srgbClr val="2B2620"/>
                </a:solidFill>
              </a:rPr>
              <a:t>An en-suite for the master bedroom and a shared bathroom for the other rooms.</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The kitchen</a:t>
            </a:r>
            <a:endParaRPr lang="en-US" sz="3000" dirty="0"/>
          </a:p>
        </p:txBody>
      </p:sp>
      <p:sp>
        <p:nvSpPr>
          <p:cNvPr id="3" name="figure-frame"/>
          <p:cNvSpPr/>
          <p:nvPr/>
        </p:nvSpPr>
        <p:spPr>
          <a:xfrm>
            <a:off x="6065215" y="1325880"/>
            <a:ext cx="5669280" cy="3108960"/>
          </a:xfrm>
          <a:prstGeom prst="roundRect">
            <a:avLst>
              <a:gd name="adj" fmla="val 294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926080"/>
          </a:xfrm>
          <a:prstGeom prst="rect">
            <a:avLst/>
          </a:prstGeom>
        </p:spPr>
      </p:pic>
      <p:sp>
        <p:nvSpPr>
          <p:cNvPr id="5" name="Text 2"/>
          <p:cNvSpPr txBox="1"/>
          <p:nvPr/>
        </p:nvSpPr>
        <p:spPr>
          <a:xfrm>
            <a:off x="6156655" y="4480560"/>
            <a:ext cx="5486400" cy="365760"/>
          </a:xfrm>
          <a:prstGeom prst="rect">
            <a:avLst/>
          </a:prstGeom>
          <a:noFill/>
          <a:ln/>
        </p:spPr>
        <p:txBody>
          <a:bodyPr wrap="square" rtlCol="0" anchor="ctr"/>
          <a:lstStyle/>
          <a:p>
            <a:pPr algn="ctr" indent="0" marL="0">
              <a:buNone/>
            </a:pPr>
            <a:r>
              <a:rPr lang="en-US" altLang="en-US" sz="1100" i="1" dirty="0">
                <a:solidFill>
                  <a:srgbClr val="6B6152"/>
                </a:solidFill>
              </a:rPr>
              <a:t>L kitchen with island and the work triangle</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The three sides (sink, hob, fridge) total </a:t>
            </a:r>
            <a:pPr algn="l" marL="342900" indent="-342900">
              <a:spcAft>
                <a:spcPts val="800"/>
              </a:spcAft>
              <a:buSzPct val="100000"/>
              <a:buChar char="•"/>
            </a:pPr>
            <a:r>
              <a:rPr lang="en-US" altLang="en-US" sz="1500" b="1" dirty="0">
                <a:solidFill>
                  <a:srgbClr val="2B2620"/>
                </a:solidFill>
              </a:rPr>
              <a:t>4.0–7.9 m</a:t>
            </a:r>
            <a:pPr algn="l" marL="342900" indent="-342900">
              <a:spcAft>
                <a:spcPts val="800"/>
              </a:spcAft>
              <a:buSzPct val="100000"/>
              <a:buChar char="•"/>
            </a:pPr>
            <a:r>
              <a:rPr lang="en-US" altLang="en-US" sz="1500" dirty="0">
                <a:solidFill>
                  <a:srgbClr val="2B2620"/>
                </a:solidFill>
              </a:rPr>
              <a:t>.</a:t>
            </a:r>
            <a:endParaRPr lang="en-US" sz="1500" dirty="0"/>
          </a:p>
          <a:p>
            <a:pPr algn="l" marL="342900" indent="-342900">
              <a:spcAft>
                <a:spcPts val="800"/>
              </a:spcAft>
              <a:buSzPct val="100000"/>
              <a:buChar char="•"/>
            </a:pPr>
            <a:r>
              <a:rPr lang="en-US" altLang="en-US" sz="1500" dirty="0">
                <a:solidFill>
                  <a:srgbClr val="2B2620"/>
                </a:solidFill>
              </a:rPr>
              <a:t>Each side </a:t>
            </a:r>
            <a:pPr algn="l" marL="342900" indent="-342900">
              <a:spcAft>
                <a:spcPts val="800"/>
              </a:spcAft>
              <a:buSzPct val="100000"/>
              <a:buChar char="•"/>
            </a:pPr>
            <a:r>
              <a:rPr lang="en-US" altLang="en-US" sz="1500" b="1" dirty="0">
                <a:solidFill>
                  <a:srgbClr val="2B2620"/>
                </a:solidFill>
              </a:rPr>
              <a:t>1.2–2.7 m</a:t>
            </a:r>
            <a:pPr algn="l" marL="342900" indent="-342900">
              <a:spcAft>
                <a:spcPts val="800"/>
              </a:spcAft>
              <a:buSzPct val="100000"/>
              <a:buChar char="•"/>
            </a:pPr>
            <a:r>
              <a:rPr lang="en-US" altLang="en-US" sz="1500" dirty="0">
                <a:solidFill>
                  <a:srgbClr val="2B2620"/>
                </a:solidFill>
              </a:rPr>
              <a:t>.</a:t>
            </a:r>
            <a:endParaRPr lang="en-US" sz="1500" dirty="0"/>
          </a:p>
          <a:p>
            <a:pPr algn="l" marL="342900" indent="-342900">
              <a:spcAft>
                <a:spcPts val="800"/>
              </a:spcAft>
              <a:buSzPct val="100000"/>
              <a:buChar char="•"/>
            </a:pPr>
            <a:r>
              <a:rPr lang="en-US" altLang="en-US" sz="1500" dirty="0">
                <a:solidFill>
                  <a:srgbClr val="2B2620"/>
                </a:solidFill>
              </a:rPr>
              <a:t>Sink in the middle; hob away from the window and the fridge.</a:t>
            </a:r>
            <a:endParaRPr lang="en-US" sz="1500" dirty="0"/>
          </a:p>
          <a:p>
            <a:pPr algn="l" marL="342900" indent="-342900">
              <a:spcAft>
                <a:spcPts val="800"/>
              </a:spcAft>
              <a:buSzPct val="100000"/>
              <a:buChar char="•"/>
            </a:pPr>
            <a:r>
              <a:rPr lang="en-US" altLang="en-US" sz="1500" b="1" dirty="0">
                <a:solidFill>
                  <a:srgbClr val="2B2620"/>
                </a:solidFill>
              </a:rPr>
              <a:t>I (single run)</a:t>
            </a:r>
            <a:pPr algn="l" marL="342900" indent="-342900">
              <a:spcAft>
                <a:spcPts val="800"/>
              </a:spcAft>
              <a:buSzPct val="100000"/>
              <a:buChar char="•"/>
            </a:pPr>
            <a:r>
              <a:rPr lang="en-US" altLang="en-US" sz="1500" dirty="0">
                <a:solidFill>
                  <a:srgbClr val="2B2620"/>
                </a:solidFill>
              </a:rPr>
              <a:t>: narrow spaces, 2.4–3.6 m long.</a:t>
            </a:r>
            <a:endParaRPr lang="en-US" sz="1500" dirty="0"/>
          </a:p>
          <a:p>
            <a:pPr algn="l" marL="342900" indent="-342900">
              <a:spcAft>
                <a:spcPts val="800"/>
              </a:spcAft>
              <a:buSzPct val="100000"/>
              <a:buChar char="•"/>
            </a:pPr>
            <a:r>
              <a:rPr lang="en-US" altLang="en-US" sz="1500" b="1" dirty="0">
                <a:solidFill>
                  <a:srgbClr val="2B2620"/>
                </a:solidFill>
              </a:rPr>
              <a:t>II (galley)</a:t>
            </a:r>
            <a:pPr algn="l" marL="342900" indent="-342900">
              <a:spcAft>
                <a:spcPts val="800"/>
              </a:spcAft>
              <a:buSzPct val="100000"/>
              <a:buChar char="•"/>
            </a:pPr>
            <a:r>
              <a:rPr lang="en-US" altLang="en-US" sz="1500" dirty="0">
                <a:solidFill>
                  <a:srgbClr val="2B2620"/>
                </a:solidFill>
              </a:rPr>
              <a:t>: very efficient, 1.2 m aisle.</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Bathrooms</a:t>
            </a:r>
            <a:endParaRPr lang="en-US" sz="3000" dirty="0"/>
          </a:p>
        </p:txBody>
      </p:sp>
      <p:sp>
        <p:nvSpPr>
          <p:cNvPr id="3" name="figure-frame"/>
          <p:cNvSpPr/>
          <p:nvPr/>
        </p:nvSpPr>
        <p:spPr>
          <a:xfrm>
            <a:off x="6065215" y="1325880"/>
            <a:ext cx="5669280" cy="3317966"/>
          </a:xfrm>
          <a:prstGeom prst="roundRect">
            <a:avLst>
              <a:gd name="adj" fmla="val 2756"/>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3135086"/>
          </a:xfrm>
          <a:prstGeom prst="rect">
            <a:avLst/>
          </a:prstGeom>
        </p:spPr>
      </p:pic>
      <p:sp>
        <p:nvSpPr>
          <p:cNvPr id="5" name="Text 2"/>
          <p:cNvSpPr txBox="1"/>
          <p:nvPr/>
        </p:nvSpPr>
        <p:spPr>
          <a:xfrm>
            <a:off x="6156655" y="4689566"/>
            <a:ext cx="5486400" cy="365760"/>
          </a:xfrm>
          <a:prstGeom prst="rect">
            <a:avLst/>
          </a:prstGeom>
          <a:noFill/>
          <a:ln/>
        </p:spPr>
        <p:txBody>
          <a:bodyPr wrap="square" rtlCol="0" anchor="ctr"/>
          <a:lstStyle/>
          <a:p>
            <a:pPr algn="ctr" indent="0" marL="0">
              <a:buNone/>
            </a:pPr>
            <a:r>
              <a:rPr lang="en-US" altLang="en-US" sz="1100" i="1" dirty="0">
                <a:solidFill>
                  <a:srgbClr val="6B6152"/>
                </a:solidFill>
              </a:rPr>
              <a:t>Small bathroom layout and fixture clearances</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Bathroom floor falls </a:t>
            </a:r>
            <a:pPr algn="l" marL="342900" indent="-342900">
              <a:spcAft>
                <a:spcPts val="800"/>
              </a:spcAft>
              <a:buSzPct val="100000"/>
              <a:buChar char="•"/>
            </a:pPr>
            <a:r>
              <a:rPr lang="en-US" altLang="en-US" sz="1500" b="1" dirty="0">
                <a:solidFill>
                  <a:srgbClr val="2B2620"/>
                </a:solidFill>
              </a:rPr>
              <a:t>1–2%</a:t>
            </a:r>
            <a:pPr algn="l" marL="342900" indent="-342900">
              <a:spcAft>
                <a:spcPts val="800"/>
              </a:spcAft>
              <a:buSzPct val="100000"/>
              <a:buChar char="•"/>
            </a:pPr>
            <a:r>
              <a:rPr lang="en-US" altLang="en-US" sz="1500" dirty="0">
                <a:solidFill>
                  <a:srgbClr val="2B2620"/>
                </a:solidFill>
              </a:rPr>
              <a:t> to the drain and sits </a:t>
            </a:r>
            <a:pPr algn="l" marL="342900" indent="-342900">
              <a:spcAft>
                <a:spcPts val="800"/>
              </a:spcAft>
              <a:buSzPct val="100000"/>
              <a:buChar char="•"/>
            </a:pPr>
            <a:r>
              <a:rPr lang="en-US" altLang="en-US" sz="1500" b="1" dirty="0">
                <a:solidFill>
                  <a:srgbClr val="2B2620"/>
                </a:solidFill>
              </a:rPr>
              <a:t>1–2 cm</a:t>
            </a:r>
            <a:pPr algn="l" marL="342900" indent="-342900">
              <a:spcAft>
                <a:spcPts val="800"/>
              </a:spcAft>
              <a:buSzPct val="100000"/>
              <a:buChar char="•"/>
            </a:pPr>
            <a:r>
              <a:rPr lang="en-US" altLang="en-US" sz="1500" dirty="0">
                <a:solidFill>
                  <a:srgbClr val="2B2620"/>
                </a:solidFill>
              </a:rPr>
              <a:t> below the corridor.</a:t>
            </a:r>
            <a:endParaRPr lang="en-US" sz="1500" dirty="0"/>
          </a:p>
          <a:p>
            <a:pPr algn="l" marL="342900" indent="-342900">
              <a:spcAft>
                <a:spcPts val="800"/>
              </a:spcAft>
              <a:buSzPct val="100000"/>
              <a:buChar char="•"/>
            </a:pPr>
            <a:r>
              <a:rPr lang="en-US" altLang="en-US" sz="1500" dirty="0">
                <a:solidFill>
                  <a:srgbClr val="2B2620"/>
                </a:solidFill>
              </a:rPr>
              <a:t>Accessible bathroom: </a:t>
            </a:r>
            <a:pPr algn="l" marL="342900" indent="-342900">
              <a:spcAft>
                <a:spcPts val="800"/>
              </a:spcAft>
              <a:buSzPct val="100000"/>
              <a:buChar char="•"/>
            </a:pPr>
            <a:r>
              <a:rPr lang="en-US" altLang="en-US" sz="1500" b="1" dirty="0">
                <a:solidFill>
                  <a:srgbClr val="2B2620"/>
                </a:solidFill>
              </a:rPr>
              <a:t>150 cm</a:t>
            </a:r>
            <a:pPr algn="l" marL="342900" indent="-342900">
              <a:spcAft>
                <a:spcPts val="800"/>
              </a:spcAft>
              <a:buSzPct val="100000"/>
              <a:buChar char="•"/>
            </a:pPr>
            <a:r>
              <a:rPr lang="en-US" altLang="en-US" sz="1500" dirty="0">
                <a:solidFill>
                  <a:srgbClr val="2B2620"/>
                </a:solidFill>
              </a:rPr>
              <a:t> turning circle and grab bars at </a:t>
            </a:r>
            <a:pPr algn="l" marL="342900" indent="-342900">
              <a:spcAft>
                <a:spcPts val="800"/>
              </a:spcAft>
              <a:buSzPct val="100000"/>
              <a:buChar char="•"/>
            </a:pPr>
            <a:r>
              <a:rPr lang="en-US" altLang="en-US" sz="1500" b="1" dirty="0">
                <a:solidFill>
                  <a:srgbClr val="2B2620"/>
                </a:solidFill>
              </a:rPr>
              <a:t>70–75 cm</a:t>
            </a:r>
            <a:pPr algn="l" marL="342900" indent="-342900">
              <a:spcAft>
                <a:spcPts val="800"/>
              </a:spcAft>
              <a:buSzPct val="100000"/>
              <a:buChar char="•"/>
            </a:pPr>
            <a:r>
              <a:rPr lang="en-US" altLang="en-US" sz="1500" dirty="0">
                <a:solidFill>
                  <a:srgbClr val="2B2620"/>
                </a:solidFill>
              </a:rPr>
              <a:t>.</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Seating and dining</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b="1" dirty="0">
                <a:solidFill>
                  <a:srgbClr val="2B2620"/>
                </a:solidFill>
              </a:rPr>
              <a:t>60 cm</a:t>
            </a:r>
            <a:pPr algn="l" marL="342900" indent="-342900">
              <a:spcAft>
                <a:spcPts val="800"/>
              </a:spcAft>
              <a:buSzPct val="100000"/>
              <a:buChar char="•"/>
            </a:pPr>
            <a:r>
              <a:rPr lang="en-US" altLang="en-US" sz="1400" dirty="0">
                <a:solidFill>
                  <a:srgbClr val="2B2620"/>
                </a:solidFill>
              </a:rPr>
              <a:t> width and </a:t>
            </a:r>
            <a:pPr algn="l" marL="342900" indent="-342900">
              <a:spcAft>
                <a:spcPts val="800"/>
              </a:spcAft>
              <a:buSzPct val="100000"/>
              <a:buChar char="•"/>
            </a:pPr>
            <a:r>
              <a:rPr lang="en-US" altLang="en-US" sz="1400" b="1" dirty="0">
                <a:solidFill>
                  <a:srgbClr val="2B2620"/>
                </a:solidFill>
              </a:rPr>
              <a:t>40 cm</a:t>
            </a:r>
            <a:pPr algn="l" marL="342900" indent="-342900">
              <a:spcAft>
                <a:spcPts val="800"/>
              </a:spcAft>
              <a:buSzPct val="100000"/>
              <a:buChar char="•"/>
            </a:pPr>
            <a:r>
              <a:rPr lang="en-US" altLang="en-US" sz="1400" dirty="0">
                <a:solidFill>
                  <a:srgbClr val="2B2620"/>
                </a:solidFill>
              </a:rPr>
              <a:t> depth per diner.</a:t>
            </a:r>
            <a:endParaRPr lang="en-US" sz="1400" dirty="0"/>
          </a:p>
          <a:p>
            <a:pPr algn="l" marL="342900" indent="-342900">
              <a:spcAft>
                <a:spcPts val="800"/>
              </a:spcAft>
              <a:buSzPct val="100000"/>
              <a:buChar char="•"/>
            </a:pPr>
            <a:r>
              <a:rPr lang="en-US" altLang="en-US" sz="1400" dirty="0">
                <a:solidFill>
                  <a:srgbClr val="2B2620"/>
                </a:solidFill>
              </a:rPr>
              <a:t>Behind a chair </a:t>
            </a:r>
            <a:pPr algn="l" marL="342900" indent="-342900">
              <a:spcAft>
                <a:spcPts val="800"/>
              </a:spcAft>
              <a:buSzPct val="100000"/>
              <a:buChar char="•"/>
            </a:pPr>
            <a:r>
              <a:rPr lang="en-US" altLang="en-US" sz="1400" b="1" dirty="0">
                <a:solidFill>
                  <a:srgbClr val="2B2620"/>
                </a:solidFill>
              </a:rPr>
              <a:t>75–90 cm</a:t>
            </a:r>
            <a:pPr algn="l" marL="342900" indent="-342900">
              <a:spcAft>
                <a:spcPts val="800"/>
              </a:spcAft>
              <a:buSzPct val="100000"/>
              <a:buChar char="•"/>
            </a:pPr>
            <a:r>
              <a:rPr lang="en-US" altLang="en-US" sz="1400" dirty="0">
                <a:solidFill>
                  <a:srgbClr val="2B2620"/>
                </a:solidFill>
              </a:rPr>
              <a:t> to sit and rise, </a:t>
            </a:r>
            <a:pPr algn="l" marL="342900" indent="-342900">
              <a:spcAft>
                <a:spcPts val="800"/>
              </a:spcAft>
              <a:buSzPct val="100000"/>
              <a:buChar char="•"/>
            </a:pPr>
            <a:r>
              <a:rPr lang="en-US" altLang="en-US" sz="1400" b="1" dirty="0">
                <a:solidFill>
                  <a:srgbClr val="2B2620"/>
                </a:solidFill>
              </a:rPr>
              <a:t>90–120 cm</a:t>
            </a:r>
            <a:pPr algn="l" marL="342900" indent="-342900">
              <a:spcAft>
                <a:spcPts val="800"/>
              </a:spcAft>
              <a:buSzPct val="100000"/>
              <a:buChar char="•"/>
            </a:pPr>
            <a:r>
              <a:rPr lang="en-US" altLang="en-US" sz="1400" dirty="0">
                <a:solidFill>
                  <a:srgbClr val="2B2620"/>
                </a:solidFill>
              </a:rPr>
              <a:t> to pass behind.</a:t>
            </a:r>
            <a:endParaRPr lang="en-US" sz="1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3698138"/>
                <a:gridCol w="3698138"/>
                <a:gridCol w="3698138"/>
              </a:tblGrid>
              <a:tr h="384048">
                <a:tc>
                  <a:txBody>
                    <a:bodyPr/>
                    <a:lstStyle/>
                    <a:p>
                      <a:pPr algn="l" indent="0" marL="0">
                        <a:buNone/>
                      </a:pPr>
                      <a:r>
                        <a:rPr lang="en-US" altLang="en-US" sz="1300" b="1" dirty="0">
                          <a:solidFill>
                            <a:srgbClr val="FFFFFF"/>
                          </a:solidFill>
                        </a:rPr>
                        <a:t>Diners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Rectangular</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Round (diameter)</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4</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120×80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100–110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6</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160–180×90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120–130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8</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200–220×100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150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10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240–260×100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180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Offices</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dirty="0">
                <a:solidFill>
                  <a:srgbClr val="2B2620"/>
                </a:solidFill>
              </a:rPr>
              <a:t>About </a:t>
            </a:r>
            <a:pPr algn="l" marL="342900" indent="-342900">
              <a:spcAft>
                <a:spcPts val="800"/>
              </a:spcAft>
              <a:buSzPct val="100000"/>
              <a:buChar char="•"/>
            </a:pPr>
            <a:r>
              <a:rPr lang="en-US" altLang="en-US" sz="1400" b="1" dirty="0">
                <a:solidFill>
                  <a:srgbClr val="2B2620"/>
                </a:solidFill>
              </a:rPr>
              <a:t>8–12 m²</a:t>
            </a:r>
            <a:pPr algn="l" marL="342900" indent="-342900">
              <a:spcAft>
                <a:spcPts val="800"/>
              </a:spcAft>
              <a:buSzPct val="100000"/>
              <a:buChar char="•"/>
            </a:pPr>
            <a:r>
              <a:rPr lang="en-US" altLang="en-US" sz="1400" dirty="0">
                <a:solidFill>
                  <a:srgbClr val="2B2620"/>
                </a:solidFill>
              </a:rPr>
              <a:t> per person in open plan including circulation; a private manager's office </a:t>
            </a:r>
            <a:pPr algn="l" marL="342900" indent="-342900">
              <a:spcAft>
                <a:spcPts val="800"/>
              </a:spcAft>
              <a:buSzPct val="100000"/>
              <a:buChar char="•"/>
            </a:pPr>
            <a:r>
              <a:rPr lang="en-US" altLang="en-US" sz="1400" b="1" dirty="0">
                <a:solidFill>
                  <a:srgbClr val="2B2620"/>
                </a:solidFill>
              </a:rPr>
              <a:t>15–25 m²</a:t>
            </a:r>
            <a:pPr algn="l" marL="342900" indent="-342900">
              <a:spcAft>
                <a:spcPts val="800"/>
              </a:spcAft>
              <a:buSzPct val="100000"/>
              <a:buChar char="•"/>
            </a:pPr>
            <a:r>
              <a:rPr lang="en-US" altLang="en-US" sz="1400" dirty="0">
                <a:solidFill>
                  <a:srgbClr val="2B2620"/>
                </a:solidFill>
              </a:rPr>
              <a:t>.</a:t>
            </a:r>
            <a:endParaRPr lang="en-US" sz="1400" dirty="0"/>
          </a:p>
          <a:p>
            <a:pPr algn="l" marL="342900" indent="-342900">
              <a:spcAft>
                <a:spcPts val="800"/>
              </a:spcAft>
              <a:buSzPct val="100000"/>
              <a:buChar char="•"/>
            </a:pPr>
            <a:r>
              <a:rPr lang="en-US" altLang="en-US" sz="1400" dirty="0">
                <a:solidFill>
                  <a:srgbClr val="2B2620"/>
                </a:solidFill>
              </a:rPr>
              <a:t>Desk top </a:t>
            </a:r>
            <a:pPr algn="l" marL="342900" indent="-342900">
              <a:spcAft>
                <a:spcPts val="800"/>
              </a:spcAft>
              <a:buSzPct val="100000"/>
              <a:buChar char="•"/>
            </a:pPr>
            <a:r>
              <a:rPr lang="en-US" altLang="en-US" sz="1400" b="1" dirty="0">
                <a:solidFill>
                  <a:srgbClr val="2B2620"/>
                </a:solidFill>
              </a:rPr>
              <a:t>72–75 cm</a:t>
            </a:r>
            <a:pPr algn="l" marL="342900" indent="-342900">
              <a:spcAft>
                <a:spcPts val="800"/>
              </a:spcAft>
              <a:buSzPct val="100000"/>
              <a:buChar char="•"/>
            </a:pPr>
            <a:r>
              <a:rPr lang="en-US" altLang="en-US" sz="1400" dirty="0">
                <a:solidFill>
                  <a:srgbClr val="2B2620"/>
                </a:solidFill>
              </a:rPr>
              <a:t>, </a:t>
            </a:r>
            <a:pPr algn="l" marL="342900" indent="-342900">
              <a:spcAft>
                <a:spcPts val="800"/>
              </a:spcAft>
              <a:buSzPct val="100000"/>
              <a:buChar char="•"/>
            </a:pPr>
            <a:r>
              <a:rPr lang="en-US" altLang="en-US" sz="1400" b="1" dirty="0">
                <a:solidFill>
                  <a:srgbClr val="2B2620"/>
                </a:solidFill>
              </a:rPr>
              <a:t>80–100 cm</a:t>
            </a:r>
            <a:pPr algn="l" marL="342900" indent="-342900">
              <a:spcAft>
                <a:spcPts val="800"/>
              </a:spcAft>
              <a:buSzPct val="100000"/>
              <a:buChar char="•"/>
            </a:pPr>
            <a:r>
              <a:rPr lang="en-US" altLang="en-US" sz="1400" dirty="0">
                <a:solidFill>
                  <a:srgbClr val="2B2620"/>
                </a:solidFill>
              </a:rPr>
              <a:t> behind the chair.</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Office type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Approximate area per person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Open plan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8–12 m²</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Cellular single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10–15 m²</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Manager</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15–25 m²</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Reception &amp; waiting</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1.5–2 m² per waiting person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Schools</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Classroom about </a:t>
            </a:r>
            <a:pPr algn="l" indent="0" marL="0">
              <a:buNone/>
            </a:pPr>
            <a:r>
              <a:rPr lang="en-US" altLang="en-US" sz="1400" b="1" dirty="0">
                <a:solidFill>
                  <a:srgbClr val="2B2620"/>
                </a:solidFill>
              </a:rPr>
              <a:t>1.8–2.2 m²</a:t>
            </a:r>
            <a:pPr algn="l" indent="0" marL="0">
              <a:buNone/>
            </a:pPr>
            <a:r>
              <a:rPr lang="en-US" altLang="en-US" sz="1400" dirty="0">
                <a:solidFill>
                  <a:srgbClr val="2B2620"/>
                </a:solidFill>
              </a:rPr>
              <a:t> per pupil depending on age.</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Classroom depth preferably no more than </a:t>
            </a:r>
            <a:pPr algn="l" indent="0" marL="0">
              <a:buNone/>
            </a:pPr>
            <a:r>
              <a:rPr lang="en-US" altLang="en-US" sz="1400" b="1" dirty="0">
                <a:solidFill>
                  <a:srgbClr val="2B2620"/>
                </a:solidFill>
              </a:rPr>
              <a:t>7–8 m</a:t>
            </a:r>
            <a:pPr algn="l" indent="0" marL="0">
              <a:buNone/>
            </a:pPr>
            <a:r>
              <a:rPr lang="en-US" altLang="en-US" sz="1400" dirty="0">
                <a:solidFill>
                  <a:srgbClr val="2B2620"/>
                </a:solidFill>
              </a:rPr>
              <a:t> for daylight from one side.</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School corridors are wider (often </a:t>
            </a:r>
            <a:pPr algn="l" indent="0" marL="0">
              <a:buNone/>
            </a:pPr>
            <a:r>
              <a:rPr lang="en-US" altLang="en-US" sz="1400" b="1" dirty="0">
                <a:solidFill>
                  <a:srgbClr val="2B2620"/>
                </a:solidFill>
              </a:rPr>
              <a:t>1.8–2.4 m</a:t>
            </a:r>
            <a:pPr algn="l" indent="0" marL="0">
              <a:buNone/>
            </a:pPr>
            <a:r>
              <a:rPr lang="en-US" altLang="en-US" sz="1400" dirty="0">
                <a:solidFill>
                  <a:srgbClr val="2B2620"/>
                </a:solidFill>
              </a:rPr>
              <a:t> or per code) because of crowd flows.</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Labs and workshops need more area per pupil and special ventilation.</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Health buildings (overview)</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Patient rooms: space for the bed with at least </a:t>
            </a:r>
            <a:pPr algn="l" indent="0" marL="0">
              <a:buNone/>
            </a:pPr>
            <a:r>
              <a:rPr lang="en-US" altLang="en-US" sz="1400" b="1" dirty="0">
                <a:solidFill>
                  <a:srgbClr val="2B2620"/>
                </a:solidFill>
              </a:rPr>
              <a:t>90 cm</a:t>
            </a:r>
            <a:pPr algn="l" indent="0" marL="0">
              <a:buNone/>
            </a:pPr>
            <a:r>
              <a:rPr lang="en-US" altLang="en-US" sz="1400" dirty="0">
                <a:solidFill>
                  <a:srgbClr val="2B2620"/>
                </a:solidFill>
              </a:rPr>
              <a:t> on the sides for nursing.</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Corridors used by beds about </a:t>
            </a:r>
            <a:pPr algn="l" indent="0" marL="0">
              <a:buNone/>
            </a:pPr>
            <a:r>
              <a:rPr lang="en-US" altLang="en-US" sz="1400" b="1" dirty="0">
                <a:solidFill>
                  <a:srgbClr val="2B2620"/>
                </a:solidFill>
              </a:rPr>
              <a:t>2.4 m</a:t>
            </a:r>
            <a:pPr algn="l" indent="0" marL="0">
              <a:buNone/>
            </a:pPr>
            <a:r>
              <a:rPr lang="en-US" altLang="en-US" sz="1400" dirty="0">
                <a:solidFill>
                  <a:srgbClr val="2B2620"/>
                </a:solidFill>
              </a:rPr>
              <a:t> (per the health code).</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Patient room doors wide enough for a bed (about </a:t>
            </a:r>
            <a:pPr algn="l" indent="0" marL="0">
              <a:buNone/>
            </a:pPr>
            <a:r>
              <a:rPr lang="en-US" altLang="en-US" sz="1400" b="1" dirty="0">
                <a:solidFill>
                  <a:srgbClr val="2B2620"/>
                </a:solidFill>
              </a:rPr>
              <a:t>110–130 cm</a:t>
            </a:r>
            <a:pPr algn="l" indent="0" marL="0">
              <a:buNone/>
            </a:pPr>
            <a:r>
              <a:rPr lang="en-US" altLang="en-US" sz="1400" dirty="0">
                <a:solidFill>
                  <a:srgbClr val="2B2620"/>
                </a:solidFill>
              </a:rPr>
              <a:t>).</a:t>
            </a:r>
            <a:endParaRPr lang="en-US" sz="1400" dirty="0"/>
          </a:p>
        </p:txBody>
      </p:sp>
      <p:sp>
        <p:nvSpPr>
          <p:cNvPr id="15" name="Text 13"/>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Health buildings have very specific codes from each country's ministry of health — Neufert is only the general idea here.</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Hotels and restaurants</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dirty="0">
                <a:solidFill>
                  <a:srgbClr val="2B2620"/>
                </a:solidFill>
              </a:rPr>
              <a:t>A standard hotel room is about </a:t>
            </a:r>
            <a:pPr algn="l" marL="342900" indent="-342900">
              <a:spcAft>
                <a:spcPts val="800"/>
              </a:spcAft>
              <a:buSzPct val="100000"/>
              <a:buChar char="•"/>
            </a:pPr>
            <a:r>
              <a:rPr lang="en-US" altLang="en-US" sz="1400" b="1" dirty="0">
                <a:solidFill>
                  <a:srgbClr val="2B2620"/>
                </a:solidFill>
              </a:rPr>
              <a:t>24–32 m²</a:t>
            </a:r>
            <a:pPr algn="l" marL="342900" indent="-342900">
              <a:spcAft>
                <a:spcPts val="800"/>
              </a:spcAft>
              <a:buSzPct val="100000"/>
              <a:buChar char="•"/>
            </a:pPr>
            <a:r>
              <a:rPr lang="en-US" altLang="en-US" sz="1400" dirty="0">
                <a:solidFill>
                  <a:srgbClr val="2B2620"/>
                </a:solidFill>
              </a:rPr>
              <a:t> including the bathroom.</a:t>
            </a:r>
            <a:endParaRPr lang="en-US" sz="1400" dirty="0"/>
          </a:p>
          <a:p>
            <a:pPr algn="l" marL="342900" indent="-342900">
              <a:spcAft>
                <a:spcPts val="800"/>
              </a:spcAft>
              <a:buSzPct val="100000"/>
              <a:buChar char="•"/>
            </a:pPr>
            <a:r>
              <a:rPr lang="en-US" altLang="en-US" sz="1400" dirty="0">
                <a:solidFill>
                  <a:srgbClr val="2B2620"/>
                </a:solidFill>
              </a:rPr>
              <a:t>Room width </a:t>
            </a:r>
            <a:pPr algn="l" marL="342900" indent="-342900">
              <a:spcAft>
                <a:spcPts val="800"/>
              </a:spcAft>
              <a:buSzPct val="100000"/>
              <a:buChar char="•"/>
            </a:pPr>
            <a:r>
              <a:rPr lang="en-US" altLang="en-US" sz="1400" b="1" dirty="0">
                <a:solidFill>
                  <a:srgbClr val="2B2620"/>
                </a:solidFill>
              </a:rPr>
              <a:t>3.6–4.2 m</a:t>
            </a:r>
            <a:pPr algn="l" marL="342900" indent="-342900">
              <a:spcAft>
                <a:spcPts val="800"/>
              </a:spcAft>
              <a:buSzPct val="100000"/>
              <a:buChar char="•"/>
            </a:pPr>
            <a:r>
              <a:rPr lang="en-US" altLang="en-US" sz="1400" dirty="0">
                <a:solidFill>
                  <a:srgbClr val="2B2620"/>
                </a:solidFill>
              </a:rPr>
              <a:t> for the bed, passage and wardrobe.</a:t>
            </a:r>
            <a:endParaRPr lang="en-US" sz="1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Type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m² per seat (approx.)</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Cafeteria / quick service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1.1–1.4</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Standard restaurant</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1.4–1.7</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Fine dining</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1.7–2.0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Car parks</a:t>
            </a:r>
            <a:endParaRPr lang="en-US" sz="3000" dirty="0"/>
          </a:p>
        </p:txBody>
      </p:sp>
      <p:sp>
        <p:nvSpPr>
          <p:cNvPr id="3" name="figure-frame"/>
          <p:cNvSpPr/>
          <p:nvPr/>
        </p:nvSpPr>
        <p:spPr>
          <a:xfrm>
            <a:off x="6065215" y="1325880"/>
            <a:ext cx="5669280" cy="2926080"/>
          </a:xfrm>
          <a:prstGeom prst="roundRect">
            <a:avLst>
              <a:gd name="adj" fmla="val 3125"/>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743200"/>
          </a:xfrm>
          <a:prstGeom prst="rect">
            <a:avLst/>
          </a:prstGeom>
        </p:spPr>
      </p:pic>
      <p:sp>
        <p:nvSpPr>
          <p:cNvPr id="5" name="Text 2"/>
          <p:cNvSpPr txBox="1"/>
          <p:nvPr/>
        </p:nvSpPr>
        <p:spPr>
          <a:xfrm>
            <a:off x="6156655" y="4297680"/>
            <a:ext cx="5486400" cy="365760"/>
          </a:xfrm>
          <a:prstGeom prst="rect">
            <a:avLst/>
          </a:prstGeom>
          <a:noFill/>
          <a:ln/>
        </p:spPr>
        <p:txBody>
          <a:bodyPr wrap="square" rtlCol="0" anchor="ctr"/>
          <a:lstStyle/>
          <a:p>
            <a:pPr algn="ctr" indent="0" marL="0">
              <a:buNone/>
            </a:pPr>
            <a:r>
              <a:rPr lang="en-US" altLang="en-US" sz="1100" i="1" dirty="0">
                <a:solidFill>
                  <a:srgbClr val="6B6152"/>
                </a:solidFill>
              </a:rPr>
              <a:t>90° parking and aisle</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Clear height in a car park at least </a:t>
            </a:r>
            <a:pPr algn="l" marL="342900" indent="-342900">
              <a:spcAft>
                <a:spcPts val="800"/>
              </a:spcAft>
              <a:buSzPct val="100000"/>
              <a:buChar char="•"/>
            </a:pPr>
            <a:r>
              <a:rPr lang="en-US" altLang="en-US" sz="1500" b="1" dirty="0">
                <a:solidFill>
                  <a:srgbClr val="2B2620"/>
                </a:solidFill>
              </a:rPr>
              <a:t>2.10–2.30 m</a:t>
            </a:r>
            <a:pPr algn="l" marL="342900" indent="-342900">
              <a:spcAft>
                <a:spcPts val="800"/>
              </a:spcAft>
              <a:buSzPct val="100000"/>
              <a:buChar char="•"/>
            </a:pPr>
            <a:r>
              <a:rPr lang="en-US" altLang="en-US" sz="1500" dirty="0">
                <a:solidFill>
                  <a:srgbClr val="2B2620"/>
                </a:solidFill>
              </a:rPr>
              <a:t> under beams.</a:t>
            </a:r>
            <a:endParaRPr lang="en-US" sz="1500" dirty="0"/>
          </a:p>
          <a:p>
            <a:pPr algn="l" marL="342900" indent="-342900">
              <a:spcAft>
                <a:spcPts val="800"/>
              </a:spcAft>
              <a:buSzPct val="100000"/>
              <a:buChar char="•"/>
            </a:pPr>
            <a:r>
              <a:rPr lang="en-US" altLang="en-US" sz="1500" dirty="0">
                <a:solidFill>
                  <a:srgbClr val="2B2620"/>
                </a:solidFill>
              </a:rPr>
              <a:t>Accessible bay </a:t>
            </a:r>
            <a:pPr algn="l" marL="342900" indent="-342900">
              <a:spcAft>
                <a:spcPts val="800"/>
              </a:spcAft>
              <a:buSzPct val="100000"/>
              <a:buChar char="•"/>
            </a:pPr>
            <a:r>
              <a:rPr lang="en-US" altLang="en-US" sz="1500" b="1" dirty="0">
                <a:solidFill>
                  <a:srgbClr val="2B2620"/>
                </a:solidFill>
              </a:rPr>
              <a:t>3.50 m</a:t>
            </a:r>
            <a:pPr algn="l" marL="342900" indent="-342900">
              <a:spcAft>
                <a:spcPts val="800"/>
              </a:spcAft>
              <a:buSzPct val="100000"/>
              <a:buChar char="•"/>
            </a:pPr>
            <a:r>
              <a:rPr lang="en-US" altLang="en-US" sz="1500" dirty="0">
                <a:solidFill>
                  <a:srgbClr val="2B2620"/>
                </a:solidFill>
              </a:rPr>
              <a:t> wide, close to the lift or entrance.</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Lighting, ventilation and acoustics</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dirty="0">
                <a:solidFill>
                  <a:srgbClr val="2B2620"/>
                </a:solidFill>
              </a:rPr>
              <a:t>North light (northern hemisphere) is steady and glare-free; south needs shading.</a:t>
            </a:r>
            <a:endParaRPr lang="en-US" sz="1400" dirty="0"/>
          </a:p>
          <a:p>
            <a:pPr algn="l" marL="342900" indent="-342900">
              <a:spcAft>
                <a:spcPts val="800"/>
              </a:spcAft>
              <a:buSzPct val="100000"/>
              <a:buChar char="•"/>
            </a:pPr>
            <a:r>
              <a:rPr lang="en-US" altLang="en-US" sz="1400" dirty="0">
                <a:solidFill>
                  <a:srgbClr val="2B2620"/>
                </a:solidFill>
              </a:rPr>
              <a:t>In Egypt and Saudi Arabia: minimise west openings, use horizontal shading to the south and vertical fins east and west.</a:t>
            </a:r>
            <a:endParaRPr lang="en-US" sz="14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Space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Approximate illuminance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Corridors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100 lux</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Living</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150–300 lux</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Kitchen worktop</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300–500 lux</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Office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500 lux</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Fine drawing work</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750–1000 lux</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Outdoor spaces</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Garden paths </a:t>
            </a:r>
            <a:pPr algn="l" indent="0" marL="0">
              <a:buNone/>
            </a:pPr>
            <a:r>
              <a:rPr lang="en-US" altLang="en-US" sz="1400" b="1" dirty="0">
                <a:solidFill>
                  <a:srgbClr val="2B2620"/>
                </a:solidFill>
              </a:rPr>
              <a:t>1.2–2.0 m</a:t>
            </a:r>
            <a:pPr algn="l" indent="0" marL="0">
              <a:buNone/>
            </a:pPr>
            <a:r>
              <a:rPr lang="en-US" altLang="en-US" sz="1400" dirty="0">
                <a:solidFill>
                  <a:srgbClr val="2B2620"/>
                </a:solidFill>
              </a:rPr>
              <a:t>, a car drive </a:t>
            </a:r>
            <a:pPr algn="l" indent="0" marL="0">
              <a:buNone/>
            </a:pPr>
            <a:r>
              <a:rPr lang="en-US" altLang="en-US" sz="1400" b="1" dirty="0">
                <a:solidFill>
                  <a:srgbClr val="2B2620"/>
                </a:solidFill>
              </a:rPr>
              <a:t>3.0–3.5 m</a:t>
            </a:r>
            <a:pPr algn="l" indent="0" marL="0">
              <a:buNone/>
            </a:pPr>
            <a:r>
              <a:rPr lang="en-US" altLang="en-US" sz="1400" dirty="0">
                <a:solidFill>
                  <a:srgbClr val="2B2620"/>
                </a:solidFill>
              </a:rPr>
              <a:t>.</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External steps with lower risers (12–15 cm) and deeper treads.</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A common residential pool is </a:t>
            </a:r>
            <a:pPr algn="l" indent="0" marL="0">
              <a:buNone/>
            </a:pPr>
            <a:r>
              <a:rPr lang="en-US" altLang="en-US" sz="1400" b="1" dirty="0">
                <a:solidFill>
                  <a:srgbClr val="2B2620"/>
                </a:solidFill>
              </a:rPr>
              <a:t>8×4 m</a:t>
            </a:r>
            <a:pPr algn="l" indent="0" marL="0">
              <a:buNone/>
            </a:pPr>
            <a:r>
              <a:rPr lang="en-US" altLang="en-US" sz="1400" dirty="0">
                <a:solidFill>
                  <a:srgbClr val="2B2620"/>
                </a:solidFill>
              </a:rPr>
              <a:t> or </a:t>
            </a:r>
            <a:pPr algn="l" indent="0" marL="0">
              <a:buNone/>
            </a:pPr>
            <a:r>
              <a:rPr lang="en-US" altLang="en-US" sz="1400" b="1" dirty="0">
                <a:solidFill>
                  <a:srgbClr val="2B2620"/>
                </a:solidFill>
              </a:rPr>
              <a:t>10×5 m</a:t>
            </a:r>
            <a:pPr algn="l" indent="0" marL="0">
              <a:buNone/>
            </a:pPr>
            <a:r>
              <a:rPr lang="en-US" altLang="en-US" sz="1400" dirty="0">
                <a:solidFill>
                  <a:srgbClr val="2B2620"/>
                </a:solidFill>
              </a:rPr>
              <a:t>, </a:t>
            </a:r>
            <a:pPr algn="l" indent="0" marL="0">
              <a:buNone/>
            </a:pPr>
            <a:r>
              <a:rPr lang="en-US" altLang="en-US" sz="1400" b="1" dirty="0">
                <a:solidFill>
                  <a:srgbClr val="2B2620"/>
                </a:solidFill>
              </a:rPr>
              <a:t>1.2 to 1.8 m</a:t>
            </a:r>
            <a:pPr algn="l" indent="0" marL="0">
              <a:buNone/>
            </a:pPr>
            <a:r>
              <a:rPr lang="en-US" altLang="en-US" sz="1400" dirty="0">
                <a:solidFill>
                  <a:srgbClr val="2B2620"/>
                </a:solidFill>
              </a:rPr>
              <a:t> deep or more for diving.</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Large trees at least </a:t>
            </a:r>
            <a:pPr algn="l" indent="0" marL="0">
              <a:buNone/>
            </a:pPr>
            <a:r>
              <a:rPr lang="en-US" altLang="en-US" sz="1400" b="1" dirty="0">
                <a:solidFill>
                  <a:srgbClr val="2B2620"/>
                </a:solidFill>
              </a:rPr>
              <a:t>4–6 m</a:t>
            </a:r>
            <a:pPr algn="l" indent="0" marL="0">
              <a:buNone/>
            </a:pPr>
            <a:r>
              <a:rPr lang="en-US" altLang="en-US" sz="1400" dirty="0">
                <a:solidFill>
                  <a:srgbClr val="2B2620"/>
                </a:solidFill>
              </a:rPr>
              <a:t> from buildings because of roots.</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Eng. Omar Khamis's takeaways</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dirty="0">
                <a:solidFill>
                  <a:srgbClr val="2B2620"/>
                </a:solidFill>
              </a:rPr>
              <a:t>Neufert is a reference for </a:t>
            </a:r>
            <a:pPr algn="l" indent="0" marL="0">
              <a:buNone/>
            </a:pPr>
            <a:r>
              <a:rPr lang="en-US" altLang="en-US" sz="1400" b="1" dirty="0">
                <a:solidFill>
                  <a:srgbClr val="2B2620"/>
                </a:solidFill>
              </a:rPr>
              <a:t>dimensions and spaces</a:t>
            </a:r>
            <a:pPr algn="l" indent="0" marL="0">
              <a:buNone/>
            </a:pPr>
            <a:r>
              <a:rPr lang="en-US" altLang="en-US" sz="1400" dirty="0">
                <a:solidFill>
                  <a:srgbClr val="2B2620"/>
                </a:solidFill>
              </a:rPr>
              <a:t> — use it at the start of design and to review plans.</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Every figure is </a:t>
            </a:r>
            <a:pPr algn="l" indent="0" marL="0">
              <a:buNone/>
            </a:pPr>
            <a:r>
              <a:rPr lang="en-US" altLang="en-US" sz="1400" b="1" dirty="0">
                <a:solidFill>
                  <a:srgbClr val="2B2620"/>
                </a:solidFill>
              </a:rPr>
              <a:t>guidance</a:t>
            </a:r>
            <a:pPr algn="l" indent="0" marL="0">
              <a:buNone/>
            </a:pPr>
            <a:r>
              <a:rPr lang="en-US" altLang="en-US" sz="1400" dirty="0">
                <a:solidFill>
                  <a:srgbClr val="2B2620"/>
                </a:solidFill>
              </a:rPr>
              <a:t> and must match the local code and requirements.</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Design for </a:t>
            </a:r>
            <a:pPr algn="l" indent="0" marL="0">
              <a:buNone/>
            </a:pPr>
            <a:r>
              <a:rPr lang="en-US" altLang="en-US" sz="1400" b="1" dirty="0">
                <a:solidFill>
                  <a:srgbClr val="2B2620"/>
                </a:solidFill>
              </a:rPr>
              <a:t>movement</a:t>
            </a:r>
            <a:pPr algn="l" indent="0" marL="0">
              <a:buNone/>
            </a:pPr>
            <a:r>
              <a:rPr lang="en-US" altLang="en-US" sz="1400" dirty="0">
                <a:solidFill>
                  <a:srgbClr val="2B2620"/>
                </a:solidFill>
              </a:rPr>
              <a:t> around furniture, not just for the furniture.</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Keep plans on a regular </a:t>
            </a:r>
            <a:pPr algn="l" indent="0" marL="0">
              <a:buNone/>
            </a:pPr>
            <a:r>
              <a:rPr lang="en-US" altLang="en-US" sz="1400" b="1" dirty="0">
                <a:solidFill>
                  <a:srgbClr val="2B2620"/>
                </a:solidFill>
              </a:rPr>
              <a:t>grid</a:t>
            </a:r>
            <a:pPr algn="l" indent="0" marL="0">
              <a:buNone/>
            </a:pPr>
            <a:r>
              <a:rPr lang="en-US" altLang="en-US" sz="1400" dirty="0">
                <a:solidFill>
                  <a:srgbClr val="2B2620"/>
                </a:solidFill>
              </a:rPr>
              <a:t> to make building easier and cheaper.</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Remember the basics: step 17×29, door 90×210, corridor 110–120, chair 45, table 75, worktop 90.</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Summary by Eng. Omar Khamis — Omar Khamis Library for SketchUp.</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algn="ctr" indent="0" marL="0">
              <a:buNone/>
            </a:pPr>
            <a:r>
              <a:rPr lang="en-US" altLang="en-US" sz="4000" b="1" dirty="0">
                <a:solidFill>
                  <a:srgbClr val="FFFFFF"/>
                </a:solidFill>
              </a:rPr>
              <a:t>Thank you</a:t>
            </a: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algn="ctr" indent="0" marL="0">
              <a:buNone/>
            </a:pPr>
            <a:r>
              <a:rPr lang="en-US" altLang="en-US" sz="1800" dirty="0">
                <a:solidFill>
                  <a:srgbClr val="E3C278"/>
                </a:solidFill>
              </a:rPr>
              <a:t>Summary by Eng. Omar Khamis  •  +20 100 543 3170</a:t>
            </a:r>
            <a:endParaRPr lang="en-US" sz="1800" dirty="0"/>
          </a:p>
        </p:txBody>
      </p:sp>
      <p:sp>
        <p:nvSpPr>
          <p:cNvPr id="4" name="Text 2"/>
          <p:cNvSpPr txBox="1"/>
          <p:nvPr/>
        </p:nvSpPr>
        <p:spPr>
          <a:xfrm>
            <a:off x="914400" y="5577840"/>
            <a:ext cx="10362895" cy="548640"/>
          </a:xfrm>
          <a:prstGeom prst="rect">
            <a:avLst/>
          </a:prstGeom>
          <a:noFill/>
          <a:ln/>
        </p:spPr>
        <p:txBody>
          <a:bodyPr wrap="square" rtlCol="0" anchor="ctr"/>
          <a:lstStyle/>
          <a:p>
            <a:pPr algn="ctr" indent="0" marL="0">
              <a:buNone/>
            </a:pPr>
            <a:r>
              <a:rPr lang="en-US" altLang="en-US" sz="1400" dirty="0">
                <a:solidFill>
                  <a:srgbClr val="E3C278"/>
                </a:solidFill>
              </a:rPr>
              <a:t>Omar Khamis Library for SketchUp</a:t>
            </a:r>
            <a:endParaRPr lang="en-US" sz="1400" dirty="0"/>
          </a:p>
        </p:txBody>
      </p:sp>
    </p:spTree>
  </p:cSld>
  <p:clrMapOvr>
    <a:masterClrMapping/>
  </p:clrMapOvr>
</p:sld>
</file>

<file path=ppt/theme/theme1.xml><?xml version="1.0" encoding="utf-8"?>
<a:theme xmlns:a="http://schemas.openxmlformats.org/drawingml/2006/main" name="Omar Khamis Library">
  <a:themeElements>
    <a:clrScheme name="Omar Khamis Library">
      <a:dk1>
        <a:srgbClr val="2B2620"/>
      </a:dk1>
      <a:lt1>
        <a:srgbClr val="FFFFFF"/>
      </a:lt1>
      <a:dk2>
        <a:srgbClr val="4A3F2E"/>
      </a:dk2>
      <a:lt2>
        <a:srgbClr val="F3ECDD"/>
      </a:lt2>
      <a:accent1>
        <a:srgbClr val="C9A24A"/>
      </a:accent1>
      <a:accent2>
        <a:srgbClr val="1D5FA8"/>
      </a:accent2>
      <a:accent3>
        <a:srgbClr val="1D5FA8"/>
      </a:accent3>
      <a:accent4>
        <a:srgbClr val="2E7D5B"/>
      </a:accent4>
      <a:accent5>
        <a:srgbClr val="A0522D"/>
      </a:accent5>
      <a:accent6>
        <a:srgbClr val="7A3E65"/>
      </a:accent6>
      <a:hlink>
        <a:srgbClr val="1D5FA8"/>
      </a:hlink>
      <a:folHlink>
        <a:srgbClr val="8A5A10"/>
      </a:folHlink>
    </a:clrScheme>
    <a:fontScheme name="Omar Khamis Libra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Omar Khamis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Summary: Neufert Architects' Data</dc:title>
  <dc:subject>PptxGenJS Presentation</dc:subject>
  <dc:creator>Eng. Omar Khamis</dc:creator>
  <cp:lastModifiedBy>Eng. Omar Khamis</cp:lastModifiedBy>
  <cp:revision>1</cp:revision>
  <dcterms:created xsi:type="dcterms:W3CDTF">2026-10-15T12:37:08Z</dcterms:created>
  <dcterms:modified xsi:type="dcterms:W3CDTF">2026-10-15T12:37:08Z</dcterms:modified>
</cp:coreProperties>
</file>